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Fedi App UX Audit -- February 2026</a:t>
            </a:r>
          </a:p>
          <a:p>
            <a:r>
              <a:t>Version 26.2.4 | Android emulator | Nielsen Norman Group heuristics</a:t>
            </a:r>
          </a:p>
          <a:p>
            <a:r>
              <a:t>Audit conducted via live emulator walkthrough.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tension: Fedi is a technically sophisticated product trying to serve users who are not technically sophisticated. The onboarding wall (federation jargon, unlabelled navigation, wallet locked behind joining) creates a first-experience failure that undermines everything downstream. The findings are ordered by user encounter, not severity, to make the narrative coherent for stakeholders who haven't used the app.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impressions are broadly positive. The splash screen does its job -- clean, calm, minimal cognitive load. The two issues are both fixable without design rework:</a:t>
            </a:r>
          </a:p>
          <a:p>
            <a:r>
              <a:t>- Legal copy: increase contrast, move below the CTA button (standard pattern)</a:t>
            </a:r>
          </a:p>
          <a:p>
            <a:r>
              <a:t>- Ask Fedi: consider surfacing as a persistent help icon (?) in the nav rather than a buried footer link</a:t>
            </a:r>
          </a:p>
          <a:p/>
          <a:p>
            <a:r>
              <a:t>Heuristic: H5 (error prevention), H10 (help and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highest-friction moment in the entire flow. The user has just downloaded a financial app and is immediately asked to join something called a federation -- with no explanation of what that is or why they need to.</a:t>
            </a:r>
          </a:p>
          <a:p/>
          <a:p>
            <a:r>
              <a:t>Priority fixes:</a:t>
            </a:r>
          </a:p>
          <a:p>
            <a:r>
              <a:t>1. Add a 2-3 sentence explainer above the list: "A federation is a group that manages your wallet and keeps your money safe. Think of it like choosing your bank."</a:t>
            </a:r>
          </a:p>
          <a:p>
            <a:r>
              <a:t>2. Make federation cards tappable with a detail view: description, guardian info, member count, terms summary.</a:t>
            </a:r>
          </a:p>
          <a:p>
            <a:r>
              <a:t>3. Fix text truncation (technical, easy).</a:t>
            </a:r>
          </a:p>
          <a:p/>
          <a:p>
            <a:r>
              <a:t>Heuristics: H2 (match with real world), H5 (error prevention)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contains the most dangerous UX failures -- the ones that can strand a user with no path forward:</a:t>
            </a:r>
          </a:p>
          <a:p/>
          <a:p>
            <a:r>
              <a:t>- The ToS moment: label it clearly ("Before you join"), show key terms in-app (scrollable), link to full PDF as secondary action.</a:t>
            </a:r>
          </a:p>
          <a:p>
            <a:r>
              <a:t>- Error banner: add a Retry button. Dismiss automatically on success. Don't let it persist across screens.</a:t>
            </a:r>
          </a:p>
          <a:p>
            <a:r>
              <a:t>- The "walled in" problem: if joining fails, users must always be able to get back to the home screen or the federation list. Back button should never exit the app from within a flow.</a:t>
            </a:r>
          </a:p>
          <a:p>
            <a:r>
              <a:t>- QR scanner: one line of instructional copy ("Scan a federation QR code from an admin or the Fedi website") would eliminate the confusion entirely.</a:t>
            </a:r>
          </a:p>
          <a:p/>
          <a:p>
            <a:r>
              <a:t>Heuristics: H1 (system status), H3 (user control), H5 (error prevention), H9 (error recovery)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auto-assigned display name is a significant trust and identity issue for a payments app. Users are about to receive and send real money -- having an embarrassing or random display name undermines confidence.</a:t>
            </a:r>
          </a:p>
          <a:p/>
          <a:p>
            <a:r>
              <a:t>Fix: prompt for a display name during onboarding, before entering the app. Even a simple "What should people call you?" screen.</a:t>
            </a:r>
          </a:p>
          <a:p/>
          <a:p>
            <a:r>
              <a:t>Home screen hierarchy: the three content zones (federation banner, Community News, Mini Apps) need visual separation -- section headers, spacing, or background differentiation.</a:t>
            </a:r>
          </a:p>
          <a:p/>
          <a:p>
            <a:r>
              <a:t>Hash suffix (#267f): this is a Nostr public key fragment. It should not be surfaced to users without an explanation, or should be hidden entirely behind a "technical details" toggle.</a:t>
            </a:r>
          </a:p>
          <a:p/>
          <a:p>
            <a:r>
              <a:t>Heuristics: H2 (match with real world), H8 (aesthetic and minimalist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unlabelled bottom navigation is a systemic issue, not a cosmetic one. Android Material Design guidelines recommend labels on bottom nav items precisely because icons alone require learned knowledge. For a new user, four mystery icons mean four things to trial-and-error.</a:t>
            </a:r>
          </a:p>
          <a:p/>
          <a:p>
            <a:r>
              <a:t>Promotional bottom sheets on every tab open are particularly damaging: the first thing a user sees on switching to any section is a sales message they must dismiss. This pattern trains users to dismiss quickly without reading, which is dangerous if a future sheet contains important information.</a:t>
            </a:r>
          </a:p>
          <a:p/>
          <a:p>
            <a:r>
              <a:t>The Wallet tab redirect is a critical wayfinding failure: if you cannot use the wallet without a federation, the tab should be disabled with an explanation, not silently redirect.</a:t>
            </a:r>
          </a:p>
          <a:p/>
          <a:p>
            <a:r>
              <a:t>Heuristics: H1, H3, H4, H8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Settings is structurally sound -- the content is the right content. The problems are presentation issues:</a:t>
            </a:r>
          </a:p>
          <a:p/>
          <a:p>
            <a:r>
              <a:t>- Unlabelled QR code at the top: this is almost certainly a wallet receive address or a profile link. Label it. "Your receive QR code" or "Share your profile" -- one line.</a:t>
            </a:r>
          </a:p>
          <a:p>
            <a:r>
              <a:t>- "#267f" hash suffix: hide or explain (see slide 4 notes).</a:t>
            </a:r>
          </a:p>
          <a:p>
            <a:r>
              <a:t>- "Nostr Details": this term is meaningful to a small subset of users. For everyone else, rename to "Social identity" or tuck under an Advanced section.</a:t>
            </a:r>
          </a:p>
          <a:p>
            <a:r>
              <a:t>- "Share logs": this is a support/debugging feature. It should look tappable (chevron, icon) and sit in a clearly marked Support section.</a:t>
            </a:r>
          </a:p>
          <a:p/>
          <a:p>
            <a:r>
              <a:t>Positives: the settings content itself is well-chosen and well-organised. The bones are good.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the matrix:</a:t>
            </a:r>
          </a:p>
          <a:p>
            <a:r>
              <a:t>- Filled circle = critical: these should be in the next sprint.</a:t>
            </a:r>
          </a:p>
          <a:p>
            <a:r>
              <a:t>- Triangle = moderate: address in the following 1-2 sprints.</a:t>
            </a:r>
          </a:p>
          <a:p>
            <a:r>
              <a:t>- Check = works well: preserve these patterns in future design decisions.</a:t>
            </a:r>
          </a:p>
          <a:p/>
          <a:p>
            <a:r>
              <a:t>Top 3 critical fixes by effort-to-impact ratio:</a:t>
            </a:r>
          </a:p>
          <a:p>
            <a:r>
              <a:t>1. Add a federation explainer before the discovery screen (copy change, low effort, high impact)</a:t>
            </a:r>
          </a:p>
          <a:p>
            <a:r>
              <a:t>2. Add labels to bottom navigation (design change, low-medium effort, high impact)</a:t>
            </a:r>
          </a:p>
          <a:p>
            <a:r>
              <a:t>3. Fix the "walled in" back-button behaviour (engineering fix, medium effort, critical safety issue)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Nielsen Norman Group 10 Usability Heuristics (1994, updated 2020) are the industry standard framework for expert UX evaluation. Each finding is tagged to the heuristic it violates, providing a principled basis for prioritisation rather than subjective preference.</a:t>
            </a:r>
          </a:p>
          <a:p/>
          <a:p>
            <a:r>
              <a:t>Full reference: nngroup.com/articles/ten-usability-heuristics/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note: the UX audit tells us what is broken today. The assumptions section tells us what we need to validate before we know how to fix it correctly for the target audience.</a:t>
            </a:r>
          </a:p>
          <a:p/>
          <a:p>
            <a:r>
              <a:t>16 assumptions are mapped across 4 categories: mental model/comprehension, trust &amp; safety, onboarding &amp; flows, and strategy &amp; governance. Each has an explicit risk level, evidence status, and research method recommendation in the Assumption Register.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of all 16 assumptions. Colour coding:</a:t>
            </a:r>
          </a:p>
          <a:p>
            <a:r>
              <a:t>- Blue: mental model / comprehension assumptions</a:t>
            </a:r>
          </a:p>
          <a:p>
            <a:r>
              <a:t>- Red: trust &amp; safety assumptions</a:t>
            </a:r>
          </a:p>
          <a:p>
            <a:r>
              <a:t>- Green: onboarding &amp; flows assumptions</a:t>
            </a:r>
          </a:p>
          <a:p>
            <a:r>
              <a:t>- Yellow: strategy &amp; governance assumptions</a:t>
            </a:r>
          </a:p>
          <a:p/>
          <a:p>
            <a:r>
              <a:t>All 16 currently have no or weak evidence. The assumption register (later in this deck) prioritises them by risk and maps each to a specific research method and timebox.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Assumption Register is the live artefact that should be maintained in Notion or Sheets after this conversation. It answers the question "what are we currently betting on and what is the plan to validate it?" for any stakeholder at any time.</a:t>
            </a:r>
          </a:p>
          <a:p/>
          <a:p>
            <a:r>
              <a:t>Risk levels:</a:t>
            </a:r>
          </a:p>
          <a:p>
            <a:r>
              <a:t>- H (High): getting this wrong has significant product or user safety consequences</a:t>
            </a:r>
          </a:p>
          <a:p>
            <a:r>
              <a:t>- M (Medium): getting this wrong creates friction or missed retention</a:t>
            </a:r>
          </a:p>
          <a:p>
            <a:r>
              <a:t>- L (Low): relatively safe to ship and iterate on</a:t>
            </a:r>
          </a:p>
          <a:p/>
          <a:p>
            <a:r>
              <a:t>Evidence status will evolve from None/Weak toward Moderate/Strong as studies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plan is designed for a researcher who is:</a:t>
            </a:r>
          </a:p>
          <a:p>
            <a:r>
              <a:t>- The only UX researcher in the org</a:t>
            </a:r>
          </a:p>
          <a:p>
            <a:r>
              <a:t>- Working in a fast-shipping, resource-constrained environment</a:t>
            </a:r>
          </a:p>
          <a:p>
            <a:r>
              <a:t>- Responsible for covering multiple regions and a complex product</a:t>
            </a:r>
          </a:p>
          <a:p/>
          <a:p>
            <a:r>
              <a:t>The phased approach prioritises: credibility first, then coverage, then compounding value. It mirrors the structure Anwar has successfully executed at previous orgs.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gives the hiring panel a single-page summary of the phased approach.</a:t>
            </a:r>
          </a:p>
          <a:p/>
          <a:p>
            <a:r>
              <a:t>The underlying logic: Fedi needs research to be both rigorous and fast. A solo researcher can achieve this by:</a:t>
            </a:r>
          </a:p>
          <a:p>
            <a:r>
              <a:t>- Front-loading the operating system (register, roadmap, ops kit) so each study costs less</a:t>
            </a:r>
          </a:p>
          <a:p>
            <a:r>
              <a:t>- Using thin-slice regional cycles to build comparative insight without exhaustive sampling</a:t>
            </a:r>
          </a:p>
          <a:p>
            <a:r>
              <a:t>- Defining evidence bars upfront so 'good enough' is answerable, not debatable</a:t>
            </a:r>
          </a:p>
          <a:p>
            <a:r>
              <a:t>- Enabling self-serve at the margin so the researcher focuses on the hard strategic work</a:t>
            </a:r>
          </a:p>
          <a:p/>
          <a:p>
            <a:r>
              <a:t>This is the same shape as Anwar's previous UXR practice builds -- phased, pragmatic, balancing rigour with real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30-Day framing for the hiring conversation:</a:t>
            </a:r>
          </a:p>
          <a:p/>
          <a:p>
            <a:r>
              <a:t>1. Roadmap-to-Research Map: before running any study, build a one-pager that connects Fedi's product initiatives to the 16 assumptions in the register and the decisions those assumptions inform. This becomes the negotiation tool with PM/Eng about priority.</a:t>
            </a:r>
          </a:p>
          <a:p/>
          <a:p>
            <a:r>
              <a:t>2. Assumption Register v0: the lightweight version is already done (this deck). The live version gets owned in Notion/Sheets and updated after every study.</a:t>
            </a:r>
          </a:p>
          <a:p/>
          <a:p>
            <a:r>
              <a:t>3. Fast tactical win: Anwar has already identified the onboarding wall and the federation mental model as the most painful. One 6-session usability study with a mid-fi prototype can ship 3-5 specific copy/flow fixes within 2 weeks of starting.</a:t>
            </a:r>
          </a:p>
          <a:p/>
          <a:p>
            <a:r>
              <a:t>4. Research Ops starter kit: Anwar has built this from scratch at previous orgs (0 to 50+ structured studies). At Fedi this means: a reusable discussion guide template, consent form, note-taking sheet, and a 1-page insight write-up format -- so studies can be run or observed by PMs without bottlenecking the researcher.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Days 31-60 framing:</a:t>
            </a:r>
          </a:p>
          <a:p/>
          <a:p>
            <a:r>
              <a:t>Regional thin-slice cycles: the key insight here is that Fedi's target markets (Latin America, Africa, South/Southeast Asia) share some UX failure modes but not all. A thin-slice approach -- 6-8 interviews per region archetype rather than exhaustive sampling -- lets you build the universal/regional map within a quarter, not a year. Pair with one prototype test per region where a specific flow is in scope (e.g. onboarding, recovery). Remote-first with community-assisted recruitment means costs stay low and ecological validity stays high.</a:t>
            </a:r>
          </a:p>
          <a:p/>
          <a:p>
            <a:r>
              <a:t>Recruitment flywheel: the biggest time sink for a solo researcher is participant recruitment. Partnering with federation and community admins to maintain a warm pipeline solves this. Screener + incentive framework should be standardised by Day 45 so studies can spin up within days.</a:t>
            </a:r>
          </a:p>
          <a:p/>
          <a:p>
            <a:r>
              <a:t>Monthly evidence review: 30-minute standing slot with PM and Eng leads. Not a report -- a conversation. Format: 3 sections, what we learned this month, what we changed as a result, what we still don't know. This prevents research from becoming a post-hoc justification and turns it into a sprint input.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Days 61-90 framing:</a:t>
            </a:r>
          </a:p>
          <a:p/>
          <a:p>
            <a:r>
              <a:t>Quarterly Research Roadmap: by Day 90 you should own a living research roadmap that sits alongside the product roadmap. It shows which assumptions are being tested this quarter, which are parked (and why), and what the expected outputs are. This is the artefact that makes research a strategic input rather than a reactive service.</a:t>
            </a:r>
          </a:p>
          <a:p/>
          <a:p>
            <a:r>
              <a:t>Decision-grade benchmarks: for the highest-risk assumptions (mental model confusion, onboarding completion, Social Backup trust, recovery panic), define explicit evidence bars before running the study. Examples: 80% task success on a recovery flow = validated; below 60% = redesign required. This makes the 'prove it' question answerable in advance, so shipping decisions aren't blocked by open-ended debate.</a:t>
            </a:r>
          </a:p>
          <a:p/>
          <a:p>
            <a:r>
              <a:t>Self-serve enablement: a solo researcher cannot cover everything. The leverage move is training PMs and designers to run 'safe' studies -- concept sorting, 5-second tests, lightweight usability checks -- while the researcher focuses on complex, high-stakes, multi-region work. This is the exact model Anwar has executed at previous orgs, scaling from 0 to 50+ structured studies while maintaining quality gates.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5029200"/>
            <a:ext cx="12188952" cy="18288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10972800" cy="1097280"/>
          </a:xfrm>
          <a:prstGeom prst="rect">
            <a:avLst/>
          </a:prstGeom>
          <a:noFill/>
        </p:spPr>
        <p:txBody>
          <a:bodyPr wrap="square">
            <a:spAutoFit/>
          </a:bodyPr>
          <a:lstStyle/>
          <a:p>
            <a:pPr algn="l"/>
            <a:r>
              <a:rPr b="1" i="0" sz="5200">
                <a:solidFill>
                  <a:srgbClr val="FFFFFF"/>
                </a:solidFill>
              </a:rPr>
              <a:t>Fedi App</a:t>
            </a:r>
          </a:p>
        </p:txBody>
      </p:sp>
      <p:sp>
        <p:nvSpPr>
          <p:cNvPr id="5" name="TextBox 4"/>
          <p:cNvSpPr txBox="1"/>
          <p:nvPr/>
        </p:nvSpPr>
        <p:spPr>
          <a:xfrm>
            <a:off x="457200" y="2468880"/>
            <a:ext cx="9144000" cy="640080"/>
          </a:xfrm>
          <a:prstGeom prst="rect">
            <a:avLst/>
          </a:prstGeom>
          <a:noFill/>
        </p:spPr>
        <p:txBody>
          <a:bodyPr wrap="square">
            <a:spAutoFit/>
          </a:bodyPr>
          <a:lstStyle/>
          <a:p>
            <a:pPr algn="l"/>
            <a:r>
              <a:rPr b="0" i="0" sz="2200">
                <a:solidFill>
                  <a:srgbClr val="88AAFF"/>
                </a:solidFill>
              </a:rPr>
              <a:t>UX Audit -- February 2026</a:t>
            </a:r>
          </a:p>
        </p:txBody>
      </p:sp>
      <p:sp>
        <p:nvSpPr>
          <p:cNvPr id="6" name="TextBox 5"/>
          <p:cNvSpPr txBox="1"/>
          <p:nvPr/>
        </p:nvSpPr>
        <p:spPr>
          <a:xfrm>
            <a:off x="457200" y="3200400"/>
            <a:ext cx="9144000" cy="457200"/>
          </a:xfrm>
          <a:prstGeom prst="rect">
            <a:avLst/>
          </a:prstGeom>
          <a:noFill/>
        </p:spPr>
        <p:txBody>
          <a:bodyPr wrap="square">
            <a:spAutoFit/>
          </a:bodyPr>
          <a:lstStyle/>
          <a:p>
            <a:pPr algn="l"/>
            <a:r>
              <a:rPr b="0" i="0" sz="1200">
                <a:solidFill>
                  <a:srgbClr val="BBBBCC"/>
                </a:solidFill>
              </a:rPr>
              <a:t>Version 26.2.4  |  Android  |  Nielsen Norman Group heuristics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Executive Summary</a:t>
            </a:r>
          </a:p>
        </p:txBody>
      </p:sp>
      <p:sp>
        <p:nvSpPr>
          <p:cNvPr id="4" name="Rectangle 3"/>
          <p:cNvSpPr/>
          <p:nvPr/>
        </p:nvSpPr>
        <p:spPr>
          <a:xfrm>
            <a:off x="365760" y="1097280"/>
            <a:ext cx="11430000" cy="530352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097280"/>
            <a:ext cx="64008" cy="530352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34440"/>
            <a:ext cx="10972800" cy="5029200"/>
          </a:xfrm>
          <a:prstGeom prst="rect">
            <a:avLst/>
          </a:prstGeom>
          <a:noFill/>
        </p:spPr>
        <p:txBody>
          <a:bodyPr wrap="square">
            <a:spAutoFit/>
          </a:bodyPr>
          <a:lstStyle/>
          <a:p>
            <a:pPr algn="l"/>
            <a:r>
              <a:rPr b="0" i="0" sz="1250">
                <a:solidFill>
                  <a:srgbClr val="1A1A2E"/>
                </a:solidFill>
              </a:rPr>
              <a:t>Fedi is trying to do something genuinely ambitious -- combine chat, payments, and mini apps inside a federated community model. That's a hard brief, and you can feel the vision behind it.</a:t>
            </a:r>
          </a:p>
          <a:p>
            <a:pPr algn="l"/>
            <a:r>
              <a:rPr b="0" i="0" sz="1250">
                <a:solidFill>
                  <a:srgbClr val="1A1A2E"/>
                </a:solidFill>
              </a:rPr>
              <a:t/>
            </a:r>
          </a:p>
          <a:p>
            <a:pPr algn="l"/>
            <a:r>
              <a:rPr b="1" i="0" sz="1250">
                <a:solidFill>
                  <a:srgbClr val="1A1A2E"/>
                </a:solidFill>
              </a:rPr>
              <a:t>But right now, the app is designed for people who already understand how it works.</a:t>
            </a:r>
          </a:p>
          <a:p>
            <a:pPr algn="l"/>
            <a:r>
              <a:rPr b="0" i="0" sz="1250">
                <a:solidFill>
                  <a:srgbClr val="1A1A2E"/>
                </a:solidFill>
              </a:rPr>
              <a:t/>
            </a:r>
          </a:p>
          <a:p>
            <a:pPr algn="l"/>
            <a:r>
              <a:rPr b="0" i="0" sz="1250">
                <a:solidFill>
                  <a:srgbClr val="1A1A2E"/>
                </a:solidFill>
              </a:rPr>
              <a:t>The onboarding drops users straight into federation jargon without explanation. Navigation is almost entirely unlabelled. The wallet -- Fedi's core feature -- is locked behind a joining process that can leave someone completely stranded.</a:t>
            </a:r>
          </a:p>
          <a:p>
            <a:pPr algn="l"/>
            <a:r>
              <a:rPr b="0" i="0" sz="1250">
                <a:solidFill>
                  <a:srgbClr val="1A1A2E"/>
                </a:solidFill>
              </a:rPr>
              <a:t/>
            </a:r>
          </a:p>
          <a:p>
            <a:pPr algn="l"/>
            <a:r>
              <a:rPr b="0" i="0" sz="1250">
                <a:solidFill>
                  <a:srgbClr val="1A1A2E"/>
                </a:solidFill>
              </a:rPr>
              <a:t>The visual design is clean and the intent is clear. But the gap between what the team understands and what a new user experiences is significant.</a:t>
            </a:r>
          </a:p>
          <a:p>
            <a:pPr algn="l"/>
            <a:r>
              <a:rPr b="0" i="0" sz="1250">
                <a:solidFill>
                  <a:srgbClr val="1A1A2E"/>
                </a:solidFill>
              </a:rPr>
              <a:t/>
            </a:r>
          </a:p>
          <a:p>
            <a:pPr algn="l"/>
            <a:r>
              <a:rPr b="0" i="1" sz="1250">
                <a:solidFill>
                  <a:srgbClr val="1A1A2E"/>
                </a:solidFill>
              </a:rPr>
              <a:t>These findings are organised in the order a real user would encounter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697480"/>
            <a:ext cx="10972800" cy="822960"/>
          </a:xfrm>
          <a:prstGeom prst="rect">
            <a:avLst/>
          </a:prstGeom>
          <a:noFill/>
        </p:spPr>
        <p:txBody>
          <a:bodyPr wrap="square">
            <a:spAutoFit/>
          </a:bodyPr>
          <a:lstStyle/>
          <a:p>
            <a:pPr algn="l"/>
            <a:r>
              <a:rPr b="1" i="0" sz="3600">
                <a:solidFill>
                  <a:srgbClr val="FFFFFF"/>
                </a:solidFill>
              </a:rPr>
              <a:t>UX Audit Findings</a:t>
            </a:r>
          </a:p>
        </p:txBody>
      </p:sp>
      <p:sp>
        <p:nvSpPr>
          <p:cNvPr id="4" name="TextBox 3"/>
          <p:cNvSpPr txBox="1"/>
          <p:nvPr/>
        </p:nvSpPr>
        <p:spPr>
          <a:xfrm>
            <a:off x="320040" y="3520440"/>
            <a:ext cx="10058400" cy="457200"/>
          </a:xfrm>
          <a:prstGeom prst="rect">
            <a:avLst/>
          </a:prstGeom>
          <a:noFill/>
        </p:spPr>
        <p:txBody>
          <a:bodyPr wrap="square">
            <a:spAutoFit/>
          </a:bodyPr>
          <a:lstStyle/>
          <a:p>
            <a:pPr algn="l"/>
            <a:r>
              <a:rPr b="0" i="0" sz="1400">
                <a:solidFill>
                  <a:srgbClr val="AABBCC"/>
                </a:solidFill>
              </a:rPr>
              <a:t>Organised in the order a real user encounters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1. First Launch</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A calm, well-designed splash screen.</a:t>
            </a:r>
          </a:p>
        </p:txBody>
      </p:sp>
      <p:pic>
        <p:nvPicPr>
          <p:cNvPr id="5" name="Picture 4" descr="01-splash.png"/>
          <p:cNvPicPr>
            <a:picLocks noChangeAspect="1"/>
          </p:cNvPicPr>
          <p:nvPr/>
        </p:nvPicPr>
        <p:blipFill>
          <a:blip r:embed="rId2"/>
          <a:stretch>
            <a:fillRect/>
          </a:stretch>
        </p:blipFill>
        <p:spPr>
          <a:xfrm>
            <a:off x="274320" y="1005840"/>
            <a:ext cx="3840480" cy="5394960"/>
          </a:xfrm>
          <a:prstGeom prst="rect">
            <a:avLst/>
          </a:prstGeom>
        </p:spPr>
      </p:pic>
      <p:sp>
        <p:nvSpPr>
          <p:cNvPr id="6" name="Rectangle 5"/>
          <p:cNvSpPr/>
          <p:nvPr/>
        </p:nvSpPr>
        <p:spPr>
          <a:xfrm>
            <a:off x="4297680" y="1005840"/>
            <a:ext cx="7616952" cy="539496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0" y="1005840"/>
            <a:ext cx="64008" cy="539496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097280"/>
            <a:ext cx="7315200" cy="274320"/>
          </a:xfrm>
          <a:prstGeom prst="rect">
            <a:avLst/>
          </a:prstGeom>
          <a:noFill/>
        </p:spPr>
        <p:txBody>
          <a:bodyPr wrap="square">
            <a:spAutoFit/>
          </a:bodyPr>
          <a:lstStyle/>
          <a:p>
            <a:pPr algn="l"/>
            <a:r>
              <a:rPr b="1" i="0" sz="1200">
                <a:solidFill>
                  <a:srgbClr val="2D6AD6"/>
                </a:solidFill>
              </a:rPr>
              <a:t>Findings</a:t>
            </a:r>
          </a:p>
        </p:txBody>
      </p:sp>
      <p:sp>
        <p:nvSpPr>
          <p:cNvPr id="9" name="Rectangle 8"/>
          <p:cNvSpPr/>
          <p:nvPr/>
        </p:nvSpPr>
        <p:spPr>
          <a:xfrm>
            <a:off x="4526280" y="1508760"/>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0" name="TextBox 9"/>
          <p:cNvSpPr txBox="1"/>
          <p:nvPr/>
        </p:nvSpPr>
        <p:spPr>
          <a:xfrm>
            <a:off x="4736592" y="1508760"/>
            <a:ext cx="7104888" cy="256032"/>
          </a:xfrm>
          <a:prstGeom prst="rect">
            <a:avLst/>
          </a:prstGeom>
          <a:noFill/>
        </p:spPr>
        <p:txBody>
          <a:bodyPr wrap="square">
            <a:spAutoFit/>
          </a:bodyPr>
          <a:lstStyle/>
          <a:p>
            <a:pPr algn="l"/>
            <a:r>
              <a:rPr b="0" i="0" sz="950">
                <a:solidFill>
                  <a:srgbClr val="1A1A2E"/>
                </a:solidFill>
              </a:rPr>
              <a:t>Legal copy ("By continuing, you agree...") is low contrast and easy to miss. For a financial app, this matters.</a:t>
            </a:r>
          </a:p>
        </p:txBody>
      </p:sp>
      <p:sp>
        <p:nvSpPr>
          <p:cNvPr id="11" name="Rectangle 10"/>
          <p:cNvSpPr/>
          <p:nvPr/>
        </p:nvSpPr>
        <p:spPr>
          <a:xfrm>
            <a:off x="4526280" y="1874520"/>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2" name="TextBox 11"/>
          <p:cNvSpPr txBox="1"/>
          <p:nvPr/>
        </p:nvSpPr>
        <p:spPr>
          <a:xfrm>
            <a:off x="4736592" y="1874520"/>
            <a:ext cx="7104888" cy="256032"/>
          </a:xfrm>
          <a:prstGeom prst="rect">
            <a:avLst/>
          </a:prstGeom>
          <a:noFill/>
        </p:spPr>
        <p:txBody>
          <a:bodyPr wrap="square">
            <a:spAutoFit/>
          </a:bodyPr>
          <a:lstStyle/>
          <a:p>
            <a:pPr algn="l"/>
            <a:r>
              <a:rPr b="0" i="0" sz="950">
                <a:solidFill>
                  <a:srgbClr val="1A1A2E"/>
                </a:solidFill>
              </a:rPr>
              <a:t>"Ask Fedi" help link is so peripheral most users will not notice it.</a:t>
            </a:r>
          </a:p>
        </p:txBody>
      </p:sp>
      <p:sp>
        <p:nvSpPr>
          <p:cNvPr id="13" name="Rectangle 12"/>
          <p:cNvSpPr/>
          <p:nvPr/>
        </p:nvSpPr>
        <p:spPr>
          <a:xfrm>
            <a:off x="4526280" y="2286000"/>
            <a:ext cx="164592" cy="20116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4" name="TextBox 13"/>
          <p:cNvSpPr txBox="1"/>
          <p:nvPr/>
        </p:nvSpPr>
        <p:spPr>
          <a:xfrm>
            <a:off x="4736592" y="2286000"/>
            <a:ext cx="7104888" cy="256032"/>
          </a:xfrm>
          <a:prstGeom prst="rect">
            <a:avLst/>
          </a:prstGeom>
          <a:noFill/>
        </p:spPr>
        <p:txBody>
          <a:bodyPr wrap="square">
            <a:spAutoFit/>
          </a:bodyPr>
          <a:lstStyle/>
          <a:p>
            <a:pPr algn="l"/>
            <a:r>
              <a:rPr b="0" i="0" sz="950">
                <a:solidFill>
                  <a:srgbClr val="1A1A2E"/>
                </a:solidFill>
              </a:rPr>
              <a:t>Clear visual hierarchy, intuitive two-button layout.</a:t>
            </a:r>
          </a:p>
        </p:txBody>
      </p:sp>
      <p:sp>
        <p:nvSpPr>
          <p:cNvPr id="15" name="Rectangle 14"/>
          <p:cNvSpPr/>
          <p:nvPr/>
        </p:nvSpPr>
        <p:spPr>
          <a:xfrm>
            <a:off x="4526280" y="2651760"/>
            <a:ext cx="164592" cy="20116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6" name="TextBox 15"/>
          <p:cNvSpPr txBox="1"/>
          <p:nvPr/>
        </p:nvSpPr>
        <p:spPr>
          <a:xfrm>
            <a:off x="4736592" y="2651760"/>
            <a:ext cx="7104888" cy="256032"/>
          </a:xfrm>
          <a:prstGeom prst="rect">
            <a:avLst/>
          </a:prstGeom>
          <a:noFill/>
        </p:spPr>
        <p:txBody>
          <a:bodyPr wrap="square">
            <a:spAutoFit/>
          </a:bodyPr>
          <a:lstStyle/>
          <a:p>
            <a:pPr algn="l"/>
            <a:r>
              <a:rPr b="0" i="0" sz="950">
                <a:solidFill>
                  <a:srgbClr val="1A1A2E"/>
                </a:solidFill>
              </a:rPr>
              <a:t>Avatar bubbles communicate social-network context without words.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2. Federation Discovery -- The First Wall</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They tap Get Started and land on Join or Create a Federation. No one has explained what a federation is.</a:t>
            </a:r>
          </a:p>
        </p:txBody>
      </p:sp>
      <p:pic>
        <p:nvPicPr>
          <p:cNvPr id="5" name="Picture 4" descr="02-federation-discovery.png"/>
          <p:cNvPicPr>
            <a:picLocks noChangeAspect="1"/>
          </p:cNvPicPr>
          <p:nvPr/>
        </p:nvPicPr>
        <p:blipFill>
          <a:blip r:embed="rId2"/>
          <a:stretch>
            <a:fillRect/>
          </a:stretch>
        </p:blipFill>
        <p:spPr>
          <a:xfrm>
            <a:off x="274320" y="1005840"/>
            <a:ext cx="3840480" cy="5394960"/>
          </a:xfrm>
          <a:prstGeom prst="rect">
            <a:avLst/>
          </a:prstGeom>
        </p:spPr>
      </p:pic>
      <p:sp>
        <p:nvSpPr>
          <p:cNvPr id="6" name="Rectangle 5"/>
          <p:cNvSpPr/>
          <p:nvPr/>
        </p:nvSpPr>
        <p:spPr>
          <a:xfrm>
            <a:off x="4297680" y="1005840"/>
            <a:ext cx="7616952" cy="539496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0" y="1005840"/>
            <a:ext cx="64008" cy="539496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097280"/>
            <a:ext cx="7315200" cy="274320"/>
          </a:xfrm>
          <a:prstGeom prst="rect">
            <a:avLst/>
          </a:prstGeom>
          <a:noFill/>
        </p:spPr>
        <p:txBody>
          <a:bodyPr wrap="square">
            <a:spAutoFit/>
          </a:bodyPr>
          <a:lstStyle/>
          <a:p>
            <a:pPr algn="l"/>
            <a:r>
              <a:rPr b="1" i="0" sz="1200">
                <a:solidFill>
                  <a:srgbClr val="2D6AD6"/>
                </a:solidFill>
              </a:rPr>
              <a:t>Findings</a:t>
            </a:r>
          </a:p>
        </p:txBody>
      </p:sp>
      <p:sp>
        <p:nvSpPr>
          <p:cNvPr id="9" name="Rectangle 8"/>
          <p:cNvSpPr/>
          <p:nvPr/>
        </p:nvSpPr>
        <p:spPr>
          <a:xfrm>
            <a:off x="4526280" y="146304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0" name="TextBox 9"/>
          <p:cNvSpPr txBox="1"/>
          <p:nvPr/>
        </p:nvSpPr>
        <p:spPr>
          <a:xfrm>
            <a:off x="4736592" y="1463040"/>
            <a:ext cx="7104888" cy="256032"/>
          </a:xfrm>
          <a:prstGeom prst="rect">
            <a:avLst/>
          </a:prstGeom>
          <a:noFill/>
        </p:spPr>
        <p:txBody>
          <a:bodyPr wrap="square">
            <a:spAutoFit/>
          </a:bodyPr>
          <a:lstStyle/>
          <a:p>
            <a:pPr algn="l"/>
            <a:r>
              <a:rPr b="0" i="0" sz="950">
                <a:solidFill>
                  <a:srgbClr val="1A1A2E"/>
                </a:solidFill>
              </a:rPr>
              <a:t>The word federation appears repeatedly before the user has any idea what it means.</a:t>
            </a:r>
          </a:p>
        </p:txBody>
      </p:sp>
      <p:sp>
        <p:nvSpPr>
          <p:cNvPr id="11" name="Rectangle 10"/>
          <p:cNvSpPr/>
          <p:nvPr/>
        </p:nvSpPr>
        <p:spPr>
          <a:xfrm>
            <a:off x="4526280" y="182880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2" name="TextBox 11"/>
          <p:cNvSpPr txBox="1"/>
          <p:nvPr/>
        </p:nvSpPr>
        <p:spPr>
          <a:xfrm>
            <a:off x="4736592" y="1828800"/>
            <a:ext cx="7104888" cy="256032"/>
          </a:xfrm>
          <a:prstGeom prst="rect">
            <a:avLst/>
          </a:prstGeom>
          <a:noFill/>
        </p:spPr>
        <p:txBody>
          <a:bodyPr wrap="square">
            <a:spAutoFit/>
          </a:bodyPr>
          <a:lstStyle/>
          <a:p>
            <a:pPr algn="l"/>
            <a:r>
              <a:rPr b="0" i="0" sz="950">
                <a:solidFill>
                  <a:srgbClr val="1A1A2E"/>
                </a:solidFill>
              </a:rPr>
              <a:t>Federation list cards are not tappable -- no detail view before committing to join.</a:t>
            </a:r>
          </a:p>
        </p:txBody>
      </p:sp>
      <p:sp>
        <p:nvSpPr>
          <p:cNvPr id="13" name="Rectangle 12"/>
          <p:cNvSpPr/>
          <p:nvPr/>
        </p:nvSpPr>
        <p:spPr>
          <a:xfrm>
            <a:off x="4526280" y="224027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4" name="TextBox 13"/>
          <p:cNvSpPr txBox="1"/>
          <p:nvPr/>
        </p:nvSpPr>
        <p:spPr>
          <a:xfrm>
            <a:off x="4736592" y="2240279"/>
            <a:ext cx="7104888" cy="256032"/>
          </a:xfrm>
          <a:prstGeom prst="rect">
            <a:avLst/>
          </a:prstGeom>
          <a:noFill/>
        </p:spPr>
        <p:txBody>
          <a:bodyPr wrap="square">
            <a:spAutoFit/>
          </a:bodyPr>
          <a:lstStyle/>
          <a:p>
            <a:pPr algn="l"/>
            <a:r>
              <a:rPr b="0" i="0" sz="950">
                <a:solidFill>
                  <a:srgbClr val="1A1A2E"/>
                </a:solidFill>
              </a:rPr>
              <a:t>Description text truncated mid-sentence ("Privacy Sovereignty Fr...").</a:t>
            </a:r>
          </a:p>
        </p:txBody>
      </p:sp>
      <p:sp>
        <p:nvSpPr>
          <p:cNvPr id="15" name="Rectangle 14"/>
          <p:cNvSpPr/>
          <p:nvPr/>
        </p:nvSpPr>
        <p:spPr>
          <a:xfrm>
            <a:off x="4526280" y="260603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6" name="TextBox 15"/>
          <p:cNvSpPr txBox="1"/>
          <p:nvPr/>
        </p:nvSpPr>
        <p:spPr>
          <a:xfrm>
            <a:off x="4736592" y="2606039"/>
            <a:ext cx="7104888" cy="256032"/>
          </a:xfrm>
          <a:prstGeom prst="rect">
            <a:avLst/>
          </a:prstGeom>
          <a:noFill/>
        </p:spPr>
        <p:txBody>
          <a:bodyPr wrap="square">
            <a:spAutoFit/>
          </a:bodyPr>
          <a:lstStyle/>
          <a:p>
            <a:pPr algn="l"/>
            <a:r>
              <a:rPr b="0" i="0" sz="950">
                <a:solidFill>
                  <a:srgbClr val="1A1A2E"/>
                </a:solidFill>
              </a:rPr>
              <a:t>Three tabs (Discover, Join, Create) have no active state and no explanation.</a:t>
            </a:r>
          </a:p>
        </p:txBody>
      </p:sp>
      <p:sp>
        <p:nvSpPr>
          <p:cNvPr id="17" name="Rectangle 16"/>
          <p:cNvSpPr/>
          <p:nvPr/>
        </p:nvSpPr>
        <p:spPr>
          <a:xfrm>
            <a:off x="4526280" y="3017519"/>
            <a:ext cx="164592" cy="20116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8" name="TextBox 17"/>
          <p:cNvSpPr txBox="1"/>
          <p:nvPr/>
        </p:nvSpPr>
        <p:spPr>
          <a:xfrm>
            <a:off x="4736592" y="3017519"/>
            <a:ext cx="7104888" cy="256032"/>
          </a:xfrm>
          <a:prstGeom prst="rect">
            <a:avLst/>
          </a:prstGeom>
          <a:noFill/>
        </p:spPr>
        <p:txBody>
          <a:bodyPr wrap="square">
            <a:spAutoFit/>
          </a:bodyPr>
          <a:lstStyle/>
          <a:p>
            <a:pPr algn="l"/>
            <a:r>
              <a:rPr b="0" i="0" sz="950">
                <a:solidFill>
                  <a:srgbClr val="1A1A2E"/>
                </a:solidFill>
              </a:rPr>
              <a:t>"Maybe Later" at the bottom gives users a safe exit.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3. Joining a Federation -- Errors, Loops &amp; a Disappearing Exit</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They tap Join. A Terms of Service screen appears, titled simply Welcome, with ToS as an external PDF.</a:t>
            </a:r>
          </a:p>
        </p:txBody>
      </p:sp>
      <p:pic>
        <p:nvPicPr>
          <p:cNvPr id="5" name="Picture 4" descr="03-join-tos.png"/>
          <p:cNvPicPr>
            <a:picLocks noChangeAspect="1"/>
          </p:cNvPicPr>
          <p:nvPr/>
        </p:nvPicPr>
        <p:blipFill>
          <a:blip r:embed="rId2"/>
          <a:stretch>
            <a:fillRect/>
          </a:stretch>
        </p:blipFill>
        <p:spPr>
          <a:xfrm>
            <a:off x="274320" y="1005840"/>
            <a:ext cx="3840480" cy="5394960"/>
          </a:xfrm>
          <a:prstGeom prst="rect">
            <a:avLst/>
          </a:prstGeom>
        </p:spPr>
      </p:pic>
      <p:sp>
        <p:nvSpPr>
          <p:cNvPr id="6" name="Rectangle 5"/>
          <p:cNvSpPr/>
          <p:nvPr/>
        </p:nvSpPr>
        <p:spPr>
          <a:xfrm>
            <a:off x="4297680" y="1005840"/>
            <a:ext cx="7616952" cy="539496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0" y="1005840"/>
            <a:ext cx="64008" cy="539496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097280"/>
            <a:ext cx="7315200" cy="274320"/>
          </a:xfrm>
          <a:prstGeom prst="rect">
            <a:avLst/>
          </a:prstGeom>
          <a:noFill/>
        </p:spPr>
        <p:txBody>
          <a:bodyPr wrap="square">
            <a:spAutoFit/>
          </a:bodyPr>
          <a:lstStyle/>
          <a:p>
            <a:pPr algn="l"/>
            <a:r>
              <a:rPr b="1" i="0" sz="1200">
                <a:solidFill>
                  <a:srgbClr val="2D6AD6"/>
                </a:solidFill>
              </a:rPr>
              <a:t>Findings</a:t>
            </a:r>
          </a:p>
        </p:txBody>
      </p:sp>
      <p:sp>
        <p:nvSpPr>
          <p:cNvPr id="9" name="Rectangle 8"/>
          <p:cNvSpPr/>
          <p:nvPr/>
        </p:nvSpPr>
        <p:spPr>
          <a:xfrm>
            <a:off x="4526280" y="146304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0" name="TextBox 9"/>
          <p:cNvSpPr txBox="1"/>
          <p:nvPr/>
        </p:nvSpPr>
        <p:spPr>
          <a:xfrm>
            <a:off x="4736592" y="1463040"/>
            <a:ext cx="7104888" cy="256032"/>
          </a:xfrm>
          <a:prstGeom prst="rect">
            <a:avLst/>
          </a:prstGeom>
          <a:noFill/>
        </p:spPr>
        <p:txBody>
          <a:bodyPr wrap="square">
            <a:spAutoFit/>
          </a:bodyPr>
          <a:lstStyle/>
          <a:p>
            <a:pPr algn="l"/>
            <a:r>
              <a:rPr b="0" i="0" sz="950">
                <a:solidFill>
                  <a:srgbClr val="1A1A2E"/>
                </a:solidFill>
              </a:rPr>
              <a:t>Screen title is "Welcome" -- no signal this is a legal consent moment. ToS not shown in-app.</a:t>
            </a:r>
          </a:p>
        </p:txBody>
      </p:sp>
      <p:sp>
        <p:nvSpPr>
          <p:cNvPr id="11" name="Rectangle 10"/>
          <p:cNvSpPr/>
          <p:nvPr/>
        </p:nvSpPr>
        <p:spPr>
          <a:xfrm>
            <a:off x="4526280" y="182880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2" name="TextBox 11"/>
          <p:cNvSpPr txBox="1"/>
          <p:nvPr/>
        </p:nvSpPr>
        <p:spPr>
          <a:xfrm>
            <a:off x="4736592" y="1828800"/>
            <a:ext cx="7104888" cy="256032"/>
          </a:xfrm>
          <a:prstGeom prst="rect">
            <a:avLst/>
          </a:prstGeom>
          <a:noFill/>
        </p:spPr>
        <p:txBody>
          <a:bodyPr wrap="square">
            <a:spAutoFit/>
          </a:bodyPr>
          <a:lstStyle/>
          <a:p>
            <a:pPr algn="l"/>
            <a:r>
              <a:rPr b="0" i="0" sz="950">
                <a:solidFill>
                  <a:srgbClr val="1A1A2E"/>
                </a:solidFill>
              </a:rPr>
              <a:t>Error banner is generic, has no retry button, and persists across multiple screens.</a:t>
            </a:r>
          </a:p>
        </p:txBody>
      </p:sp>
      <p:sp>
        <p:nvSpPr>
          <p:cNvPr id="13" name="Rectangle 12"/>
          <p:cNvSpPr/>
          <p:nvPr/>
        </p:nvSpPr>
        <p:spPr>
          <a:xfrm>
            <a:off x="4526280" y="219456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4" name="TextBox 13"/>
          <p:cNvSpPr txBox="1"/>
          <p:nvPr/>
        </p:nvSpPr>
        <p:spPr>
          <a:xfrm>
            <a:off x="4736592" y="2194560"/>
            <a:ext cx="7104888" cy="256032"/>
          </a:xfrm>
          <a:prstGeom prst="rect">
            <a:avLst/>
          </a:prstGeom>
          <a:noFill/>
        </p:spPr>
        <p:txBody>
          <a:bodyPr wrap="square">
            <a:spAutoFit/>
          </a:bodyPr>
          <a:lstStyle/>
          <a:p>
            <a:pPr algn="l"/>
            <a:r>
              <a:rPr b="0" i="0" sz="950">
                <a:solidFill>
                  <a:srgbClr val="1A1A2E"/>
                </a:solidFill>
              </a:rPr>
              <a:t>"View public federations" on QR scanner loops back to the same list.</a:t>
            </a:r>
          </a:p>
        </p:txBody>
      </p:sp>
      <p:sp>
        <p:nvSpPr>
          <p:cNvPr id="15" name="Rectangle 14"/>
          <p:cNvSpPr/>
          <p:nvPr/>
        </p:nvSpPr>
        <p:spPr>
          <a:xfrm>
            <a:off x="4526280" y="256032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6" name="TextBox 15"/>
          <p:cNvSpPr txBox="1"/>
          <p:nvPr/>
        </p:nvSpPr>
        <p:spPr>
          <a:xfrm>
            <a:off x="4736592" y="2560320"/>
            <a:ext cx="7104888" cy="256032"/>
          </a:xfrm>
          <a:prstGeom prst="rect">
            <a:avLst/>
          </a:prstGeom>
          <a:noFill/>
        </p:spPr>
        <p:txBody>
          <a:bodyPr wrap="square">
            <a:spAutoFit/>
          </a:bodyPr>
          <a:lstStyle/>
          <a:p>
            <a:pPr algn="l"/>
            <a:r>
              <a:rPr b="0" i="0" sz="950">
                <a:solidFill>
                  <a:srgbClr val="1A1A2E"/>
                </a:solidFill>
              </a:rPr>
              <a:t>"Maybe Later" disappears mid-flow. Back button exits the app entirely.</a:t>
            </a:r>
          </a:p>
        </p:txBody>
      </p:sp>
      <p:sp>
        <p:nvSpPr>
          <p:cNvPr id="17" name="Rectangle 16"/>
          <p:cNvSpPr/>
          <p:nvPr/>
        </p:nvSpPr>
        <p:spPr>
          <a:xfrm>
            <a:off x="4526280" y="297179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8" name="TextBox 17"/>
          <p:cNvSpPr txBox="1"/>
          <p:nvPr/>
        </p:nvSpPr>
        <p:spPr>
          <a:xfrm>
            <a:off x="4736592" y="2971799"/>
            <a:ext cx="7104888" cy="256032"/>
          </a:xfrm>
          <a:prstGeom prst="rect">
            <a:avLst/>
          </a:prstGeom>
          <a:noFill/>
        </p:spPr>
        <p:txBody>
          <a:bodyPr wrap="square">
            <a:spAutoFit/>
          </a:bodyPr>
          <a:lstStyle/>
          <a:p>
            <a:pPr algn="l"/>
            <a:r>
              <a:rPr b="0" i="0" sz="950">
                <a:solidFill>
                  <a:srgbClr val="1A1A2E"/>
                </a:solidFill>
              </a:rPr>
              <a:t>Camera permission screen doesn't clarify whether Continue grants or defers permission.</a:t>
            </a:r>
          </a:p>
        </p:txBody>
      </p:sp>
      <p:sp>
        <p:nvSpPr>
          <p:cNvPr id="19" name="Rectangle 18"/>
          <p:cNvSpPr/>
          <p:nvPr/>
        </p:nvSpPr>
        <p:spPr>
          <a:xfrm>
            <a:off x="4526280" y="333755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20" name="TextBox 19"/>
          <p:cNvSpPr txBox="1"/>
          <p:nvPr/>
        </p:nvSpPr>
        <p:spPr>
          <a:xfrm>
            <a:off x="4736592" y="3337559"/>
            <a:ext cx="7104888" cy="256032"/>
          </a:xfrm>
          <a:prstGeom prst="rect">
            <a:avLst/>
          </a:prstGeom>
          <a:noFill/>
        </p:spPr>
        <p:txBody>
          <a:bodyPr wrap="square">
            <a:spAutoFit/>
          </a:bodyPr>
          <a:lstStyle/>
          <a:p>
            <a:pPr algn="l"/>
            <a:r>
              <a:rPr b="0" i="0" sz="950">
                <a:solidFill>
                  <a:srgbClr val="1A1A2E"/>
                </a:solidFill>
              </a:rPr>
              <a:t>QR scanner has no instruction text -- what should the user point their camera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4. Arriving in the App</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If they make it through -- they land on home with a modal already waiting.</a:t>
            </a:r>
          </a:p>
        </p:txBody>
      </p:sp>
      <p:pic>
        <p:nvPicPr>
          <p:cNvPr id="5" name="Picture 4" descr="05-home-username-modal.png"/>
          <p:cNvPicPr>
            <a:picLocks noChangeAspect="1"/>
          </p:cNvPicPr>
          <p:nvPr/>
        </p:nvPicPr>
        <p:blipFill>
          <a:blip r:embed="rId2"/>
          <a:stretch>
            <a:fillRect/>
          </a:stretch>
        </p:blipFill>
        <p:spPr>
          <a:xfrm>
            <a:off x="274320" y="1005840"/>
            <a:ext cx="3840480" cy="5394960"/>
          </a:xfrm>
          <a:prstGeom prst="rect">
            <a:avLst/>
          </a:prstGeom>
        </p:spPr>
      </p:pic>
      <p:sp>
        <p:nvSpPr>
          <p:cNvPr id="6" name="Rectangle 5"/>
          <p:cNvSpPr/>
          <p:nvPr/>
        </p:nvSpPr>
        <p:spPr>
          <a:xfrm>
            <a:off x="4297680" y="1005840"/>
            <a:ext cx="7616952" cy="539496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0" y="1005840"/>
            <a:ext cx="64008" cy="539496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097280"/>
            <a:ext cx="7315200" cy="274320"/>
          </a:xfrm>
          <a:prstGeom prst="rect">
            <a:avLst/>
          </a:prstGeom>
          <a:noFill/>
        </p:spPr>
        <p:txBody>
          <a:bodyPr wrap="square">
            <a:spAutoFit/>
          </a:bodyPr>
          <a:lstStyle/>
          <a:p>
            <a:pPr algn="l"/>
            <a:r>
              <a:rPr b="1" i="0" sz="1200">
                <a:solidFill>
                  <a:srgbClr val="2D6AD6"/>
                </a:solidFill>
              </a:rPr>
              <a:t>Findings</a:t>
            </a:r>
          </a:p>
        </p:txBody>
      </p:sp>
      <p:sp>
        <p:nvSpPr>
          <p:cNvPr id="9" name="Rectangle 8"/>
          <p:cNvSpPr/>
          <p:nvPr/>
        </p:nvSpPr>
        <p:spPr>
          <a:xfrm>
            <a:off x="4526280" y="146304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0" name="TextBox 9"/>
          <p:cNvSpPr txBox="1"/>
          <p:nvPr/>
        </p:nvSpPr>
        <p:spPr>
          <a:xfrm>
            <a:off x="4736592" y="1463040"/>
            <a:ext cx="7104888" cy="256032"/>
          </a:xfrm>
          <a:prstGeom prst="rect">
            <a:avLst/>
          </a:prstGeom>
          <a:noFill/>
        </p:spPr>
        <p:txBody>
          <a:bodyPr wrap="square">
            <a:spAutoFit/>
          </a:bodyPr>
          <a:lstStyle/>
          <a:p>
            <a:pPr algn="l"/>
            <a:r>
              <a:rPr b="0" i="0" sz="950">
                <a:solidFill>
                  <a:srgbClr val="1A1A2E"/>
                </a:solidFill>
              </a:rPr>
              <a:t>Display name auto-assigned as "ambitious wolf" without asking. Jarring for a chat + payments app.</a:t>
            </a:r>
          </a:p>
        </p:txBody>
      </p:sp>
      <p:sp>
        <p:nvSpPr>
          <p:cNvPr id="11" name="Rectangle 10"/>
          <p:cNvSpPr/>
          <p:nvPr/>
        </p:nvSpPr>
        <p:spPr>
          <a:xfrm>
            <a:off x="4526280" y="187451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2" name="TextBox 11"/>
          <p:cNvSpPr txBox="1"/>
          <p:nvPr/>
        </p:nvSpPr>
        <p:spPr>
          <a:xfrm>
            <a:off x="4736592" y="1874519"/>
            <a:ext cx="7104888" cy="256032"/>
          </a:xfrm>
          <a:prstGeom prst="rect">
            <a:avLst/>
          </a:prstGeom>
          <a:noFill/>
        </p:spPr>
        <p:txBody>
          <a:bodyPr wrap="square">
            <a:spAutoFit/>
          </a:bodyPr>
          <a:lstStyle/>
          <a:p>
            <a:pPr algn="l"/>
            <a:r>
              <a:rPr b="0" i="0" sz="950">
                <a:solidFill>
                  <a:srgbClr val="1A1A2E"/>
                </a:solidFill>
              </a:rPr>
              <a:t>"ambitious wolf #267f" -- the hash suffix is technical noise with no explanation.</a:t>
            </a:r>
          </a:p>
        </p:txBody>
      </p:sp>
      <p:sp>
        <p:nvSpPr>
          <p:cNvPr id="13" name="Rectangle 12"/>
          <p:cNvSpPr/>
          <p:nvPr/>
        </p:nvSpPr>
        <p:spPr>
          <a:xfrm>
            <a:off x="4526280" y="224027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4" name="TextBox 13"/>
          <p:cNvSpPr txBox="1"/>
          <p:nvPr/>
        </p:nvSpPr>
        <p:spPr>
          <a:xfrm>
            <a:off x="4736592" y="2240279"/>
            <a:ext cx="7104888" cy="256032"/>
          </a:xfrm>
          <a:prstGeom prst="rect">
            <a:avLst/>
          </a:prstGeom>
          <a:noFill/>
        </p:spPr>
        <p:txBody>
          <a:bodyPr wrap="square">
            <a:spAutoFit/>
          </a:bodyPr>
          <a:lstStyle/>
          <a:p>
            <a:pPr algn="l"/>
            <a:r>
              <a:rPr b="0" i="0" sz="950">
                <a:solidFill>
                  <a:srgbClr val="1A1A2E"/>
                </a:solidFill>
              </a:rPr>
              <a:t>Home screen mixes three content types at equal visual weight.</a:t>
            </a:r>
          </a:p>
        </p:txBody>
      </p:sp>
      <p:sp>
        <p:nvSpPr>
          <p:cNvPr id="15" name="Rectangle 14"/>
          <p:cNvSpPr/>
          <p:nvPr/>
        </p:nvSpPr>
        <p:spPr>
          <a:xfrm>
            <a:off x="4526280" y="260603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6" name="TextBox 15"/>
          <p:cNvSpPr txBox="1"/>
          <p:nvPr/>
        </p:nvSpPr>
        <p:spPr>
          <a:xfrm>
            <a:off x="4736592" y="2606039"/>
            <a:ext cx="7104888" cy="256032"/>
          </a:xfrm>
          <a:prstGeom prst="rect">
            <a:avLst/>
          </a:prstGeom>
          <a:noFill/>
        </p:spPr>
        <p:txBody>
          <a:bodyPr wrap="square">
            <a:spAutoFit/>
          </a:bodyPr>
          <a:lstStyle/>
          <a:p>
            <a:pPr algn="l"/>
            <a:r>
              <a:rPr b="0" i="0" sz="950">
                <a:solidFill>
                  <a:srgbClr val="1A1A2E"/>
                </a:solidFill>
              </a:rPr>
              <a:t>Fedi Global banner has an unlabelled QR icon -- not obviously tappable.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5. Core Navigation</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Four unlabelled bottom-nav icons. Every tab blocked by a promo sheet on open.</a:t>
            </a:r>
          </a:p>
        </p:txBody>
      </p:sp>
      <p:pic>
        <p:nvPicPr>
          <p:cNvPr id="5" name="Picture 4" descr="06-home.png"/>
          <p:cNvPicPr>
            <a:picLocks noChangeAspect="1"/>
          </p:cNvPicPr>
          <p:nvPr/>
        </p:nvPicPr>
        <p:blipFill>
          <a:blip r:embed="rId2"/>
          <a:stretch>
            <a:fillRect/>
          </a:stretch>
        </p:blipFill>
        <p:spPr>
          <a:xfrm>
            <a:off x="274320" y="1005840"/>
            <a:ext cx="3474720" cy="5394960"/>
          </a:xfrm>
          <a:prstGeom prst="rect">
            <a:avLst/>
          </a:prstGeom>
        </p:spPr>
      </p:pic>
      <p:pic>
        <p:nvPicPr>
          <p:cNvPr id="6" name="Picture 5" descr="07-chat.png"/>
          <p:cNvPicPr>
            <a:picLocks noChangeAspect="1"/>
          </p:cNvPicPr>
          <p:nvPr/>
        </p:nvPicPr>
        <p:blipFill>
          <a:blip r:embed="rId3"/>
          <a:stretch>
            <a:fillRect/>
          </a:stretch>
        </p:blipFill>
        <p:spPr>
          <a:xfrm>
            <a:off x="3886200" y="1005840"/>
            <a:ext cx="2377440" cy="2560320"/>
          </a:xfrm>
          <a:prstGeom prst="rect">
            <a:avLst/>
          </a:prstGeom>
        </p:spPr>
      </p:pic>
      <p:sp>
        <p:nvSpPr>
          <p:cNvPr id="7" name="TextBox 6"/>
          <p:cNvSpPr txBox="1"/>
          <p:nvPr/>
        </p:nvSpPr>
        <p:spPr>
          <a:xfrm>
            <a:off x="3886200" y="3611880"/>
            <a:ext cx="2377440" cy="228600"/>
          </a:xfrm>
          <a:prstGeom prst="rect">
            <a:avLst/>
          </a:prstGeom>
          <a:noFill/>
        </p:spPr>
        <p:txBody>
          <a:bodyPr wrap="square">
            <a:spAutoFit/>
          </a:bodyPr>
          <a:lstStyle/>
          <a:p>
            <a:pPr algn="l"/>
            <a:r>
              <a:rPr b="1" i="0" sz="900">
                <a:solidFill>
                  <a:srgbClr val="555566"/>
                </a:solidFill>
              </a:rPr>
              <a:t>Chat</a:t>
            </a:r>
          </a:p>
        </p:txBody>
      </p:sp>
      <p:pic>
        <p:nvPicPr>
          <p:cNvPr id="8" name="Picture 7" descr="08-mini-apps.png"/>
          <p:cNvPicPr>
            <a:picLocks noChangeAspect="1"/>
          </p:cNvPicPr>
          <p:nvPr/>
        </p:nvPicPr>
        <p:blipFill>
          <a:blip r:embed="rId4"/>
          <a:stretch>
            <a:fillRect/>
          </a:stretch>
        </p:blipFill>
        <p:spPr>
          <a:xfrm>
            <a:off x="6492240" y="1005840"/>
            <a:ext cx="2377440" cy="2560320"/>
          </a:xfrm>
          <a:prstGeom prst="rect">
            <a:avLst/>
          </a:prstGeom>
        </p:spPr>
      </p:pic>
      <p:sp>
        <p:nvSpPr>
          <p:cNvPr id="9" name="TextBox 8"/>
          <p:cNvSpPr txBox="1"/>
          <p:nvPr/>
        </p:nvSpPr>
        <p:spPr>
          <a:xfrm>
            <a:off x="6492240" y="3611880"/>
            <a:ext cx="2377440" cy="228600"/>
          </a:xfrm>
          <a:prstGeom prst="rect">
            <a:avLst/>
          </a:prstGeom>
          <a:noFill/>
        </p:spPr>
        <p:txBody>
          <a:bodyPr wrap="square">
            <a:spAutoFit/>
          </a:bodyPr>
          <a:lstStyle/>
          <a:p>
            <a:pPr algn="l"/>
            <a:r>
              <a:rPr b="1" i="0" sz="900">
                <a:solidFill>
                  <a:srgbClr val="555566"/>
                </a:solidFill>
              </a:rPr>
              <a:t>Mini Apps</a:t>
            </a:r>
          </a:p>
        </p:txBody>
      </p:sp>
      <p:sp>
        <p:nvSpPr>
          <p:cNvPr id="10" name="Rectangle 9"/>
          <p:cNvSpPr/>
          <p:nvPr/>
        </p:nvSpPr>
        <p:spPr>
          <a:xfrm>
            <a:off x="9052560" y="1005840"/>
            <a:ext cx="2926080" cy="539496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052560" y="1005840"/>
            <a:ext cx="54864" cy="539496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098280" y="109728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3" name="TextBox 12"/>
          <p:cNvSpPr txBox="1"/>
          <p:nvPr/>
        </p:nvSpPr>
        <p:spPr>
          <a:xfrm>
            <a:off x="9326880" y="1097280"/>
            <a:ext cx="2606040" cy="256032"/>
          </a:xfrm>
          <a:prstGeom prst="rect">
            <a:avLst/>
          </a:prstGeom>
          <a:noFill/>
        </p:spPr>
        <p:txBody>
          <a:bodyPr wrap="square">
            <a:spAutoFit/>
          </a:bodyPr>
          <a:lstStyle/>
          <a:p>
            <a:pPr algn="l"/>
            <a:r>
              <a:rPr b="0" i="0" sz="850">
                <a:solidFill>
                  <a:srgbClr val="1A1A2E"/>
                </a:solidFill>
              </a:rPr>
              <a:t>Four unlabelled icons -- users must guess each tab's purpose.</a:t>
            </a:r>
          </a:p>
        </p:txBody>
      </p:sp>
      <p:sp>
        <p:nvSpPr>
          <p:cNvPr id="14" name="Rectangle 13"/>
          <p:cNvSpPr/>
          <p:nvPr/>
        </p:nvSpPr>
        <p:spPr>
          <a:xfrm>
            <a:off x="9098280" y="1444752"/>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5" name="TextBox 14"/>
          <p:cNvSpPr txBox="1"/>
          <p:nvPr/>
        </p:nvSpPr>
        <p:spPr>
          <a:xfrm>
            <a:off x="9326880" y="1444752"/>
            <a:ext cx="2606040" cy="256032"/>
          </a:xfrm>
          <a:prstGeom prst="rect">
            <a:avLst/>
          </a:prstGeom>
          <a:noFill/>
        </p:spPr>
        <p:txBody>
          <a:bodyPr wrap="square">
            <a:spAutoFit/>
          </a:bodyPr>
          <a:lstStyle/>
          <a:p>
            <a:pPr algn="l"/>
            <a:r>
              <a:rPr b="0" i="0" sz="850">
                <a:solidFill>
                  <a:srgbClr val="1A1A2E"/>
                </a:solidFill>
              </a:rPr>
              <a:t>Promo bottom sheet blocks content on every tab switch.</a:t>
            </a:r>
          </a:p>
        </p:txBody>
      </p:sp>
      <p:sp>
        <p:nvSpPr>
          <p:cNvPr id="16" name="Rectangle 15"/>
          <p:cNvSpPr/>
          <p:nvPr/>
        </p:nvSpPr>
        <p:spPr>
          <a:xfrm>
            <a:off x="9098280" y="1792224"/>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7" name="TextBox 16"/>
          <p:cNvSpPr txBox="1"/>
          <p:nvPr/>
        </p:nvSpPr>
        <p:spPr>
          <a:xfrm>
            <a:off x="9326880" y="1792224"/>
            <a:ext cx="2606040" cy="256032"/>
          </a:xfrm>
          <a:prstGeom prst="rect">
            <a:avLst/>
          </a:prstGeom>
          <a:noFill/>
        </p:spPr>
        <p:txBody>
          <a:bodyPr wrap="square">
            <a:spAutoFit/>
          </a:bodyPr>
          <a:lstStyle/>
          <a:p>
            <a:pPr algn="l"/>
            <a:r>
              <a:rPr b="0" i="0" sz="850">
                <a:solidFill>
                  <a:srgbClr val="1A1A2E"/>
                </a:solidFill>
              </a:rPr>
              <a:t>Wallet tab redirects to federation wall with no explanation.</a:t>
            </a:r>
          </a:p>
        </p:txBody>
      </p:sp>
      <p:sp>
        <p:nvSpPr>
          <p:cNvPr id="18" name="Rectangle 17"/>
          <p:cNvSpPr/>
          <p:nvPr/>
        </p:nvSpPr>
        <p:spPr>
          <a:xfrm>
            <a:off x="9098280" y="2139696"/>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9" name="TextBox 18"/>
          <p:cNvSpPr txBox="1"/>
          <p:nvPr/>
        </p:nvSpPr>
        <p:spPr>
          <a:xfrm>
            <a:off x="9326880" y="2139696"/>
            <a:ext cx="2606040" cy="256032"/>
          </a:xfrm>
          <a:prstGeom prst="rect">
            <a:avLst/>
          </a:prstGeom>
          <a:noFill/>
        </p:spPr>
        <p:txBody>
          <a:bodyPr wrap="square">
            <a:spAutoFit/>
          </a:bodyPr>
          <a:lstStyle/>
          <a:p>
            <a:pPr algn="l"/>
            <a:r>
              <a:rPr b="0" i="0" sz="850">
                <a:solidFill>
                  <a:srgbClr val="1A1A2E"/>
                </a:solidFill>
              </a:rPr>
              <a:t>Unlabelled QR icon on Fedi Global banner -- not obviously tappable.</a:t>
            </a:r>
          </a:p>
        </p:txBody>
      </p:sp>
      <p:sp>
        <p:nvSpPr>
          <p:cNvPr id="20" name="Rectangle 19"/>
          <p:cNvSpPr/>
          <p:nvPr/>
        </p:nvSpPr>
        <p:spPr>
          <a:xfrm>
            <a:off x="9098280" y="2487168"/>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21" name="TextBox 20"/>
          <p:cNvSpPr txBox="1"/>
          <p:nvPr/>
        </p:nvSpPr>
        <p:spPr>
          <a:xfrm>
            <a:off x="9326880" y="2487168"/>
            <a:ext cx="2606040" cy="256032"/>
          </a:xfrm>
          <a:prstGeom prst="rect">
            <a:avLst/>
          </a:prstGeom>
          <a:noFill/>
        </p:spPr>
        <p:txBody>
          <a:bodyPr wrap="square">
            <a:spAutoFit/>
          </a:bodyPr>
          <a:lstStyle/>
          <a:p>
            <a:pPr algn="l"/>
            <a:r>
              <a:rPr b="0" i="0" sz="850">
                <a:solidFill>
                  <a:srgbClr val="1A1A2E"/>
                </a:solidFill>
              </a:rPr>
              <a:t>Four unlabelled header icons appear on every screen.</a:t>
            </a:r>
          </a:p>
        </p:txBody>
      </p:sp>
      <p:sp>
        <p:nvSpPr>
          <p:cNvPr id="22" name="Rectangle 21"/>
          <p:cNvSpPr/>
          <p:nvPr/>
        </p:nvSpPr>
        <p:spPr>
          <a:xfrm>
            <a:off x="9098280" y="283463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23" name="TextBox 22"/>
          <p:cNvSpPr txBox="1"/>
          <p:nvPr/>
        </p:nvSpPr>
        <p:spPr>
          <a:xfrm>
            <a:off x="9326880" y="2834639"/>
            <a:ext cx="2606040" cy="256032"/>
          </a:xfrm>
          <a:prstGeom prst="rect">
            <a:avLst/>
          </a:prstGeom>
          <a:noFill/>
        </p:spPr>
        <p:txBody>
          <a:bodyPr wrap="square">
            <a:spAutoFit/>
          </a:bodyPr>
          <a:lstStyle/>
          <a:p>
            <a:pPr algn="l"/>
            <a:r>
              <a:rPr b="0" i="0" sz="850">
                <a:solidFill>
                  <a:srgbClr val="1A1A2E"/>
                </a:solidFill>
              </a:rPr>
              <a:t>Chat empty state is bare text -- no illustration or next step.</a:t>
            </a:r>
          </a:p>
        </p:txBody>
      </p:sp>
      <p:sp>
        <p:nvSpPr>
          <p:cNvPr id="24" name="Rectangle 23"/>
          <p:cNvSpPr/>
          <p:nvPr/>
        </p:nvSpPr>
        <p:spPr>
          <a:xfrm>
            <a:off x="9098280" y="3182111"/>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25" name="TextBox 24"/>
          <p:cNvSpPr txBox="1"/>
          <p:nvPr/>
        </p:nvSpPr>
        <p:spPr>
          <a:xfrm>
            <a:off x="9326880" y="3182111"/>
            <a:ext cx="2606040" cy="256032"/>
          </a:xfrm>
          <a:prstGeom prst="rect">
            <a:avLst/>
          </a:prstGeom>
          <a:noFill/>
        </p:spPr>
        <p:txBody>
          <a:bodyPr wrap="square">
            <a:spAutoFit/>
          </a:bodyPr>
          <a:lstStyle/>
          <a:p>
            <a:pPr algn="l"/>
            <a:r>
              <a:rPr b="0" i="0" sz="850">
                <a:solidFill>
                  <a:srgbClr val="1A1A2E"/>
                </a:solidFill>
              </a:rPr>
              <a:t>Mini apps icon grid: wildly inconsistent icon styles.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6. Settings &amp; Profile</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A QR code with no label sits above everything else.</a:t>
            </a:r>
          </a:p>
        </p:txBody>
      </p:sp>
      <p:pic>
        <p:nvPicPr>
          <p:cNvPr id="5" name="Picture 4" descr="09-settings-top.png"/>
          <p:cNvPicPr>
            <a:picLocks noChangeAspect="1"/>
          </p:cNvPicPr>
          <p:nvPr/>
        </p:nvPicPr>
        <p:blipFill>
          <a:blip r:embed="rId2"/>
          <a:stretch>
            <a:fillRect/>
          </a:stretch>
        </p:blipFill>
        <p:spPr>
          <a:xfrm>
            <a:off x="274320" y="1005840"/>
            <a:ext cx="2834640" cy="5394960"/>
          </a:xfrm>
          <a:prstGeom prst="rect">
            <a:avLst/>
          </a:prstGeom>
        </p:spPr>
      </p:pic>
      <p:pic>
        <p:nvPicPr>
          <p:cNvPr id="6" name="Picture 5" descr="10-settings-bottom.png"/>
          <p:cNvPicPr>
            <a:picLocks noChangeAspect="1"/>
          </p:cNvPicPr>
          <p:nvPr/>
        </p:nvPicPr>
        <p:blipFill>
          <a:blip r:embed="rId3"/>
          <a:stretch>
            <a:fillRect/>
          </a:stretch>
        </p:blipFill>
        <p:spPr>
          <a:xfrm>
            <a:off x="3246120" y="1005840"/>
            <a:ext cx="2286000" cy="2606040"/>
          </a:xfrm>
          <a:prstGeom prst="rect">
            <a:avLst/>
          </a:prstGeom>
        </p:spPr>
      </p:pic>
      <p:pic>
        <p:nvPicPr>
          <p:cNvPr id="7" name="Picture 6" descr="11-settings-footer.png"/>
          <p:cNvPicPr>
            <a:picLocks noChangeAspect="1"/>
          </p:cNvPicPr>
          <p:nvPr/>
        </p:nvPicPr>
        <p:blipFill>
          <a:blip r:embed="rId4"/>
          <a:stretch>
            <a:fillRect/>
          </a:stretch>
        </p:blipFill>
        <p:spPr>
          <a:xfrm>
            <a:off x="3246120" y="3794760"/>
            <a:ext cx="2286000" cy="2606040"/>
          </a:xfrm>
          <a:prstGeom prst="rect">
            <a:avLst/>
          </a:prstGeom>
        </p:spPr>
      </p:pic>
      <p:sp>
        <p:nvSpPr>
          <p:cNvPr id="8" name="Rectangle 7"/>
          <p:cNvSpPr/>
          <p:nvPr/>
        </p:nvSpPr>
        <p:spPr>
          <a:xfrm>
            <a:off x="5669280" y="1005840"/>
            <a:ext cx="6309360" cy="539496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0" y="1005840"/>
            <a:ext cx="54864" cy="539496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60720" y="1097280"/>
            <a:ext cx="164592" cy="201168"/>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1" name="TextBox 10"/>
          <p:cNvSpPr txBox="1"/>
          <p:nvPr/>
        </p:nvSpPr>
        <p:spPr>
          <a:xfrm>
            <a:off x="5989320" y="1097280"/>
            <a:ext cx="5897880" cy="256032"/>
          </a:xfrm>
          <a:prstGeom prst="rect">
            <a:avLst/>
          </a:prstGeom>
          <a:noFill/>
        </p:spPr>
        <p:txBody>
          <a:bodyPr wrap="square">
            <a:spAutoFit/>
          </a:bodyPr>
          <a:lstStyle/>
          <a:p>
            <a:pPr algn="l"/>
            <a:r>
              <a:rPr b="0" i="0" sz="900">
                <a:solidFill>
                  <a:srgbClr val="1A1A2E"/>
                </a:solidFill>
              </a:rPr>
              <a:t>QR code at top has no label -- wallet address? Login code? No way to know.</a:t>
            </a:r>
          </a:p>
        </p:txBody>
      </p:sp>
      <p:sp>
        <p:nvSpPr>
          <p:cNvPr id="12" name="Rectangle 11"/>
          <p:cNvSpPr/>
          <p:nvPr/>
        </p:nvSpPr>
        <p:spPr>
          <a:xfrm>
            <a:off x="5760720" y="1463040"/>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3" name="TextBox 12"/>
          <p:cNvSpPr txBox="1"/>
          <p:nvPr/>
        </p:nvSpPr>
        <p:spPr>
          <a:xfrm>
            <a:off x="5989320" y="1463040"/>
            <a:ext cx="5897880" cy="256032"/>
          </a:xfrm>
          <a:prstGeom prst="rect">
            <a:avLst/>
          </a:prstGeom>
          <a:noFill/>
        </p:spPr>
        <p:txBody>
          <a:bodyPr wrap="square">
            <a:spAutoFit/>
          </a:bodyPr>
          <a:lstStyle/>
          <a:p>
            <a:pPr algn="l"/>
            <a:r>
              <a:rPr b="0" i="0" sz="900">
                <a:solidFill>
                  <a:srgbClr val="1A1A2E"/>
                </a:solidFill>
              </a:rPr>
              <a:t>"#267f" hash suffix on display name -- technical noise for users.</a:t>
            </a:r>
          </a:p>
        </p:txBody>
      </p:sp>
      <p:sp>
        <p:nvSpPr>
          <p:cNvPr id="14" name="Rectangle 13"/>
          <p:cNvSpPr/>
          <p:nvPr/>
        </p:nvSpPr>
        <p:spPr>
          <a:xfrm>
            <a:off x="5760720" y="1828800"/>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5" name="TextBox 14"/>
          <p:cNvSpPr txBox="1"/>
          <p:nvPr/>
        </p:nvSpPr>
        <p:spPr>
          <a:xfrm>
            <a:off x="5989320" y="1828800"/>
            <a:ext cx="5897880" cy="256032"/>
          </a:xfrm>
          <a:prstGeom prst="rect">
            <a:avLst/>
          </a:prstGeom>
          <a:noFill/>
        </p:spPr>
        <p:txBody>
          <a:bodyPr wrap="square">
            <a:spAutoFit/>
          </a:bodyPr>
          <a:lstStyle/>
          <a:p>
            <a:pPr algn="l"/>
            <a:r>
              <a:rPr b="0" i="0" sz="900">
                <a:solidFill>
                  <a:srgbClr val="1A1A2E"/>
                </a:solidFill>
              </a:rPr>
              <a:t>"Nostr Details" listed with no explanation of what Nostr is.</a:t>
            </a:r>
          </a:p>
        </p:txBody>
      </p:sp>
      <p:sp>
        <p:nvSpPr>
          <p:cNvPr id="16" name="Rectangle 15"/>
          <p:cNvSpPr/>
          <p:nvPr/>
        </p:nvSpPr>
        <p:spPr>
          <a:xfrm>
            <a:off x="5760720" y="2194560"/>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7" name="TextBox 16"/>
          <p:cNvSpPr txBox="1"/>
          <p:nvPr/>
        </p:nvSpPr>
        <p:spPr>
          <a:xfrm>
            <a:off x="5989320" y="2194560"/>
            <a:ext cx="5897880" cy="256032"/>
          </a:xfrm>
          <a:prstGeom prst="rect">
            <a:avLst/>
          </a:prstGeom>
          <a:noFill/>
        </p:spPr>
        <p:txBody>
          <a:bodyPr wrap="square">
            <a:spAutoFit/>
          </a:bodyPr>
          <a:lstStyle/>
          <a:p>
            <a:pPr algn="l"/>
            <a:r>
              <a:rPr b="0" i="0" sz="900">
                <a:solidFill>
                  <a:srgbClr val="1A1A2E"/>
                </a:solidFill>
              </a:rPr>
              <a:t>External link icons used inconsistently instead of chevrons.</a:t>
            </a:r>
          </a:p>
        </p:txBody>
      </p:sp>
      <p:sp>
        <p:nvSpPr>
          <p:cNvPr id="18" name="Rectangle 17"/>
          <p:cNvSpPr/>
          <p:nvPr/>
        </p:nvSpPr>
        <p:spPr>
          <a:xfrm>
            <a:off x="5760720" y="2560320"/>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19" name="TextBox 18"/>
          <p:cNvSpPr txBox="1"/>
          <p:nvPr/>
        </p:nvSpPr>
        <p:spPr>
          <a:xfrm>
            <a:off x="5989320" y="2560320"/>
            <a:ext cx="5897880" cy="256032"/>
          </a:xfrm>
          <a:prstGeom prst="rect">
            <a:avLst/>
          </a:prstGeom>
          <a:noFill/>
        </p:spPr>
        <p:txBody>
          <a:bodyPr wrap="square">
            <a:spAutoFit/>
          </a:bodyPr>
          <a:lstStyle/>
          <a:p>
            <a:pPr algn="l"/>
            <a:r>
              <a:rPr b="0" i="0" sz="900">
                <a:solidFill>
                  <a:srgbClr val="1A1A2E"/>
                </a:solidFill>
              </a:rPr>
              <a:t>"Share logs" looks like plain text -- no affordance it is tappable.</a:t>
            </a:r>
          </a:p>
        </p:txBody>
      </p:sp>
      <p:sp>
        <p:nvSpPr>
          <p:cNvPr id="20" name="Rectangle 19"/>
          <p:cNvSpPr/>
          <p:nvPr/>
        </p:nvSpPr>
        <p:spPr>
          <a:xfrm>
            <a:off x="5760720" y="2926079"/>
            <a:ext cx="164592" cy="201168"/>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21" name="TextBox 20"/>
          <p:cNvSpPr txBox="1"/>
          <p:nvPr/>
        </p:nvSpPr>
        <p:spPr>
          <a:xfrm>
            <a:off x="5989320" y="2926079"/>
            <a:ext cx="5897880" cy="256032"/>
          </a:xfrm>
          <a:prstGeom prst="rect">
            <a:avLst/>
          </a:prstGeom>
          <a:noFill/>
        </p:spPr>
        <p:txBody>
          <a:bodyPr wrap="square">
            <a:spAutoFit/>
          </a:bodyPr>
          <a:lstStyle/>
          <a:p>
            <a:pPr algn="l"/>
            <a:r>
              <a:rPr b="0" i="0" sz="900">
                <a:solidFill>
                  <a:srgbClr val="1A1A2E"/>
                </a:solidFill>
              </a:rPr>
              <a:t>"Fedimint 0.9.1" -- internal version noise for regular users.</a:t>
            </a:r>
          </a:p>
        </p:txBody>
      </p:sp>
      <p:sp>
        <p:nvSpPr>
          <p:cNvPr id="22" name="Rectangle 21"/>
          <p:cNvSpPr/>
          <p:nvPr/>
        </p:nvSpPr>
        <p:spPr>
          <a:xfrm>
            <a:off x="5760720" y="3291839"/>
            <a:ext cx="164592" cy="20116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23" name="TextBox 22"/>
          <p:cNvSpPr txBox="1"/>
          <p:nvPr/>
        </p:nvSpPr>
        <p:spPr>
          <a:xfrm>
            <a:off x="5989320" y="3291839"/>
            <a:ext cx="5897880" cy="256032"/>
          </a:xfrm>
          <a:prstGeom prst="rect">
            <a:avLst/>
          </a:prstGeom>
          <a:noFill/>
        </p:spPr>
        <p:txBody>
          <a:bodyPr wrap="square">
            <a:spAutoFit/>
          </a:bodyPr>
          <a:lstStyle/>
          <a:p>
            <a:pPr algn="l"/>
            <a:r>
              <a:rPr b="0" i="0" sz="900">
                <a:solidFill>
                  <a:srgbClr val="1A1A2E"/>
                </a:solidFill>
              </a:rPr>
              <a:t>Settings are well-structured: Backup, PIN, Language, Currency.</a:t>
            </a:r>
          </a:p>
        </p:txBody>
      </p:sp>
      <p:sp>
        <p:nvSpPr>
          <p:cNvPr id="24" name="Rectangle 23"/>
          <p:cNvSpPr/>
          <p:nvPr/>
        </p:nvSpPr>
        <p:spPr>
          <a:xfrm>
            <a:off x="5760720" y="3657599"/>
            <a:ext cx="164592" cy="20116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25" name="TextBox 24"/>
          <p:cNvSpPr txBox="1"/>
          <p:nvPr/>
        </p:nvSpPr>
        <p:spPr>
          <a:xfrm>
            <a:off x="5989320" y="3657599"/>
            <a:ext cx="5897880" cy="256032"/>
          </a:xfrm>
          <a:prstGeom prst="rect">
            <a:avLst/>
          </a:prstGeom>
          <a:noFill/>
        </p:spPr>
        <p:txBody>
          <a:bodyPr wrap="square">
            <a:spAutoFit/>
          </a:bodyPr>
          <a:lstStyle/>
          <a:p>
            <a:pPr algn="l"/>
            <a:r>
              <a:rPr b="0" i="0" sz="900">
                <a:solidFill>
                  <a:srgbClr val="1A1A2E"/>
                </a:solidFill>
              </a:rPr>
              <a:t>"Ask Fedi" help entry is present in settings.</a:t>
            </a:r>
          </a:p>
        </p:txBody>
      </p:sp>
      <p:sp>
        <p:nvSpPr>
          <p:cNvPr id="26" name="Rectangle 25"/>
          <p:cNvSpPr/>
          <p:nvPr/>
        </p:nvSpPr>
        <p:spPr>
          <a:xfrm>
            <a:off x="5760720" y="4023359"/>
            <a:ext cx="164592" cy="201168"/>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t>
            </a:r>
          </a:p>
        </p:txBody>
      </p:sp>
      <p:sp>
        <p:nvSpPr>
          <p:cNvPr id="27" name="TextBox 26"/>
          <p:cNvSpPr txBox="1"/>
          <p:nvPr/>
        </p:nvSpPr>
        <p:spPr>
          <a:xfrm>
            <a:off x="5989320" y="4023359"/>
            <a:ext cx="5897880" cy="256032"/>
          </a:xfrm>
          <a:prstGeom prst="rect">
            <a:avLst/>
          </a:prstGeom>
          <a:noFill/>
        </p:spPr>
        <p:txBody>
          <a:bodyPr wrap="square">
            <a:spAutoFit/>
          </a:bodyPr>
          <a:lstStyle/>
          <a:p>
            <a:pPr algn="l"/>
            <a:r>
              <a:rPr b="0" i="0" sz="900">
                <a:solidFill>
                  <a:srgbClr val="1A1A2E"/>
                </a:solidFill>
              </a:rPr>
              <a:t>Icon + label + chevron list pattern is clear and scannable.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Priority Matrix</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All findings ranked by heuristic and severity</a:t>
            </a:r>
          </a:p>
        </p:txBody>
      </p:sp>
      <p:graphicFrame>
        <p:nvGraphicFramePr>
          <p:cNvPr id="5" name="Table 4"/>
          <p:cNvGraphicFramePr>
            <a:graphicFrameLocks noGrp="1"/>
          </p:cNvGraphicFramePr>
          <p:nvPr/>
        </p:nvGraphicFramePr>
        <p:xfrm>
          <a:off x="274320" y="1005840"/>
          <a:ext cx="11018520" cy="5577840"/>
        </p:xfrm>
        <a:graphic>
          <a:graphicData uri="http://schemas.openxmlformats.org/drawingml/2006/table">
            <a:tbl>
              <a:tblPr firstRow="1" bandRow="1">
                <a:tableStyleId>{5C22544A-7EE6-4342-B048-85BDC9FD1C3A}</a:tableStyleId>
              </a:tblPr>
              <a:tblGrid>
                <a:gridCol w="2011680"/>
                <a:gridCol w="7772400"/>
                <a:gridCol w="548640"/>
                <a:gridCol w="685800"/>
              </a:tblGrid>
              <a:tr h="199208">
                <a:tc>
                  <a:txBody>
                    <a:bodyPr wrap="square"/>
                    <a:lstStyle/>
                    <a:p>
                      <a:pPr algn="ctr"/>
                      <a:r>
                        <a:rPr b="1" i="0" sz="900">
                          <a:solidFill>
                            <a:srgbClr val="FFFFFF"/>
                          </a:solidFill>
                        </a:rPr>
                        <a:t>Area</a:t>
                      </a:r>
                    </a:p>
                  </a:txBody>
                  <a:tcPr>
                    <a:solidFill>
                      <a:srgbClr val="1A1A2E"/>
                    </a:solidFill>
                  </a:tcPr>
                </a:tc>
                <a:tc>
                  <a:txBody>
                    <a:bodyPr wrap="square"/>
                    <a:lstStyle/>
                    <a:p>
                      <a:pPr algn="ctr"/>
                      <a:r>
                        <a:rPr b="1" i="0" sz="900">
                          <a:solidFill>
                            <a:srgbClr val="FFFFFF"/>
                          </a:solidFill>
                        </a:rPr>
                        <a:t>Finding</a:t>
                      </a:r>
                    </a:p>
                  </a:txBody>
                  <a:tcPr>
                    <a:solidFill>
                      <a:srgbClr val="1A1A2E"/>
                    </a:solidFill>
                  </a:tcPr>
                </a:tc>
                <a:tc>
                  <a:txBody>
                    <a:bodyPr wrap="square"/>
                    <a:lstStyle/>
                    <a:p>
                      <a:pPr algn="ctr"/>
                      <a:r>
                        <a:rPr b="1" i="0" sz="900">
                          <a:solidFill>
                            <a:srgbClr val="FFFFFF"/>
                          </a:solidFill>
                        </a:rPr>
                        <a:t>H#</a:t>
                      </a:r>
                    </a:p>
                  </a:txBody>
                  <a:tcPr>
                    <a:solidFill>
                      <a:srgbClr val="1A1A2E"/>
                    </a:solidFill>
                  </a:tcPr>
                </a:tc>
                <a:tc>
                  <a:txBody>
                    <a:bodyPr wrap="square"/>
                    <a:lstStyle/>
                    <a:p>
                      <a:pPr algn="ctr"/>
                      <a:r>
                        <a:rPr b="1" i="0" sz="900">
                          <a:solidFill>
                            <a:srgbClr val="FFFFFF"/>
                          </a:solidFill>
                        </a:rPr>
                        <a:t>Sev.</a:t>
                      </a:r>
                    </a:p>
                  </a:txBody>
                  <a:tcPr>
                    <a:solidFill>
                      <a:srgbClr val="1A1A2E"/>
                    </a:solidFill>
                  </a:tcPr>
                </a:tc>
              </a:tr>
              <a:tr h="199208">
                <a:tc>
                  <a:txBody>
                    <a:bodyPr wrap="square"/>
                    <a:lstStyle/>
                    <a:p>
                      <a:pPr algn="l"/>
                      <a:r>
                        <a:rPr b="0" i="0" sz="800">
                          <a:solidFill>
                            <a:srgbClr val="1A1A2E"/>
                          </a:solidFill>
                        </a:rPr>
                        <a:t>Federation Discovery</a:t>
                      </a:r>
                    </a:p>
                  </a:txBody>
                  <a:tcPr>
                    <a:solidFill>
                      <a:srgbClr val="FFFFFF"/>
                    </a:solidFill>
                  </a:tcPr>
                </a:tc>
                <a:tc>
                  <a:txBody>
                    <a:bodyPr wrap="square"/>
                    <a:lstStyle/>
                    <a:p>
                      <a:pPr algn="l"/>
                      <a:r>
                        <a:rPr b="0" i="0" sz="800">
                          <a:solidFill>
                            <a:srgbClr val="1A1A2E"/>
                          </a:solidFill>
                        </a:rPr>
                        <a:t>No explanation of federation before asking users to join</a:t>
                      </a:r>
                    </a:p>
                  </a:txBody>
                  <a:tcPr>
                    <a:solidFill>
                      <a:srgbClr val="FFFFFF"/>
                    </a:solidFill>
                  </a:tcPr>
                </a:tc>
                <a:tc>
                  <a:txBody>
                    <a:bodyPr wrap="square"/>
                    <a:lstStyle/>
                    <a:p>
                      <a:pPr algn="ctr"/>
                      <a:r>
                        <a:rPr b="0" i="0" sz="800">
                          <a:solidFill>
                            <a:srgbClr val="555566"/>
                          </a:solidFill>
                        </a:rPr>
                        <a:t>H2</a:t>
                      </a:r>
                    </a:p>
                  </a:txBody>
                  <a:tcPr>
                    <a:solidFill>
                      <a:srgbClr val="FFFFFF"/>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Federation Discovery</a:t>
                      </a:r>
                    </a:p>
                  </a:txBody>
                  <a:tcPr>
                    <a:solidFill>
                      <a:srgbClr val="F4F4F6"/>
                    </a:solidFill>
                  </a:tcPr>
                </a:tc>
                <a:tc>
                  <a:txBody>
                    <a:bodyPr wrap="square"/>
                    <a:lstStyle/>
                    <a:p>
                      <a:pPr algn="l"/>
                      <a:r>
                        <a:rPr b="0" i="0" sz="800">
                          <a:solidFill>
                            <a:srgbClr val="1A1A2E"/>
                          </a:solidFill>
                        </a:rPr>
                        <a:t>Federation cards not tappable -- no detail before committing</a:t>
                      </a:r>
                    </a:p>
                  </a:txBody>
                  <a:tcPr>
                    <a:solidFill>
                      <a:srgbClr val="F4F4F6"/>
                    </a:solidFill>
                  </a:tcPr>
                </a:tc>
                <a:tc>
                  <a:txBody>
                    <a:bodyPr wrap="square"/>
                    <a:lstStyle/>
                    <a:p>
                      <a:pPr algn="ctr"/>
                      <a:r>
                        <a:rPr b="0" i="0" sz="800">
                          <a:solidFill>
                            <a:srgbClr val="555566"/>
                          </a:solidFill>
                        </a:rPr>
                        <a:t>H5</a:t>
                      </a:r>
                    </a:p>
                  </a:txBody>
                  <a:tcPr>
                    <a:solidFill>
                      <a:srgbClr val="F4F4F6"/>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Joining Flow</a:t>
                      </a:r>
                    </a:p>
                  </a:txBody>
                  <a:tcPr>
                    <a:solidFill>
                      <a:srgbClr val="FFFFFF"/>
                    </a:solidFill>
                  </a:tcPr>
                </a:tc>
                <a:tc>
                  <a:txBody>
                    <a:bodyPr wrap="square"/>
                    <a:lstStyle/>
                    <a:p>
                      <a:pPr algn="l"/>
                      <a:r>
                        <a:rPr b="0" i="0" sz="800">
                          <a:solidFill>
                            <a:srgbClr val="1A1A2E"/>
                          </a:solidFill>
                        </a:rPr>
                        <a:t>Error banner persists across multiple screens</a:t>
                      </a:r>
                    </a:p>
                  </a:txBody>
                  <a:tcPr>
                    <a:solidFill>
                      <a:srgbClr val="FFFFFF"/>
                    </a:solidFill>
                  </a:tcPr>
                </a:tc>
                <a:tc>
                  <a:txBody>
                    <a:bodyPr wrap="square"/>
                    <a:lstStyle/>
                    <a:p>
                      <a:pPr algn="ctr"/>
                      <a:r>
                        <a:rPr b="0" i="0" sz="800">
                          <a:solidFill>
                            <a:srgbClr val="555566"/>
                          </a:solidFill>
                        </a:rPr>
                        <a:t>H1</a:t>
                      </a:r>
                    </a:p>
                  </a:txBody>
                  <a:tcPr>
                    <a:solidFill>
                      <a:srgbClr val="FFFFFF"/>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Joining Flow</a:t>
                      </a:r>
                    </a:p>
                  </a:txBody>
                  <a:tcPr>
                    <a:solidFill>
                      <a:srgbClr val="F4F4F6"/>
                    </a:solidFill>
                  </a:tcPr>
                </a:tc>
                <a:tc>
                  <a:txBody>
                    <a:bodyPr wrap="square"/>
                    <a:lstStyle/>
                    <a:p>
                      <a:pPr algn="l"/>
                      <a:r>
                        <a:rPr b="0" i="0" sz="800">
                          <a:solidFill>
                            <a:srgbClr val="1A1A2E"/>
                          </a:solidFill>
                        </a:rPr>
                        <a:t>"View public federations" loops back to same screen</a:t>
                      </a:r>
                    </a:p>
                  </a:txBody>
                  <a:tcPr>
                    <a:solidFill>
                      <a:srgbClr val="F4F4F6"/>
                    </a:solidFill>
                  </a:tcPr>
                </a:tc>
                <a:tc>
                  <a:txBody>
                    <a:bodyPr wrap="square"/>
                    <a:lstStyle/>
                    <a:p>
                      <a:pPr algn="ctr"/>
                      <a:r>
                        <a:rPr b="0" i="0" sz="800">
                          <a:solidFill>
                            <a:srgbClr val="555566"/>
                          </a:solidFill>
                        </a:rPr>
                        <a:t>H3</a:t>
                      </a:r>
                    </a:p>
                  </a:txBody>
                  <a:tcPr>
                    <a:solidFill>
                      <a:srgbClr val="F4F4F6"/>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Joining Flow</a:t>
                      </a:r>
                    </a:p>
                  </a:txBody>
                  <a:tcPr>
                    <a:solidFill>
                      <a:srgbClr val="FFFFFF"/>
                    </a:solidFill>
                  </a:tcPr>
                </a:tc>
                <a:tc>
                  <a:txBody>
                    <a:bodyPr wrap="square"/>
                    <a:lstStyle/>
                    <a:p>
                      <a:pPr algn="l"/>
                      <a:r>
                        <a:rPr b="0" i="0" sz="800">
                          <a:solidFill>
                            <a:srgbClr val="1A1A2E"/>
                          </a:solidFill>
                        </a:rPr>
                        <a:t>"Maybe Later" disappears after first navigation</a:t>
                      </a:r>
                    </a:p>
                  </a:txBody>
                  <a:tcPr>
                    <a:solidFill>
                      <a:srgbClr val="FFFFFF"/>
                    </a:solidFill>
                  </a:tcPr>
                </a:tc>
                <a:tc>
                  <a:txBody>
                    <a:bodyPr wrap="square"/>
                    <a:lstStyle/>
                    <a:p>
                      <a:pPr algn="ctr"/>
                      <a:r>
                        <a:rPr b="0" i="0" sz="800">
                          <a:solidFill>
                            <a:srgbClr val="555566"/>
                          </a:solidFill>
                        </a:rPr>
                        <a:t>H3</a:t>
                      </a:r>
                    </a:p>
                  </a:txBody>
                  <a:tcPr>
                    <a:solidFill>
                      <a:srgbClr val="FFFFFF"/>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Joining Flow</a:t>
                      </a:r>
                    </a:p>
                  </a:txBody>
                  <a:tcPr>
                    <a:solidFill>
                      <a:srgbClr val="F4F4F6"/>
                    </a:solidFill>
                  </a:tcPr>
                </a:tc>
                <a:tc>
                  <a:txBody>
                    <a:bodyPr wrap="square"/>
                    <a:lstStyle/>
                    <a:p>
                      <a:pPr algn="l"/>
                      <a:r>
                        <a:rPr b="0" i="0" sz="800">
                          <a:solidFill>
                            <a:srgbClr val="1A1A2E"/>
                          </a:solidFill>
                        </a:rPr>
                        <a:t>Back button exits app -- no route to main UI if joining fails</a:t>
                      </a:r>
                    </a:p>
                  </a:txBody>
                  <a:tcPr>
                    <a:solidFill>
                      <a:srgbClr val="F4F4F6"/>
                    </a:solidFill>
                  </a:tcPr>
                </a:tc>
                <a:tc>
                  <a:txBody>
                    <a:bodyPr wrap="square"/>
                    <a:lstStyle/>
                    <a:p>
                      <a:pPr algn="ctr"/>
                      <a:r>
                        <a:rPr b="0" i="0" sz="800">
                          <a:solidFill>
                            <a:srgbClr val="555566"/>
                          </a:solidFill>
                        </a:rPr>
                        <a:t>H3</a:t>
                      </a:r>
                    </a:p>
                  </a:txBody>
                  <a:tcPr>
                    <a:solidFill>
                      <a:srgbClr val="F4F4F6"/>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Arriving in App</a:t>
                      </a:r>
                    </a:p>
                  </a:txBody>
                  <a:tcPr>
                    <a:solidFill>
                      <a:srgbClr val="FFFFFF"/>
                    </a:solidFill>
                  </a:tcPr>
                </a:tc>
                <a:tc>
                  <a:txBody>
                    <a:bodyPr wrap="square"/>
                    <a:lstStyle/>
                    <a:p>
                      <a:pPr algn="l"/>
                      <a:r>
                        <a:rPr b="0" i="0" sz="800">
                          <a:solidFill>
                            <a:srgbClr val="1A1A2E"/>
                          </a:solidFill>
                        </a:rPr>
                        <a:t>Display name auto-assigned without asking</a:t>
                      </a:r>
                    </a:p>
                  </a:txBody>
                  <a:tcPr>
                    <a:solidFill>
                      <a:srgbClr val="FFFFFF"/>
                    </a:solidFill>
                  </a:tcPr>
                </a:tc>
                <a:tc>
                  <a:txBody>
                    <a:bodyPr wrap="square"/>
                    <a:lstStyle/>
                    <a:p>
                      <a:pPr algn="ctr"/>
                      <a:r>
                        <a:rPr b="0" i="0" sz="800">
                          <a:solidFill>
                            <a:srgbClr val="555566"/>
                          </a:solidFill>
                        </a:rPr>
                        <a:t>H2</a:t>
                      </a:r>
                    </a:p>
                  </a:txBody>
                  <a:tcPr>
                    <a:solidFill>
                      <a:srgbClr val="FFFFFF"/>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Wallet Tab</a:t>
                      </a:r>
                    </a:p>
                  </a:txBody>
                  <a:tcPr>
                    <a:solidFill>
                      <a:srgbClr val="F4F4F6"/>
                    </a:solidFill>
                  </a:tcPr>
                </a:tc>
                <a:tc>
                  <a:txBody>
                    <a:bodyPr wrap="square"/>
                    <a:lstStyle/>
                    <a:p>
                      <a:pPr algn="l"/>
                      <a:r>
                        <a:rPr b="0" i="0" sz="800">
                          <a:solidFill>
                            <a:srgbClr val="1A1A2E"/>
                          </a:solidFill>
                        </a:rPr>
                        <a:t>Redirects to federation wall with no explanation</a:t>
                      </a:r>
                    </a:p>
                  </a:txBody>
                  <a:tcPr>
                    <a:solidFill>
                      <a:srgbClr val="F4F4F6"/>
                    </a:solidFill>
                  </a:tcPr>
                </a:tc>
                <a:tc>
                  <a:txBody>
                    <a:bodyPr wrap="square"/>
                    <a:lstStyle/>
                    <a:p>
                      <a:pPr algn="ctr"/>
                      <a:r>
                        <a:rPr b="0" i="0" sz="800">
                          <a:solidFill>
                            <a:srgbClr val="555566"/>
                          </a:solidFill>
                        </a:rPr>
                        <a:t>H1</a:t>
                      </a:r>
                    </a:p>
                  </a:txBody>
                  <a:tcPr>
                    <a:solidFill>
                      <a:srgbClr val="F4F4F6"/>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Core Nav</a:t>
                      </a:r>
                    </a:p>
                  </a:txBody>
                  <a:tcPr>
                    <a:solidFill>
                      <a:srgbClr val="FFFFFF"/>
                    </a:solidFill>
                  </a:tcPr>
                </a:tc>
                <a:tc>
                  <a:txBody>
                    <a:bodyPr wrap="square"/>
                    <a:lstStyle/>
                    <a:p>
                      <a:pPr algn="l"/>
                      <a:r>
                        <a:rPr b="0" i="0" sz="800">
                          <a:solidFill>
                            <a:srgbClr val="1A1A2E"/>
                          </a:solidFill>
                        </a:rPr>
                        <a:t>All four bottom nav tabs are unlabelled</a:t>
                      </a:r>
                    </a:p>
                  </a:txBody>
                  <a:tcPr>
                    <a:solidFill>
                      <a:srgbClr val="FFFFFF"/>
                    </a:solidFill>
                  </a:tcPr>
                </a:tc>
                <a:tc>
                  <a:txBody>
                    <a:bodyPr wrap="square"/>
                    <a:lstStyle/>
                    <a:p>
                      <a:pPr algn="ctr"/>
                      <a:r>
                        <a:rPr b="0" i="0" sz="800">
                          <a:solidFill>
                            <a:srgbClr val="555566"/>
                          </a:solidFill>
                        </a:rPr>
                        <a:t>H4</a:t>
                      </a:r>
                    </a:p>
                  </a:txBody>
                  <a:tcPr>
                    <a:solidFill>
                      <a:srgbClr val="FFFFFF"/>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Core Nav</a:t>
                      </a:r>
                    </a:p>
                  </a:txBody>
                  <a:tcPr>
                    <a:solidFill>
                      <a:srgbClr val="F4F4F6"/>
                    </a:solidFill>
                  </a:tcPr>
                </a:tc>
                <a:tc>
                  <a:txBody>
                    <a:bodyPr wrap="square"/>
                    <a:lstStyle/>
                    <a:p>
                      <a:pPr algn="l"/>
                      <a:r>
                        <a:rPr b="0" i="0" sz="800">
                          <a:solidFill>
                            <a:srgbClr val="1A1A2E"/>
                          </a:solidFill>
                        </a:rPr>
                        <a:t>Every tab triggers promo bottom sheet on first open</a:t>
                      </a:r>
                    </a:p>
                  </a:txBody>
                  <a:tcPr>
                    <a:solidFill>
                      <a:srgbClr val="F4F4F6"/>
                    </a:solidFill>
                  </a:tcPr>
                </a:tc>
                <a:tc>
                  <a:txBody>
                    <a:bodyPr wrap="square"/>
                    <a:lstStyle/>
                    <a:p>
                      <a:pPr algn="ctr"/>
                      <a:r>
                        <a:rPr b="0" i="0" sz="800">
                          <a:solidFill>
                            <a:srgbClr val="555566"/>
                          </a:solidFill>
                        </a:rPr>
                        <a:t>H8</a:t>
                      </a:r>
                    </a:p>
                  </a:txBody>
                  <a:tcPr>
                    <a:solidFill>
                      <a:srgbClr val="F4F4F6"/>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Settings</a:t>
                      </a:r>
                    </a:p>
                  </a:txBody>
                  <a:tcPr>
                    <a:solidFill>
                      <a:srgbClr val="FFFFFF"/>
                    </a:solidFill>
                  </a:tcPr>
                </a:tc>
                <a:tc>
                  <a:txBody>
                    <a:bodyPr wrap="square"/>
                    <a:lstStyle/>
                    <a:p>
                      <a:pPr algn="l"/>
                      <a:r>
                        <a:rPr b="0" i="0" sz="800">
                          <a:solidFill>
                            <a:srgbClr val="1A1A2E"/>
                          </a:solidFill>
                        </a:rPr>
                        <a:t>QR code at top of settings has no label</a:t>
                      </a:r>
                    </a:p>
                  </a:txBody>
                  <a:tcPr>
                    <a:solidFill>
                      <a:srgbClr val="FFFFFF"/>
                    </a:solidFill>
                  </a:tcPr>
                </a:tc>
                <a:tc>
                  <a:txBody>
                    <a:bodyPr wrap="square"/>
                    <a:lstStyle/>
                    <a:p>
                      <a:pPr algn="ctr"/>
                      <a:r>
                        <a:rPr b="0" i="0" sz="800">
                          <a:solidFill>
                            <a:srgbClr val="555566"/>
                          </a:solidFill>
                        </a:rPr>
                        <a:t>H6</a:t>
                      </a:r>
                    </a:p>
                  </a:txBody>
                  <a:tcPr>
                    <a:solidFill>
                      <a:srgbClr val="FFFFFF"/>
                    </a:solidFill>
                  </a:tcPr>
                </a:tc>
                <a:tc>
                  <a:txBody>
                    <a:bodyPr wrap="square"/>
                    <a:lstStyle/>
                    <a:p>
                      <a:pPr algn="ctr"/>
                      <a:r>
                        <a:rPr b="1" i="0" sz="1100">
                          <a:solidFill>
                            <a:srgbClr val="E03B3B"/>
                          </a:solidFill>
                        </a:rPr>
                        <a:t>●</a:t>
                      </a:r>
                    </a:p>
                  </a:txBody>
                  <a:tcPr>
                    <a:solidFill>
                      <a:srgbClr val="FFEBEB"/>
                    </a:solidFill>
                  </a:tcPr>
                </a:tc>
              </a:tr>
              <a:tr h="199208">
                <a:tc>
                  <a:txBody>
                    <a:bodyPr wrap="square"/>
                    <a:lstStyle/>
                    <a:p>
                      <a:pPr algn="l"/>
                      <a:r>
                        <a:rPr b="0" i="0" sz="800">
                          <a:solidFill>
                            <a:srgbClr val="1A1A2E"/>
                          </a:solidFill>
                        </a:rPr>
                        <a:t>Joining Flow</a:t>
                      </a:r>
                    </a:p>
                  </a:txBody>
                  <a:tcPr>
                    <a:solidFill>
                      <a:srgbClr val="F4F4F6"/>
                    </a:solidFill>
                  </a:tcPr>
                </a:tc>
                <a:tc>
                  <a:txBody>
                    <a:bodyPr wrap="square"/>
                    <a:lstStyle/>
                    <a:p>
                      <a:pPr algn="l"/>
                      <a:r>
                        <a:rPr b="0" i="0" sz="800">
                          <a:solidFill>
                            <a:srgbClr val="1A1A2E"/>
                          </a:solidFill>
                        </a:rPr>
                        <a:t>Camera permission screen ambiguous (Continue = grant or defer?)</a:t>
                      </a:r>
                    </a:p>
                  </a:txBody>
                  <a:tcPr>
                    <a:solidFill>
                      <a:srgbClr val="F4F4F6"/>
                    </a:solidFill>
                  </a:tcPr>
                </a:tc>
                <a:tc>
                  <a:txBody>
                    <a:bodyPr wrap="square"/>
                    <a:lstStyle/>
                    <a:p>
                      <a:pPr algn="ctr"/>
                      <a:r>
                        <a:rPr b="0" i="0" sz="800">
                          <a:solidFill>
                            <a:srgbClr val="555566"/>
                          </a:solidFill>
                        </a:rPr>
                        <a:t>H5</a:t>
                      </a:r>
                    </a:p>
                  </a:txBody>
                  <a:tcPr>
                    <a:solidFill>
                      <a:srgbClr val="F4F4F6"/>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Joining Flow</a:t>
                      </a:r>
                    </a:p>
                  </a:txBody>
                  <a:tcPr>
                    <a:solidFill>
                      <a:srgbClr val="FFFFFF"/>
                    </a:solidFill>
                  </a:tcPr>
                </a:tc>
                <a:tc>
                  <a:txBody>
                    <a:bodyPr wrap="square"/>
                    <a:lstStyle/>
                    <a:p>
                      <a:pPr algn="l"/>
                      <a:r>
                        <a:rPr b="0" i="0" sz="800">
                          <a:solidFill>
                            <a:srgbClr val="1A1A2E"/>
                          </a:solidFill>
                        </a:rPr>
                        <a:t>QR scanner has no instruction text</a:t>
                      </a:r>
                    </a:p>
                  </a:txBody>
                  <a:tcPr>
                    <a:solidFill>
                      <a:srgbClr val="FFFFFF"/>
                    </a:solidFill>
                  </a:tcPr>
                </a:tc>
                <a:tc>
                  <a:txBody>
                    <a:bodyPr wrap="square"/>
                    <a:lstStyle/>
                    <a:p>
                      <a:pPr algn="ctr"/>
                      <a:r>
                        <a:rPr b="0" i="0" sz="800">
                          <a:solidFill>
                            <a:srgbClr val="555566"/>
                          </a:solidFill>
                        </a:rPr>
                        <a:t>H6</a:t>
                      </a:r>
                    </a:p>
                  </a:txBody>
                  <a:tcPr>
                    <a:solidFill>
                      <a:srgbClr val="FFFFFF"/>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Joining Flow</a:t>
                      </a:r>
                    </a:p>
                  </a:txBody>
                  <a:tcPr>
                    <a:solidFill>
                      <a:srgbClr val="F4F4F6"/>
                    </a:solidFill>
                  </a:tcPr>
                </a:tc>
                <a:tc>
                  <a:txBody>
                    <a:bodyPr wrap="square"/>
                    <a:lstStyle/>
                    <a:p>
                      <a:pPr algn="l"/>
                      <a:r>
                        <a:rPr b="0" i="0" sz="800">
                          <a:solidFill>
                            <a:srgbClr val="1A1A2E"/>
                          </a:solidFill>
                        </a:rPr>
                        <a:t>Error banner has no retry action</a:t>
                      </a:r>
                    </a:p>
                  </a:txBody>
                  <a:tcPr>
                    <a:solidFill>
                      <a:srgbClr val="F4F4F6"/>
                    </a:solidFill>
                  </a:tcPr>
                </a:tc>
                <a:tc>
                  <a:txBody>
                    <a:bodyPr wrap="square"/>
                    <a:lstStyle/>
                    <a:p>
                      <a:pPr algn="ctr"/>
                      <a:r>
                        <a:rPr b="0" i="0" sz="800">
                          <a:solidFill>
                            <a:srgbClr val="555566"/>
                          </a:solidFill>
                        </a:rPr>
                        <a:t>H9</a:t>
                      </a:r>
                    </a:p>
                  </a:txBody>
                  <a:tcPr>
                    <a:solidFill>
                      <a:srgbClr val="F4F4F6"/>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Federation Discovery</a:t>
                      </a:r>
                    </a:p>
                  </a:txBody>
                  <a:tcPr>
                    <a:solidFill>
                      <a:srgbClr val="FFFFFF"/>
                    </a:solidFill>
                  </a:tcPr>
                </a:tc>
                <a:tc>
                  <a:txBody>
                    <a:bodyPr wrap="square"/>
                    <a:lstStyle/>
                    <a:p>
                      <a:pPr algn="l"/>
                      <a:r>
                        <a:rPr b="0" i="0" sz="800">
                          <a:solidFill>
                            <a:srgbClr val="1A1A2E"/>
                          </a:solidFill>
                        </a:rPr>
                        <a:t>Description text truncated mid-sentence</a:t>
                      </a:r>
                    </a:p>
                  </a:txBody>
                  <a:tcPr>
                    <a:solidFill>
                      <a:srgbClr val="FFFFFF"/>
                    </a:solidFill>
                  </a:tcPr>
                </a:tc>
                <a:tc>
                  <a:txBody>
                    <a:bodyPr wrap="square"/>
                    <a:lstStyle/>
                    <a:p>
                      <a:pPr algn="ctr"/>
                      <a:r>
                        <a:rPr b="0" i="0" sz="800">
                          <a:solidFill>
                            <a:srgbClr val="555566"/>
                          </a:solidFill>
                        </a:rPr>
                        <a:t>H8</a:t>
                      </a:r>
                    </a:p>
                  </a:txBody>
                  <a:tcPr>
                    <a:solidFill>
                      <a:srgbClr val="FFFFFF"/>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Federation Discovery</a:t>
                      </a:r>
                    </a:p>
                  </a:txBody>
                  <a:tcPr>
                    <a:solidFill>
                      <a:srgbClr val="F4F4F6"/>
                    </a:solidFill>
                  </a:tcPr>
                </a:tc>
                <a:tc>
                  <a:txBody>
                    <a:bodyPr wrap="square"/>
                    <a:lstStyle/>
                    <a:p>
                      <a:pPr algn="l"/>
                      <a:r>
                        <a:rPr b="0" i="0" sz="800">
                          <a:solidFill>
                            <a:srgbClr val="1A1A2E"/>
                          </a:solidFill>
                        </a:rPr>
                        <a:t>Three tabs have no active state or explanation</a:t>
                      </a:r>
                    </a:p>
                  </a:txBody>
                  <a:tcPr>
                    <a:solidFill>
                      <a:srgbClr val="F4F4F6"/>
                    </a:solidFill>
                  </a:tcPr>
                </a:tc>
                <a:tc>
                  <a:txBody>
                    <a:bodyPr wrap="square"/>
                    <a:lstStyle/>
                    <a:p>
                      <a:pPr algn="ctr"/>
                      <a:r>
                        <a:rPr b="0" i="0" sz="800">
                          <a:solidFill>
                            <a:srgbClr val="555566"/>
                          </a:solidFill>
                        </a:rPr>
                        <a:t>H4</a:t>
                      </a:r>
                    </a:p>
                  </a:txBody>
                  <a:tcPr>
                    <a:solidFill>
                      <a:srgbClr val="F4F4F6"/>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Arriving in App</a:t>
                      </a:r>
                    </a:p>
                  </a:txBody>
                  <a:tcPr>
                    <a:solidFill>
                      <a:srgbClr val="FFFFFF"/>
                    </a:solidFill>
                  </a:tcPr>
                </a:tc>
                <a:tc>
                  <a:txBody>
                    <a:bodyPr wrap="square"/>
                    <a:lstStyle/>
                    <a:p>
                      <a:pPr algn="l"/>
                      <a:r>
                        <a:rPr b="0" i="0" sz="800">
                          <a:solidFill>
                            <a:srgbClr val="1A1A2E"/>
                          </a:solidFill>
                        </a:rPr>
                        <a:t>"#267f" hash suffix shown with no explanation</a:t>
                      </a:r>
                    </a:p>
                  </a:txBody>
                  <a:tcPr>
                    <a:solidFill>
                      <a:srgbClr val="FFFFFF"/>
                    </a:solidFill>
                  </a:tcPr>
                </a:tc>
                <a:tc>
                  <a:txBody>
                    <a:bodyPr wrap="square"/>
                    <a:lstStyle/>
                    <a:p>
                      <a:pPr algn="ctr"/>
                      <a:r>
                        <a:rPr b="0" i="0" sz="800">
                          <a:solidFill>
                            <a:srgbClr val="555566"/>
                          </a:solidFill>
                        </a:rPr>
                        <a:t>H2</a:t>
                      </a:r>
                    </a:p>
                  </a:txBody>
                  <a:tcPr>
                    <a:solidFill>
                      <a:srgbClr val="FFFFFF"/>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Arriving in App</a:t>
                      </a:r>
                    </a:p>
                  </a:txBody>
                  <a:tcPr>
                    <a:solidFill>
                      <a:srgbClr val="F4F4F6"/>
                    </a:solidFill>
                  </a:tcPr>
                </a:tc>
                <a:tc>
                  <a:txBody>
                    <a:bodyPr wrap="square"/>
                    <a:lstStyle/>
                    <a:p>
                      <a:pPr algn="l"/>
                      <a:r>
                        <a:rPr b="0" i="0" sz="800">
                          <a:solidFill>
                            <a:srgbClr val="1A1A2E"/>
                          </a:solidFill>
                        </a:rPr>
                        <a:t>Home screen gives equal weight to three content types</a:t>
                      </a:r>
                    </a:p>
                  </a:txBody>
                  <a:tcPr>
                    <a:solidFill>
                      <a:srgbClr val="F4F4F6"/>
                    </a:solidFill>
                  </a:tcPr>
                </a:tc>
                <a:tc>
                  <a:txBody>
                    <a:bodyPr wrap="square"/>
                    <a:lstStyle/>
                    <a:p>
                      <a:pPr algn="ctr"/>
                      <a:r>
                        <a:rPr b="0" i="0" sz="800">
                          <a:solidFill>
                            <a:srgbClr val="555566"/>
                          </a:solidFill>
                        </a:rPr>
                        <a:t>H8</a:t>
                      </a:r>
                    </a:p>
                  </a:txBody>
                  <a:tcPr>
                    <a:solidFill>
                      <a:srgbClr val="F4F4F6"/>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Chat Screen</a:t>
                      </a:r>
                    </a:p>
                  </a:txBody>
                  <a:tcPr>
                    <a:solidFill>
                      <a:srgbClr val="FFFFFF"/>
                    </a:solidFill>
                  </a:tcPr>
                </a:tc>
                <a:tc>
                  <a:txBody>
                    <a:bodyPr wrap="square"/>
                    <a:lstStyle/>
                    <a:p>
                      <a:pPr algn="l"/>
                      <a:r>
                        <a:rPr b="0" i="0" sz="800">
                          <a:solidFill>
                            <a:srgbClr val="1A1A2E"/>
                          </a:solidFill>
                        </a:rPr>
                        <a:t>Empty state is bare text -- no illustration or CTA</a:t>
                      </a:r>
                    </a:p>
                  </a:txBody>
                  <a:tcPr>
                    <a:solidFill>
                      <a:srgbClr val="FFFFFF"/>
                    </a:solidFill>
                  </a:tcPr>
                </a:tc>
                <a:tc>
                  <a:txBody>
                    <a:bodyPr wrap="square"/>
                    <a:lstStyle/>
                    <a:p>
                      <a:pPr algn="ctr"/>
                      <a:r>
                        <a:rPr b="0" i="0" sz="800">
                          <a:solidFill>
                            <a:srgbClr val="555566"/>
                          </a:solidFill>
                        </a:rPr>
                        <a:t>H7</a:t>
                      </a:r>
                    </a:p>
                  </a:txBody>
                  <a:tcPr>
                    <a:solidFill>
                      <a:srgbClr val="FFFFFF"/>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Mini Apps</a:t>
                      </a:r>
                    </a:p>
                  </a:txBody>
                  <a:tcPr>
                    <a:solidFill>
                      <a:srgbClr val="F4F4F6"/>
                    </a:solidFill>
                  </a:tcPr>
                </a:tc>
                <a:tc>
                  <a:txBody>
                    <a:bodyPr wrap="square"/>
                    <a:lstStyle/>
                    <a:p>
                      <a:pPr algn="l"/>
                      <a:r>
                        <a:rPr b="0" i="0" sz="800">
                          <a:solidFill>
                            <a:srgbClr val="1A1A2E"/>
                          </a:solidFill>
                        </a:rPr>
                        <a:t>App icon grid has inconsistent icon styles</a:t>
                      </a:r>
                    </a:p>
                  </a:txBody>
                  <a:tcPr>
                    <a:solidFill>
                      <a:srgbClr val="F4F4F6"/>
                    </a:solidFill>
                  </a:tcPr>
                </a:tc>
                <a:tc>
                  <a:txBody>
                    <a:bodyPr wrap="square"/>
                    <a:lstStyle/>
                    <a:p>
                      <a:pPr algn="ctr"/>
                      <a:r>
                        <a:rPr b="0" i="0" sz="800">
                          <a:solidFill>
                            <a:srgbClr val="555566"/>
                          </a:solidFill>
                        </a:rPr>
                        <a:t>H4</a:t>
                      </a:r>
                    </a:p>
                  </a:txBody>
                  <a:tcPr>
                    <a:solidFill>
                      <a:srgbClr val="F4F4F6"/>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Settings</a:t>
                      </a:r>
                    </a:p>
                  </a:txBody>
                  <a:tcPr>
                    <a:solidFill>
                      <a:srgbClr val="FFFFFF"/>
                    </a:solidFill>
                  </a:tcPr>
                </a:tc>
                <a:tc>
                  <a:txBody>
                    <a:bodyPr wrap="square"/>
                    <a:lstStyle/>
                    <a:p>
                      <a:pPr algn="l"/>
                      <a:r>
                        <a:rPr b="0" i="0" sz="800">
                          <a:solidFill>
                            <a:srgbClr val="1A1A2E"/>
                          </a:solidFill>
                        </a:rPr>
                        <a:t>"Nostr Details" unexplained</a:t>
                      </a:r>
                    </a:p>
                  </a:txBody>
                  <a:tcPr>
                    <a:solidFill>
                      <a:srgbClr val="FFFFFF"/>
                    </a:solidFill>
                  </a:tcPr>
                </a:tc>
                <a:tc>
                  <a:txBody>
                    <a:bodyPr wrap="square"/>
                    <a:lstStyle/>
                    <a:p>
                      <a:pPr algn="ctr"/>
                      <a:r>
                        <a:rPr b="0" i="0" sz="800">
                          <a:solidFill>
                            <a:srgbClr val="555566"/>
                          </a:solidFill>
                        </a:rPr>
                        <a:t>H2</a:t>
                      </a:r>
                    </a:p>
                  </a:txBody>
                  <a:tcPr>
                    <a:solidFill>
                      <a:srgbClr val="FFFFFF"/>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Settings</a:t>
                      </a:r>
                    </a:p>
                  </a:txBody>
                  <a:tcPr>
                    <a:solidFill>
                      <a:srgbClr val="F4F4F6"/>
                    </a:solidFill>
                  </a:tcPr>
                </a:tc>
                <a:tc>
                  <a:txBody>
                    <a:bodyPr wrap="square"/>
                    <a:lstStyle/>
                    <a:p>
                      <a:pPr algn="l"/>
                      <a:r>
                        <a:rPr b="0" i="0" sz="800">
                          <a:solidFill>
                            <a:srgbClr val="1A1A2E"/>
                          </a:solidFill>
                        </a:rPr>
                        <a:t>External link icons vs chevrons inconsistent</a:t>
                      </a:r>
                    </a:p>
                  </a:txBody>
                  <a:tcPr>
                    <a:solidFill>
                      <a:srgbClr val="F4F4F6"/>
                    </a:solidFill>
                  </a:tcPr>
                </a:tc>
                <a:tc>
                  <a:txBody>
                    <a:bodyPr wrap="square"/>
                    <a:lstStyle/>
                    <a:p>
                      <a:pPr algn="ctr"/>
                      <a:r>
                        <a:rPr b="0" i="0" sz="800">
                          <a:solidFill>
                            <a:srgbClr val="555566"/>
                          </a:solidFill>
                        </a:rPr>
                        <a:t>H4</a:t>
                      </a:r>
                    </a:p>
                  </a:txBody>
                  <a:tcPr>
                    <a:solidFill>
                      <a:srgbClr val="F4F4F6"/>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Splash Screen</a:t>
                      </a:r>
                    </a:p>
                  </a:txBody>
                  <a:tcPr>
                    <a:solidFill>
                      <a:srgbClr val="FFFFFF"/>
                    </a:solidFill>
                  </a:tcPr>
                </a:tc>
                <a:tc>
                  <a:txBody>
                    <a:bodyPr wrap="square"/>
                    <a:lstStyle/>
                    <a:p>
                      <a:pPr algn="l"/>
                      <a:r>
                        <a:rPr b="0" i="0" sz="800">
                          <a:solidFill>
                            <a:srgbClr val="1A1A2E"/>
                          </a:solidFill>
                        </a:rPr>
                        <a:t>Legal consent text is low contrast</a:t>
                      </a:r>
                    </a:p>
                  </a:txBody>
                  <a:tcPr>
                    <a:solidFill>
                      <a:srgbClr val="FFFFFF"/>
                    </a:solidFill>
                  </a:tcPr>
                </a:tc>
                <a:tc>
                  <a:txBody>
                    <a:bodyPr wrap="square"/>
                    <a:lstStyle/>
                    <a:p>
                      <a:pPr algn="ctr"/>
                      <a:r>
                        <a:rPr b="0" i="0" sz="800">
                          <a:solidFill>
                            <a:srgbClr val="555566"/>
                          </a:solidFill>
                        </a:rPr>
                        <a:t>H5</a:t>
                      </a:r>
                    </a:p>
                  </a:txBody>
                  <a:tcPr>
                    <a:solidFill>
                      <a:srgbClr val="FFFFFF"/>
                    </a:solidFill>
                  </a:tcPr>
                </a:tc>
                <a:tc>
                  <a:txBody>
                    <a:bodyPr wrap="square"/>
                    <a:lstStyle/>
                    <a:p>
                      <a:pPr algn="ctr"/>
                      <a:r>
                        <a:rPr b="1" i="0" sz="1100">
                          <a:solidFill>
                            <a:srgbClr val="F08C00"/>
                          </a:solidFill>
                        </a:rPr>
                        <a:t>△</a:t>
                      </a:r>
                    </a:p>
                  </a:txBody>
                  <a:tcPr>
                    <a:solidFill>
                      <a:srgbClr val="FFF3CC"/>
                    </a:solidFill>
                  </a:tcPr>
                </a:tc>
              </a:tr>
              <a:tr h="199208">
                <a:tc>
                  <a:txBody>
                    <a:bodyPr wrap="square"/>
                    <a:lstStyle/>
                    <a:p>
                      <a:pPr algn="l"/>
                      <a:r>
                        <a:rPr b="0" i="0" sz="800">
                          <a:solidFill>
                            <a:srgbClr val="1A1A2E"/>
                          </a:solidFill>
                        </a:rPr>
                        <a:t>Splash Screen</a:t>
                      </a:r>
                    </a:p>
                  </a:txBody>
                  <a:tcPr>
                    <a:solidFill>
                      <a:srgbClr val="F4F4F6"/>
                    </a:solidFill>
                  </a:tcPr>
                </a:tc>
                <a:tc>
                  <a:txBody>
                    <a:bodyPr wrap="square"/>
                    <a:lstStyle/>
                    <a:p>
                      <a:pPr algn="l"/>
                      <a:r>
                        <a:rPr b="0" i="0" sz="800">
                          <a:solidFill>
                            <a:srgbClr val="1A1A2E"/>
                          </a:solidFill>
                        </a:rPr>
                        <a:t>Two-button layout is clear and familiar</a:t>
                      </a:r>
                    </a:p>
                  </a:txBody>
                  <a:tcPr>
                    <a:solidFill>
                      <a:srgbClr val="F4F4F6"/>
                    </a:solidFill>
                  </a:tcPr>
                </a:tc>
                <a:tc>
                  <a:txBody>
                    <a:bodyPr wrap="square"/>
                    <a:lstStyle/>
                    <a:p>
                      <a:pPr algn="ctr"/>
                      <a:r>
                        <a:rPr b="0" i="0" sz="800">
                          <a:solidFill>
                            <a:srgbClr val="555566"/>
                          </a:solidFill>
                        </a:rPr>
                        <a:t>H4</a:t>
                      </a:r>
                    </a:p>
                  </a:txBody>
                  <a:tcPr>
                    <a:solidFill>
                      <a:srgbClr val="F4F4F6"/>
                    </a:solidFill>
                  </a:tcPr>
                </a:tc>
                <a:tc>
                  <a:txBody>
                    <a:bodyPr wrap="square"/>
                    <a:lstStyle/>
                    <a:p>
                      <a:pPr algn="ctr"/>
                      <a:r>
                        <a:rPr b="1" i="0" sz="1100">
                          <a:solidFill>
                            <a:srgbClr val="008B8B"/>
                          </a:solidFill>
                        </a:rPr>
                        <a:t>✓</a:t>
                      </a:r>
                    </a:p>
                  </a:txBody>
                  <a:tcPr>
                    <a:solidFill>
                      <a:srgbClr val="E6F4F1"/>
                    </a:solidFill>
                  </a:tcPr>
                </a:tc>
              </a:tr>
              <a:tr h="199208">
                <a:tc>
                  <a:txBody>
                    <a:bodyPr wrap="square"/>
                    <a:lstStyle/>
                    <a:p>
                      <a:pPr algn="l"/>
                      <a:r>
                        <a:rPr b="0" i="0" sz="800">
                          <a:solidFill>
                            <a:srgbClr val="1A1A2E"/>
                          </a:solidFill>
                        </a:rPr>
                        <a:t>Camera Permission</a:t>
                      </a:r>
                    </a:p>
                  </a:txBody>
                  <a:tcPr>
                    <a:solidFill>
                      <a:srgbClr val="FFFFFF"/>
                    </a:solidFill>
                  </a:tcPr>
                </a:tc>
                <a:tc>
                  <a:txBody>
                    <a:bodyPr wrap="square"/>
                    <a:lstStyle/>
                    <a:p>
                      <a:pPr algn="l"/>
                      <a:r>
                        <a:rPr b="0" i="0" sz="800">
                          <a:solidFill>
                            <a:srgbClr val="1A1A2E"/>
                          </a:solidFill>
                        </a:rPr>
                        <a:t>"This can be updated later" reduces anxiety</a:t>
                      </a:r>
                    </a:p>
                  </a:txBody>
                  <a:tcPr>
                    <a:solidFill>
                      <a:srgbClr val="FFFFFF"/>
                    </a:solidFill>
                  </a:tcPr>
                </a:tc>
                <a:tc>
                  <a:txBody>
                    <a:bodyPr wrap="square"/>
                    <a:lstStyle/>
                    <a:p>
                      <a:pPr algn="ctr"/>
                      <a:r>
                        <a:rPr b="0" i="0" sz="800">
                          <a:solidFill>
                            <a:srgbClr val="555566"/>
                          </a:solidFill>
                        </a:rPr>
                        <a:t>H5</a:t>
                      </a:r>
                    </a:p>
                  </a:txBody>
                  <a:tcPr>
                    <a:solidFill>
                      <a:srgbClr val="FFFFFF"/>
                    </a:solidFill>
                  </a:tcPr>
                </a:tc>
                <a:tc>
                  <a:txBody>
                    <a:bodyPr wrap="square"/>
                    <a:lstStyle/>
                    <a:p>
                      <a:pPr algn="ctr"/>
                      <a:r>
                        <a:rPr b="1" i="0" sz="1100">
                          <a:solidFill>
                            <a:srgbClr val="008B8B"/>
                          </a:solidFill>
                        </a:rPr>
                        <a:t>✓</a:t>
                      </a:r>
                    </a:p>
                  </a:txBody>
                  <a:tcPr>
                    <a:solidFill>
                      <a:srgbClr val="E6F4F1"/>
                    </a:solidFill>
                  </a:tcPr>
                </a:tc>
              </a:tr>
              <a:tr h="199208">
                <a:tc>
                  <a:txBody>
                    <a:bodyPr wrap="square"/>
                    <a:lstStyle/>
                    <a:p>
                      <a:pPr algn="l"/>
                      <a:r>
                        <a:rPr b="0" i="0" sz="800">
                          <a:solidFill>
                            <a:srgbClr val="1A1A2E"/>
                          </a:solidFill>
                        </a:rPr>
                        <a:t>Settings</a:t>
                      </a:r>
                    </a:p>
                  </a:txBody>
                  <a:tcPr>
                    <a:solidFill>
                      <a:srgbClr val="F4F4F6"/>
                    </a:solidFill>
                  </a:tcPr>
                </a:tc>
                <a:tc>
                  <a:txBody>
                    <a:bodyPr wrap="square"/>
                    <a:lstStyle/>
                    <a:p>
                      <a:pPr algn="l"/>
                      <a:r>
                        <a:rPr b="0" i="0" sz="800">
                          <a:solidFill>
                            <a:srgbClr val="1A1A2E"/>
                          </a:solidFill>
                        </a:rPr>
                        <a:t>Good range of settings options</a:t>
                      </a:r>
                    </a:p>
                  </a:txBody>
                  <a:tcPr>
                    <a:solidFill>
                      <a:srgbClr val="F4F4F6"/>
                    </a:solidFill>
                  </a:tcPr>
                </a:tc>
                <a:tc>
                  <a:txBody>
                    <a:bodyPr wrap="square"/>
                    <a:lstStyle/>
                    <a:p>
                      <a:pPr algn="ctr"/>
                      <a:r>
                        <a:rPr b="0" i="0" sz="800">
                          <a:solidFill>
                            <a:srgbClr val="555566"/>
                          </a:solidFill>
                        </a:rPr>
                        <a:t>H7</a:t>
                      </a:r>
                    </a:p>
                  </a:txBody>
                  <a:tcPr>
                    <a:solidFill>
                      <a:srgbClr val="F4F4F6"/>
                    </a:solidFill>
                  </a:tcPr>
                </a:tc>
                <a:tc>
                  <a:txBody>
                    <a:bodyPr wrap="square"/>
                    <a:lstStyle/>
                    <a:p>
                      <a:pPr algn="ctr"/>
                      <a:r>
                        <a:rPr b="1" i="0" sz="1100">
                          <a:solidFill>
                            <a:srgbClr val="008B8B"/>
                          </a:solidFill>
                        </a:rPr>
                        <a:t>✓</a:t>
                      </a:r>
                    </a:p>
                  </a:txBody>
                  <a:tcPr>
                    <a:solidFill>
                      <a:srgbClr val="E6F4F1"/>
                    </a:solidFill>
                  </a:tcPr>
                </a:tc>
              </a:tr>
              <a:tr h="199224">
                <a:tc>
                  <a:txBody>
                    <a:bodyPr wrap="square"/>
                    <a:lstStyle/>
                    <a:p>
                      <a:pPr algn="l"/>
                      <a:r>
                        <a:rPr b="0" i="0" sz="800">
                          <a:solidFill>
                            <a:srgbClr val="1A1A2E"/>
                          </a:solidFill>
                        </a:rPr>
                        <a:t>Settings</a:t>
                      </a:r>
                    </a:p>
                  </a:txBody>
                  <a:tcPr>
                    <a:solidFill>
                      <a:srgbClr val="FFFFFF"/>
                    </a:solidFill>
                  </a:tcPr>
                </a:tc>
                <a:tc>
                  <a:txBody>
                    <a:bodyPr wrap="square"/>
                    <a:lstStyle/>
                    <a:p>
                      <a:pPr algn="l"/>
                      <a:r>
                        <a:rPr b="0" i="0" sz="800">
                          <a:solidFill>
                            <a:srgbClr val="1A1A2E"/>
                          </a:solidFill>
                        </a:rPr>
                        <a:t>"Ask Fedi" help entry present</a:t>
                      </a:r>
                    </a:p>
                  </a:txBody>
                  <a:tcPr>
                    <a:solidFill>
                      <a:srgbClr val="FFFFFF"/>
                    </a:solidFill>
                  </a:tcPr>
                </a:tc>
                <a:tc>
                  <a:txBody>
                    <a:bodyPr wrap="square"/>
                    <a:lstStyle/>
                    <a:p>
                      <a:pPr algn="ctr"/>
                      <a:r>
                        <a:rPr b="0" i="0" sz="800">
                          <a:solidFill>
                            <a:srgbClr val="555566"/>
                          </a:solidFill>
                        </a:rPr>
                        <a:t>H10</a:t>
                      </a:r>
                    </a:p>
                  </a:txBody>
                  <a:tcPr>
                    <a:solidFill>
                      <a:srgbClr val="FFFFFF"/>
                    </a:solidFill>
                  </a:tcPr>
                </a:tc>
                <a:tc>
                  <a:txBody>
                    <a:bodyPr wrap="square"/>
                    <a:lstStyle/>
                    <a:p>
                      <a:pPr algn="ctr"/>
                      <a:r>
                        <a:rPr b="1" i="0" sz="1100">
                          <a:solidFill>
                            <a:srgbClr val="008B8B"/>
                          </a:solidFill>
                        </a:rPr>
                        <a:t>✓</a:t>
                      </a:r>
                    </a:p>
                  </a:txBody>
                  <a:tcPr>
                    <a:solidFill>
                      <a:srgbClr val="E6F4F1"/>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Reference: Severity &amp; Heuristics</a:t>
            </a:r>
          </a:p>
        </p:txBody>
      </p:sp>
      <p:sp>
        <p:nvSpPr>
          <p:cNvPr id="4" name="Rectangle 3"/>
          <p:cNvSpPr/>
          <p:nvPr/>
        </p:nvSpPr>
        <p:spPr>
          <a:xfrm>
            <a:off x="365760" y="1097280"/>
            <a:ext cx="4114800" cy="201168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143000"/>
            <a:ext cx="3657600" cy="320040"/>
          </a:xfrm>
          <a:prstGeom prst="rect">
            <a:avLst/>
          </a:prstGeom>
          <a:noFill/>
        </p:spPr>
        <p:txBody>
          <a:bodyPr wrap="square">
            <a:spAutoFit/>
          </a:bodyPr>
          <a:lstStyle/>
          <a:p>
            <a:pPr algn="l"/>
            <a:r>
              <a:rPr b="1" i="0" sz="1300">
                <a:solidFill>
                  <a:srgbClr val="2D6AD6"/>
                </a:solidFill>
              </a:rPr>
              <a:t>Severity Legend</a:t>
            </a:r>
          </a:p>
        </p:txBody>
      </p:sp>
      <p:sp>
        <p:nvSpPr>
          <p:cNvPr id="6" name="Rectangle 5"/>
          <p:cNvSpPr/>
          <p:nvPr/>
        </p:nvSpPr>
        <p:spPr>
          <a:xfrm>
            <a:off x="502920" y="1508760"/>
            <a:ext cx="256032" cy="256032"/>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000">
                <a:solidFill>
                  <a:srgbClr val="FFFFFF"/>
                </a:solidFill>
              </a:rPr>
              <a:t>●</a:t>
            </a:r>
          </a:p>
        </p:txBody>
      </p:sp>
      <p:sp>
        <p:nvSpPr>
          <p:cNvPr id="7" name="TextBox 6"/>
          <p:cNvSpPr txBox="1"/>
          <p:nvPr/>
        </p:nvSpPr>
        <p:spPr>
          <a:xfrm>
            <a:off x="822960" y="1508760"/>
            <a:ext cx="3474720" cy="256032"/>
          </a:xfrm>
          <a:prstGeom prst="rect">
            <a:avLst/>
          </a:prstGeom>
          <a:noFill/>
        </p:spPr>
        <p:txBody>
          <a:bodyPr wrap="square">
            <a:spAutoFit/>
          </a:bodyPr>
          <a:lstStyle/>
          <a:p>
            <a:pPr algn="l"/>
            <a:r>
              <a:rPr b="0" i="0" sz="1000">
                <a:solidFill>
                  <a:srgbClr val="1A1A2E"/>
                </a:solidFill>
              </a:rPr>
              <a:t>Critical -- significant impact, prioritise immediately</a:t>
            </a:r>
          </a:p>
        </p:txBody>
      </p:sp>
      <p:sp>
        <p:nvSpPr>
          <p:cNvPr id="8" name="Rectangle 7"/>
          <p:cNvSpPr/>
          <p:nvPr/>
        </p:nvSpPr>
        <p:spPr>
          <a:xfrm>
            <a:off x="502920" y="1892807"/>
            <a:ext cx="256032" cy="256032"/>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000">
                <a:solidFill>
                  <a:srgbClr val="FFFFFF"/>
                </a:solidFill>
              </a:rPr>
              <a:t>△</a:t>
            </a:r>
          </a:p>
        </p:txBody>
      </p:sp>
      <p:sp>
        <p:nvSpPr>
          <p:cNvPr id="9" name="TextBox 8"/>
          <p:cNvSpPr txBox="1"/>
          <p:nvPr/>
        </p:nvSpPr>
        <p:spPr>
          <a:xfrm>
            <a:off x="822960" y="1892807"/>
            <a:ext cx="3474720" cy="256032"/>
          </a:xfrm>
          <a:prstGeom prst="rect">
            <a:avLst/>
          </a:prstGeom>
          <a:noFill/>
        </p:spPr>
        <p:txBody>
          <a:bodyPr wrap="square">
            <a:spAutoFit/>
          </a:bodyPr>
          <a:lstStyle/>
          <a:p>
            <a:pPr algn="l"/>
            <a:r>
              <a:rPr b="0" i="0" sz="1000">
                <a:solidFill>
                  <a:srgbClr val="1A1A2E"/>
                </a:solidFill>
              </a:rPr>
              <a:t>Moderate -- noticeable friction, worth addressing</a:t>
            </a:r>
          </a:p>
        </p:txBody>
      </p:sp>
      <p:sp>
        <p:nvSpPr>
          <p:cNvPr id="10" name="Rectangle 9"/>
          <p:cNvSpPr/>
          <p:nvPr/>
        </p:nvSpPr>
        <p:spPr>
          <a:xfrm>
            <a:off x="502920" y="2276856"/>
            <a:ext cx="256032" cy="25603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000">
                <a:solidFill>
                  <a:srgbClr val="FFFFFF"/>
                </a:solidFill>
              </a:rPr>
              <a:t>✓</a:t>
            </a:r>
          </a:p>
        </p:txBody>
      </p:sp>
      <p:sp>
        <p:nvSpPr>
          <p:cNvPr id="11" name="TextBox 10"/>
          <p:cNvSpPr txBox="1"/>
          <p:nvPr/>
        </p:nvSpPr>
        <p:spPr>
          <a:xfrm>
            <a:off x="822960" y="2276856"/>
            <a:ext cx="3474720" cy="256032"/>
          </a:xfrm>
          <a:prstGeom prst="rect">
            <a:avLst/>
          </a:prstGeom>
          <a:noFill/>
        </p:spPr>
        <p:txBody>
          <a:bodyPr wrap="square">
            <a:spAutoFit/>
          </a:bodyPr>
          <a:lstStyle/>
          <a:p>
            <a:pPr algn="l"/>
            <a:r>
              <a:rPr b="0" i="0" sz="1000">
                <a:solidFill>
                  <a:srgbClr val="1A1A2E"/>
                </a:solidFill>
              </a:rPr>
              <a:t>Works well -- effective design to preserve</a:t>
            </a:r>
          </a:p>
        </p:txBody>
      </p:sp>
      <p:sp>
        <p:nvSpPr>
          <p:cNvPr id="12" name="Rectangle 11"/>
          <p:cNvSpPr/>
          <p:nvPr/>
        </p:nvSpPr>
        <p:spPr>
          <a:xfrm>
            <a:off x="4754880" y="1097280"/>
            <a:ext cx="7223760" cy="5394960"/>
          </a:xfrm>
          <a:prstGeom prst="rect">
            <a:avLst/>
          </a:prstGeom>
          <a:solidFill>
            <a:srgbClr val="F4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37760" y="1143000"/>
            <a:ext cx="6858000" cy="320040"/>
          </a:xfrm>
          <a:prstGeom prst="rect">
            <a:avLst/>
          </a:prstGeom>
          <a:noFill/>
        </p:spPr>
        <p:txBody>
          <a:bodyPr wrap="square">
            <a:spAutoFit/>
          </a:bodyPr>
          <a:lstStyle/>
          <a:p>
            <a:pPr algn="l"/>
            <a:r>
              <a:rPr b="1" i="0" sz="1300">
                <a:solidFill>
                  <a:srgbClr val="2D6AD6"/>
                </a:solidFill>
              </a:rPr>
              <a:t>Nielsen Norman Group -- 10 Usability Heuristics</a:t>
            </a:r>
          </a:p>
        </p:txBody>
      </p:sp>
      <p:sp>
        <p:nvSpPr>
          <p:cNvPr id="14" name="Rectangle 13"/>
          <p:cNvSpPr/>
          <p:nvPr/>
        </p:nvSpPr>
        <p:spPr>
          <a:xfrm>
            <a:off x="4892040" y="1554480"/>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H1</a:t>
            </a:r>
          </a:p>
        </p:txBody>
      </p:sp>
      <p:sp>
        <p:nvSpPr>
          <p:cNvPr id="15" name="TextBox 14"/>
          <p:cNvSpPr txBox="1"/>
          <p:nvPr/>
        </p:nvSpPr>
        <p:spPr>
          <a:xfrm>
            <a:off x="5376672" y="1554480"/>
            <a:ext cx="6400800" cy="237744"/>
          </a:xfrm>
          <a:prstGeom prst="rect">
            <a:avLst/>
          </a:prstGeom>
          <a:noFill/>
        </p:spPr>
        <p:txBody>
          <a:bodyPr wrap="square">
            <a:spAutoFit/>
          </a:bodyPr>
          <a:lstStyle/>
          <a:p>
            <a:pPr algn="l"/>
            <a:r>
              <a:rPr b="0" i="0" sz="1000">
                <a:solidFill>
                  <a:srgbClr val="1A1A2E"/>
                </a:solidFill>
              </a:rPr>
              <a:t>Visibility of system status</a:t>
            </a:r>
          </a:p>
        </p:txBody>
      </p:sp>
      <p:sp>
        <p:nvSpPr>
          <p:cNvPr id="16" name="Rectangle 15"/>
          <p:cNvSpPr/>
          <p:nvPr/>
        </p:nvSpPr>
        <p:spPr>
          <a:xfrm>
            <a:off x="4892040" y="1892807"/>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H2</a:t>
            </a:r>
          </a:p>
        </p:txBody>
      </p:sp>
      <p:sp>
        <p:nvSpPr>
          <p:cNvPr id="17" name="TextBox 16"/>
          <p:cNvSpPr txBox="1"/>
          <p:nvPr/>
        </p:nvSpPr>
        <p:spPr>
          <a:xfrm>
            <a:off x="5376672" y="1892807"/>
            <a:ext cx="6400800" cy="237744"/>
          </a:xfrm>
          <a:prstGeom prst="rect">
            <a:avLst/>
          </a:prstGeom>
          <a:noFill/>
        </p:spPr>
        <p:txBody>
          <a:bodyPr wrap="square">
            <a:spAutoFit/>
          </a:bodyPr>
          <a:lstStyle/>
          <a:p>
            <a:pPr algn="l"/>
            <a:r>
              <a:rPr b="0" i="0" sz="1000">
                <a:solidFill>
                  <a:srgbClr val="1A1A2E"/>
                </a:solidFill>
              </a:rPr>
              <a:t>Match between system and the real world</a:t>
            </a:r>
          </a:p>
        </p:txBody>
      </p:sp>
      <p:sp>
        <p:nvSpPr>
          <p:cNvPr id="18" name="Rectangle 17"/>
          <p:cNvSpPr/>
          <p:nvPr/>
        </p:nvSpPr>
        <p:spPr>
          <a:xfrm>
            <a:off x="4892040" y="2231136"/>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H3</a:t>
            </a:r>
          </a:p>
        </p:txBody>
      </p:sp>
      <p:sp>
        <p:nvSpPr>
          <p:cNvPr id="19" name="TextBox 18"/>
          <p:cNvSpPr txBox="1"/>
          <p:nvPr/>
        </p:nvSpPr>
        <p:spPr>
          <a:xfrm>
            <a:off x="5376672" y="2231136"/>
            <a:ext cx="6400800" cy="237744"/>
          </a:xfrm>
          <a:prstGeom prst="rect">
            <a:avLst/>
          </a:prstGeom>
          <a:noFill/>
        </p:spPr>
        <p:txBody>
          <a:bodyPr wrap="square">
            <a:spAutoFit/>
          </a:bodyPr>
          <a:lstStyle/>
          <a:p>
            <a:pPr algn="l"/>
            <a:r>
              <a:rPr b="0" i="0" sz="1000">
                <a:solidFill>
                  <a:srgbClr val="1A1A2E"/>
                </a:solidFill>
              </a:rPr>
              <a:t>User control and freedom</a:t>
            </a:r>
          </a:p>
        </p:txBody>
      </p:sp>
      <p:sp>
        <p:nvSpPr>
          <p:cNvPr id="20" name="Rectangle 19"/>
          <p:cNvSpPr/>
          <p:nvPr/>
        </p:nvSpPr>
        <p:spPr>
          <a:xfrm>
            <a:off x="4892040" y="2569464"/>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H4</a:t>
            </a:r>
          </a:p>
        </p:txBody>
      </p:sp>
      <p:sp>
        <p:nvSpPr>
          <p:cNvPr id="21" name="TextBox 20"/>
          <p:cNvSpPr txBox="1"/>
          <p:nvPr/>
        </p:nvSpPr>
        <p:spPr>
          <a:xfrm>
            <a:off x="5376672" y="2569464"/>
            <a:ext cx="6400800" cy="237744"/>
          </a:xfrm>
          <a:prstGeom prst="rect">
            <a:avLst/>
          </a:prstGeom>
          <a:noFill/>
        </p:spPr>
        <p:txBody>
          <a:bodyPr wrap="square">
            <a:spAutoFit/>
          </a:bodyPr>
          <a:lstStyle/>
          <a:p>
            <a:pPr algn="l"/>
            <a:r>
              <a:rPr b="0" i="0" sz="1000">
                <a:solidFill>
                  <a:srgbClr val="1A1A2E"/>
                </a:solidFill>
              </a:rPr>
              <a:t>Consistency and standards</a:t>
            </a:r>
          </a:p>
        </p:txBody>
      </p:sp>
      <p:sp>
        <p:nvSpPr>
          <p:cNvPr id="22" name="Rectangle 21"/>
          <p:cNvSpPr/>
          <p:nvPr/>
        </p:nvSpPr>
        <p:spPr>
          <a:xfrm>
            <a:off x="4892040" y="2907792"/>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H5</a:t>
            </a:r>
          </a:p>
        </p:txBody>
      </p:sp>
      <p:sp>
        <p:nvSpPr>
          <p:cNvPr id="23" name="TextBox 22"/>
          <p:cNvSpPr txBox="1"/>
          <p:nvPr/>
        </p:nvSpPr>
        <p:spPr>
          <a:xfrm>
            <a:off x="5376672" y="2907792"/>
            <a:ext cx="6400800" cy="237744"/>
          </a:xfrm>
          <a:prstGeom prst="rect">
            <a:avLst/>
          </a:prstGeom>
          <a:noFill/>
        </p:spPr>
        <p:txBody>
          <a:bodyPr wrap="square">
            <a:spAutoFit/>
          </a:bodyPr>
          <a:lstStyle/>
          <a:p>
            <a:pPr algn="l"/>
            <a:r>
              <a:rPr b="0" i="0" sz="1000">
                <a:solidFill>
                  <a:srgbClr val="1A1A2E"/>
                </a:solidFill>
              </a:rPr>
              <a:t>Error prevention</a:t>
            </a:r>
          </a:p>
        </p:txBody>
      </p:sp>
      <p:sp>
        <p:nvSpPr>
          <p:cNvPr id="24" name="Rectangle 23"/>
          <p:cNvSpPr/>
          <p:nvPr/>
        </p:nvSpPr>
        <p:spPr>
          <a:xfrm>
            <a:off x="4892040" y="3246120"/>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H6</a:t>
            </a:r>
          </a:p>
        </p:txBody>
      </p:sp>
      <p:sp>
        <p:nvSpPr>
          <p:cNvPr id="25" name="TextBox 24"/>
          <p:cNvSpPr txBox="1"/>
          <p:nvPr/>
        </p:nvSpPr>
        <p:spPr>
          <a:xfrm>
            <a:off x="5376672" y="3246120"/>
            <a:ext cx="6400800" cy="237744"/>
          </a:xfrm>
          <a:prstGeom prst="rect">
            <a:avLst/>
          </a:prstGeom>
          <a:noFill/>
        </p:spPr>
        <p:txBody>
          <a:bodyPr wrap="square">
            <a:spAutoFit/>
          </a:bodyPr>
          <a:lstStyle/>
          <a:p>
            <a:pPr algn="l"/>
            <a:r>
              <a:rPr b="0" i="0" sz="1000">
                <a:solidFill>
                  <a:srgbClr val="1A1A2E"/>
                </a:solidFill>
              </a:rPr>
              <a:t>Recognition rather than recall</a:t>
            </a:r>
          </a:p>
        </p:txBody>
      </p:sp>
      <p:sp>
        <p:nvSpPr>
          <p:cNvPr id="26" name="Rectangle 25"/>
          <p:cNvSpPr/>
          <p:nvPr/>
        </p:nvSpPr>
        <p:spPr>
          <a:xfrm>
            <a:off x="4892040" y="3584448"/>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H7</a:t>
            </a:r>
          </a:p>
        </p:txBody>
      </p:sp>
      <p:sp>
        <p:nvSpPr>
          <p:cNvPr id="27" name="TextBox 26"/>
          <p:cNvSpPr txBox="1"/>
          <p:nvPr/>
        </p:nvSpPr>
        <p:spPr>
          <a:xfrm>
            <a:off x="5376672" y="3584448"/>
            <a:ext cx="6400800" cy="237744"/>
          </a:xfrm>
          <a:prstGeom prst="rect">
            <a:avLst/>
          </a:prstGeom>
          <a:noFill/>
        </p:spPr>
        <p:txBody>
          <a:bodyPr wrap="square">
            <a:spAutoFit/>
          </a:bodyPr>
          <a:lstStyle/>
          <a:p>
            <a:pPr algn="l"/>
            <a:r>
              <a:rPr b="0" i="0" sz="1000">
                <a:solidFill>
                  <a:srgbClr val="1A1A2E"/>
                </a:solidFill>
              </a:rPr>
              <a:t>Flexibility and efficiency of use</a:t>
            </a:r>
          </a:p>
        </p:txBody>
      </p:sp>
      <p:sp>
        <p:nvSpPr>
          <p:cNvPr id="28" name="Rectangle 27"/>
          <p:cNvSpPr/>
          <p:nvPr/>
        </p:nvSpPr>
        <p:spPr>
          <a:xfrm>
            <a:off x="4892040" y="3922776"/>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H8</a:t>
            </a:r>
          </a:p>
        </p:txBody>
      </p:sp>
      <p:sp>
        <p:nvSpPr>
          <p:cNvPr id="29" name="TextBox 28"/>
          <p:cNvSpPr txBox="1"/>
          <p:nvPr/>
        </p:nvSpPr>
        <p:spPr>
          <a:xfrm>
            <a:off x="5376672" y="3922776"/>
            <a:ext cx="6400800" cy="237744"/>
          </a:xfrm>
          <a:prstGeom prst="rect">
            <a:avLst/>
          </a:prstGeom>
          <a:noFill/>
        </p:spPr>
        <p:txBody>
          <a:bodyPr wrap="square">
            <a:spAutoFit/>
          </a:bodyPr>
          <a:lstStyle/>
          <a:p>
            <a:pPr algn="l"/>
            <a:r>
              <a:rPr b="0" i="0" sz="1000">
                <a:solidFill>
                  <a:srgbClr val="1A1A2E"/>
                </a:solidFill>
              </a:rPr>
              <a:t>Aesthetic and minimalist design</a:t>
            </a:r>
          </a:p>
        </p:txBody>
      </p:sp>
      <p:sp>
        <p:nvSpPr>
          <p:cNvPr id="30" name="Rectangle 29"/>
          <p:cNvSpPr/>
          <p:nvPr/>
        </p:nvSpPr>
        <p:spPr>
          <a:xfrm>
            <a:off x="4892040" y="4261104"/>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H9</a:t>
            </a:r>
          </a:p>
        </p:txBody>
      </p:sp>
      <p:sp>
        <p:nvSpPr>
          <p:cNvPr id="31" name="TextBox 30"/>
          <p:cNvSpPr txBox="1"/>
          <p:nvPr/>
        </p:nvSpPr>
        <p:spPr>
          <a:xfrm>
            <a:off x="5376672" y="4261104"/>
            <a:ext cx="6400800" cy="237744"/>
          </a:xfrm>
          <a:prstGeom prst="rect">
            <a:avLst/>
          </a:prstGeom>
          <a:noFill/>
        </p:spPr>
        <p:txBody>
          <a:bodyPr wrap="square">
            <a:spAutoFit/>
          </a:bodyPr>
          <a:lstStyle/>
          <a:p>
            <a:pPr algn="l"/>
            <a:r>
              <a:rPr b="0" i="0" sz="1000">
                <a:solidFill>
                  <a:srgbClr val="1A1A2E"/>
                </a:solidFill>
              </a:rPr>
              <a:t>Help users recognise, diagnose, and recover from errors</a:t>
            </a:r>
          </a:p>
        </p:txBody>
      </p:sp>
      <p:sp>
        <p:nvSpPr>
          <p:cNvPr id="32" name="Rectangle 31"/>
          <p:cNvSpPr/>
          <p:nvPr/>
        </p:nvSpPr>
        <p:spPr>
          <a:xfrm>
            <a:off x="4892040" y="4599432"/>
            <a:ext cx="411480" cy="237744"/>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H10</a:t>
            </a:r>
          </a:p>
        </p:txBody>
      </p:sp>
      <p:sp>
        <p:nvSpPr>
          <p:cNvPr id="33" name="TextBox 32"/>
          <p:cNvSpPr txBox="1"/>
          <p:nvPr/>
        </p:nvSpPr>
        <p:spPr>
          <a:xfrm>
            <a:off x="5376672" y="4599432"/>
            <a:ext cx="6400800" cy="237744"/>
          </a:xfrm>
          <a:prstGeom prst="rect">
            <a:avLst/>
          </a:prstGeom>
          <a:noFill/>
        </p:spPr>
        <p:txBody>
          <a:bodyPr wrap="square">
            <a:spAutoFit/>
          </a:bodyPr>
          <a:lstStyle/>
          <a:p>
            <a:pPr algn="l"/>
            <a:r>
              <a:rPr b="0" i="0" sz="1000">
                <a:solidFill>
                  <a:srgbClr val="1A1A2E"/>
                </a:solidFill>
              </a:rPr>
              <a:t>Help and documentation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697480"/>
            <a:ext cx="10972800" cy="822960"/>
          </a:xfrm>
          <a:prstGeom prst="rect">
            <a:avLst/>
          </a:prstGeom>
          <a:noFill/>
        </p:spPr>
        <p:txBody>
          <a:bodyPr wrap="square">
            <a:spAutoFit/>
          </a:bodyPr>
          <a:lstStyle/>
          <a:p>
            <a:pPr algn="l"/>
            <a:r>
              <a:rPr b="1" i="0" sz="3600">
                <a:solidFill>
                  <a:srgbClr val="FFFFFF"/>
                </a:solidFill>
              </a:rPr>
              <a:t>Assumptions + Research Questions</a:t>
            </a:r>
          </a:p>
        </p:txBody>
      </p:sp>
      <p:sp>
        <p:nvSpPr>
          <p:cNvPr id="4" name="TextBox 3"/>
          <p:cNvSpPr txBox="1"/>
          <p:nvPr/>
        </p:nvSpPr>
        <p:spPr>
          <a:xfrm>
            <a:off x="320040" y="3520440"/>
            <a:ext cx="10058400" cy="457200"/>
          </a:xfrm>
          <a:prstGeom prst="rect">
            <a:avLst/>
          </a:prstGeom>
          <a:noFill/>
        </p:spPr>
        <p:txBody>
          <a:bodyPr wrap="square">
            <a:spAutoFit/>
          </a:bodyPr>
          <a:lstStyle/>
          <a:p>
            <a:pPr algn="l"/>
            <a:r>
              <a:rPr b="0" i="0" sz="1400">
                <a:solidFill>
                  <a:srgbClr val="AABBCC"/>
                </a:solidFill>
              </a:rPr>
              <a:t>What we're betting on -- and how to test each bet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Assumptions + Research Questions</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16 testable claims -- each should be validated before committing to design decisions</a:t>
            </a:r>
          </a:p>
        </p:txBody>
      </p:sp>
      <p:sp>
        <p:nvSpPr>
          <p:cNvPr id="5" name="TextBox 4"/>
          <p:cNvSpPr txBox="1"/>
          <p:nvPr/>
        </p:nvSpPr>
        <p:spPr>
          <a:xfrm>
            <a:off x="365760" y="1005840"/>
            <a:ext cx="11430000" cy="411480"/>
          </a:xfrm>
          <a:prstGeom prst="rect">
            <a:avLst/>
          </a:prstGeom>
          <a:noFill/>
        </p:spPr>
        <p:txBody>
          <a:bodyPr wrap="square">
            <a:spAutoFit/>
          </a:bodyPr>
          <a:lstStyle/>
          <a:p>
            <a:pPr algn="l"/>
            <a:r>
              <a:rPr b="0" i="1" sz="1100">
                <a:solidFill>
                  <a:srgbClr val="555566"/>
                </a:solidFill>
              </a:rPr>
              <a:t>These assumptions represent the team's current mental model of how users think and behave. Each one is a testable hypothesis -- not a given.</a:t>
            </a:r>
          </a:p>
        </p:txBody>
      </p:sp>
      <p:sp>
        <p:nvSpPr>
          <p:cNvPr id="6" name="Rectangle 5"/>
          <p:cNvSpPr/>
          <p:nvPr/>
        </p:nvSpPr>
        <p:spPr>
          <a:xfrm>
            <a:off x="365760" y="1508760"/>
            <a:ext cx="164592" cy="164592"/>
          </a:xfrm>
          <a:prstGeom prst="rect">
            <a:avLst/>
          </a:prstGeom>
          <a:solidFill>
            <a:srgbClr val="D0E8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90472"/>
            <a:ext cx="2560320" cy="201168"/>
          </a:xfrm>
          <a:prstGeom prst="rect">
            <a:avLst/>
          </a:prstGeom>
          <a:noFill/>
        </p:spPr>
        <p:txBody>
          <a:bodyPr wrap="square">
            <a:spAutoFit/>
          </a:bodyPr>
          <a:lstStyle/>
          <a:p>
            <a:pPr algn="l"/>
            <a:r>
              <a:rPr b="0" i="0" sz="900">
                <a:solidFill>
                  <a:srgbClr val="555566"/>
                </a:solidFill>
              </a:rPr>
              <a:t>Mental model</a:t>
            </a:r>
          </a:p>
        </p:txBody>
      </p:sp>
      <p:sp>
        <p:nvSpPr>
          <p:cNvPr id="8" name="Rectangle 7"/>
          <p:cNvSpPr/>
          <p:nvPr/>
        </p:nvSpPr>
        <p:spPr>
          <a:xfrm>
            <a:off x="3246120" y="1508760"/>
            <a:ext cx="164592" cy="164592"/>
          </a:xfrm>
          <a:prstGeom prst="rect">
            <a:avLst/>
          </a:prstGeom>
          <a:solidFill>
            <a:srgbClr val="FFE0E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47288" y="1490472"/>
            <a:ext cx="2560320" cy="201168"/>
          </a:xfrm>
          <a:prstGeom prst="rect">
            <a:avLst/>
          </a:prstGeom>
          <a:noFill/>
        </p:spPr>
        <p:txBody>
          <a:bodyPr wrap="square">
            <a:spAutoFit/>
          </a:bodyPr>
          <a:lstStyle/>
          <a:p>
            <a:pPr algn="l"/>
            <a:r>
              <a:rPr b="0" i="0" sz="900">
                <a:solidFill>
                  <a:srgbClr val="555566"/>
                </a:solidFill>
              </a:rPr>
              <a:t>Trust &amp; safety</a:t>
            </a:r>
          </a:p>
        </p:txBody>
      </p:sp>
      <p:sp>
        <p:nvSpPr>
          <p:cNvPr id="10" name="Rectangle 9"/>
          <p:cNvSpPr/>
          <p:nvPr/>
        </p:nvSpPr>
        <p:spPr>
          <a:xfrm>
            <a:off x="6126479" y="1508760"/>
            <a:ext cx="164592" cy="164592"/>
          </a:xfrm>
          <a:prstGeom prst="rect">
            <a:avLst/>
          </a:prstGeom>
          <a:solidFill>
            <a:srgbClr val="E6F4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7" y="1490472"/>
            <a:ext cx="2560320" cy="201168"/>
          </a:xfrm>
          <a:prstGeom prst="rect">
            <a:avLst/>
          </a:prstGeom>
          <a:noFill/>
        </p:spPr>
        <p:txBody>
          <a:bodyPr wrap="square">
            <a:spAutoFit/>
          </a:bodyPr>
          <a:lstStyle/>
          <a:p>
            <a:pPr algn="l"/>
            <a:r>
              <a:rPr b="0" i="0" sz="900">
                <a:solidFill>
                  <a:srgbClr val="555566"/>
                </a:solidFill>
              </a:rPr>
              <a:t>Onboarding &amp; flows</a:t>
            </a:r>
          </a:p>
        </p:txBody>
      </p:sp>
      <p:sp>
        <p:nvSpPr>
          <p:cNvPr id="12" name="Rectangle 11"/>
          <p:cNvSpPr/>
          <p:nvPr/>
        </p:nvSpPr>
        <p:spPr>
          <a:xfrm>
            <a:off x="9006840" y="1508760"/>
            <a:ext cx="164592" cy="164592"/>
          </a:xfrm>
          <a:prstGeom prst="rect">
            <a:avLst/>
          </a:prstGeom>
          <a:solidFill>
            <a:srgbClr val="FFF3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08008" y="1490472"/>
            <a:ext cx="2560320" cy="201168"/>
          </a:xfrm>
          <a:prstGeom prst="rect">
            <a:avLst/>
          </a:prstGeom>
          <a:noFill/>
        </p:spPr>
        <p:txBody>
          <a:bodyPr wrap="square">
            <a:spAutoFit/>
          </a:bodyPr>
          <a:lstStyle/>
          <a:p>
            <a:pPr algn="l"/>
            <a:r>
              <a:rPr b="0" i="0" sz="900">
                <a:solidFill>
                  <a:srgbClr val="555566"/>
                </a:solidFill>
              </a:rPr>
              <a:t>Strategy &amp; governance</a:t>
            </a:r>
          </a:p>
        </p:txBody>
      </p:sp>
      <p:sp>
        <p:nvSpPr>
          <p:cNvPr id="14" name="Rectangle 13"/>
          <p:cNvSpPr/>
          <p:nvPr/>
        </p:nvSpPr>
        <p:spPr>
          <a:xfrm>
            <a:off x="292608" y="1828800"/>
            <a:ext cx="2743200" cy="1417320"/>
          </a:xfrm>
          <a:prstGeom prst="rect">
            <a:avLst/>
          </a:prstGeom>
          <a:solidFill>
            <a:srgbClr val="D0E8FF"/>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 y="1883664"/>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A1</a:t>
            </a:r>
          </a:p>
        </p:txBody>
      </p:sp>
      <p:sp>
        <p:nvSpPr>
          <p:cNvPr id="16" name="TextBox 15"/>
          <p:cNvSpPr txBox="1"/>
          <p:nvPr/>
        </p:nvSpPr>
        <p:spPr>
          <a:xfrm>
            <a:off x="676656" y="1883664"/>
            <a:ext cx="2304288" cy="201168"/>
          </a:xfrm>
          <a:prstGeom prst="rect">
            <a:avLst/>
          </a:prstGeom>
          <a:noFill/>
        </p:spPr>
        <p:txBody>
          <a:bodyPr wrap="square">
            <a:spAutoFit/>
          </a:bodyPr>
          <a:lstStyle/>
          <a:p>
            <a:pPr algn="l"/>
            <a:r>
              <a:rPr b="1" i="0" sz="750">
                <a:solidFill>
                  <a:srgbClr val="1A1A2E"/>
                </a:solidFill>
              </a:rPr>
              <a:t>Federation vs Community mental model</a:t>
            </a:r>
          </a:p>
        </p:txBody>
      </p:sp>
      <p:sp>
        <p:nvSpPr>
          <p:cNvPr id="17" name="TextBox 16"/>
          <p:cNvSpPr txBox="1"/>
          <p:nvPr/>
        </p:nvSpPr>
        <p:spPr>
          <a:xfrm>
            <a:off x="365760" y="2112264"/>
            <a:ext cx="2615184" cy="1097280"/>
          </a:xfrm>
          <a:prstGeom prst="rect">
            <a:avLst/>
          </a:prstGeom>
          <a:noFill/>
        </p:spPr>
        <p:txBody>
          <a:bodyPr wrap="square">
            <a:spAutoFit/>
          </a:bodyPr>
          <a:lstStyle/>
          <a:p>
            <a:pPr algn="l"/>
            <a:r>
              <a:rPr b="0" i="1" sz="700">
                <a:solidFill>
                  <a:srgbClr val="555566"/>
                </a:solidFill>
              </a:rPr>
              <a:t>Users understand the difference between Federation (money/bank) and Community (social/town square) quickly enough to use it correctly.</a:t>
            </a:r>
          </a:p>
        </p:txBody>
      </p:sp>
      <p:sp>
        <p:nvSpPr>
          <p:cNvPr id="18" name="Rectangle 17"/>
          <p:cNvSpPr/>
          <p:nvPr/>
        </p:nvSpPr>
        <p:spPr>
          <a:xfrm>
            <a:off x="3191256" y="1828800"/>
            <a:ext cx="2743200" cy="1417320"/>
          </a:xfrm>
          <a:prstGeom prst="rect">
            <a:avLst/>
          </a:prstGeom>
          <a:solidFill>
            <a:srgbClr val="E6F4E6"/>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46120" y="1883664"/>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A2</a:t>
            </a:r>
          </a:p>
        </p:txBody>
      </p:sp>
      <p:sp>
        <p:nvSpPr>
          <p:cNvPr id="20" name="TextBox 19"/>
          <p:cNvSpPr txBox="1"/>
          <p:nvPr/>
        </p:nvSpPr>
        <p:spPr>
          <a:xfrm>
            <a:off x="3575303" y="1883664"/>
            <a:ext cx="2304288" cy="201168"/>
          </a:xfrm>
          <a:prstGeom prst="rect">
            <a:avLst/>
          </a:prstGeom>
          <a:noFill/>
        </p:spPr>
        <p:txBody>
          <a:bodyPr wrap="square">
            <a:spAutoFit/>
          </a:bodyPr>
          <a:lstStyle/>
          <a:p>
            <a:pPr algn="l"/>
            <a:r>
              <a:rPr b="1" i="0" sz="750">
                <a:solidFill>
                  <a:srgbClr val="1A1A2E"/>
                </a:solidFill>
              </a:rPr>
              <a:t>Onboarding and time-to-value</a:t>
            </a:r>
          </a:p>
        </p:txBody>
      </p:sp>
      <p:sp>
        <p:nvSpPr>
          <p:cNvPr id="21" name="TextBox 20"/>
          <p:cNvSpPr txBox="1"/>
          <p:nvPr/>
        </p:nvSpPr>
        <p:spPr>
          <a:xfrm>
            <a:off x="3264408" y="2112264"/>
            <a:ext cx="2615184" cy="1097280"/>
          </a:xfrm>
          <a:prstGeom prst="rect">
            <a:avLst/>
          </a:prstGeom>
          <a:noFill/>
        </p:spPr>
        <p:txBody>
          <a:bodyPr wrap="square">
            <a:spAutoFit/>
          </a:bodyPr>
          <a:lstStyle/>
          <a:p>
            <a:pPr algn="l"/>
            <a:r>
              <a:rPr b="0" i="1" sz="700">
                <a:solidFill>
                  <a:srgbClr val="555566"/>
                </a:solidFill>
              </a:rPr>
              <a:t>New users can reach their first successful moment (setup &gt; join &gt; receive/send) without external help.</a:t>
            </a:r>
          </a:p>
        </p:txBody>
      </p:sp>
      <p:sp>
        <p:nvSpPr>
          <p:cNvPr id="22" name="Rectangle 21"/>
          <p:cNvSpPr/>
          <p:nvPr/>
        </p:nvSpPr>
        <p:spPr>
          <a:xfrm>
            <a:off x="6089904" y="1828800"/>
            <a:ext cx="2743200" cy="1417320"/>
          </a:xfrm>
          <a:prstGeom prst="rect">
            <a:avLst/>
          </a:prstGeom>
          <a:solidFill>
            <a:srgbClr val="FFE0E0"/>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1883664"/>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A3</a:t>
            </a:r>
          </a:p>
        </p:txBody>
      </p:sp>
      <p:sp>
        <p:nvSpPr>
          <p:cNvPr id="24" name="TextBox 23"/>
          <p:cNvSpPr txBox="1"/>
          <p:nvPr/>
        </p:nvSpPr>
        <p:spPr>
          <a:xfrm>
            <a:off x="6473952" y="1883664"/>
            <a:ext cx="2304288" cy="201168"/>
          </a:xfrm>
          <a:prstGeom prst="rect">
            <a:avLst/>
          </a:prstGeom>
          <a:noFill/>
        </p:spPr>
        <p:txBody>
          <a:bodyPr wrap="square">
            <a:spAutoFit/>
          </a:bodyPr>
          <a:lstStyle/>
          <a:p>
            <a:pPr algn="l"/>
            <a:r>
              <a:rPr b="1" i="0" sz="750">
                <a:solidFill>
                  <a:srgbClr val="1A1A2E"/>
                </a:solidFill>
              </a:rPr>
              <a:t>Social Backup trust</a:t>
            </a:r>
          </a:p>
        </p:txBody>
      </p:sp>
      <p:sp>
        <p:nvSpPr>
          <p:cNvPr id="25" name="TextBox 24"/>
          <p:cNvSpPr txBox="1"/>
          <p:nvPr/>
        </p:nvSpPr>
        <p:spPr>
          <a:xfrm>
            <a:off x="6163056" y="2112264"/>
            <a:ext cx="2615184" cy="1097280"/>
          </a:xfrm>
          <a:prstGeom prst="rect">
            <a:avLst/>
          </a:prstGeom>
          <a:noFill/>
        </p:spPr>
        <p:txBody>
          <a:bodyPr wrap="square">
            <a:spAutoFit/>
          </a:bodyPr>
          <a:lstStyle/>
          <a:p>
            <a:pPr algn="l"/>
            <a:r>
              <a:rPr b="0" i="1" sz="700">
                <a:solidFill>
                  <a:srgbClr val="555566"/>
                </a:solidFill>
              </a:rPr>
              <a:t>Social Backup feels safer (or at least acceptable) vs self-custody for non-technical users.</a:t>
            </a:r>
          </a:p>
        </p:txBody>
      </p:sp>
      <p:sp>
        <p:nvSpPr>
          <p:cNvPr id="26" name="Rectangle 25"/>
          <p:cNvSpPr/>
          <p:nvPr/>
        </p:nvSpPr>
        <p:spPr>
          <a:xfrm>
            <a:off x="8988552" y="1828800"/>
            <a:ext cx="2743200" cy="1417320"/>
          </a:xfrm>
          <a:prstGeom prst="rect">
            <a:avLst/>
          </a:prstGeom>
          <a:solidFill>
            <a:srgbClr val="FFE0E0"/>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43416" y="1883664"/>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A4</a:t>
            </a:r>
          </a:p>
        </p:txBody>
      </p:sp>
      <p:sp>
        <p:nvSpPr>
          <p:cNvPr id="28" name="TextBox 27"/>
          <p:cNvSpPr txBox="1"/>
          <p:nvPr/>
        </p:nvSpPr>
        <p:spPr>
          <a:xfrm>
            <a:off x="9372600" y="1883664"/>
            <a:ext cx="2304288" cy="201168"/>
          </a:xfrm>
          <a:prstGeom prst="rect">
            <a:avLst/>
          </a:prstGeom>
          <a:noFill/>
        </p:spPr>
        <p:txBody>
          <a:bodyPr wrap="square">
            <a:spAutoFit/>
          </a:bodyPr>
          <a:lstStyle/>
          <a:p>
            <a:pPr algn="l"/>
            <a:r>
              <a:rPr b="1" i="0" sz="750">
                <a:solidFill>
                  <a:srgbClr val="1A1A2E"/>
                </a:solidFill>
              </a:rPr>
              <a:t>Recovery and panic moments</a:t>
            </a:r>
          </a:p>
        </p:txBody>
      </p:sp>
      <p:sp>
        <p:nvSpPr>
          <p:cNvPr id="29" name="TextBox 28"/>
          <p:cNvSpPr txBox="1"/>
          <p:nvPr/>
        </p:nvSpPr>
        <p:spPr>
          <a:xfrm>
            <a:off x="9061704" y="2112264"/>
            <a:ext cx="2615184" cy="1097280"/>
          </a:xfrm>
          <a:prstGeom prst="rect">
            <a:avLst/>
          </a:prstGeom>
          <a:noFill/>
        </p:spPr>
        <p:txBody>
          <a:bodyPr wrap="square">
            <a:spAutoFit/>
          </a:bodyPr>
          <a:lstStyle/>
          <a:p>
            <a:pPr algn="l"/>
            <a:r>
              <a:rPr b="0" i="1" sz="700">
                <a:solidFill>
                  <a:srgbClr val="555566"/>
                </a:solidFill>
              </a:rPr>
              <a:t>In loss or panic scenarios (lost phone, reinstall), users can recover confidently without catastrophic errors.</a:t>
            </a:r>
          </a:p>
        </p:txBody>
      </p:sp>
      <p:sp>
        <p:nvSpPr>
          <p:cNvPr id="30" name="Rectangle 29"/>
          <p:cNvSpPr/>
          <p:nvPr/>
        </p:nvSpPr>
        <p:spPr>
          <a:xfrm>
            <a:off x="292608" y="3364992"/>
            <a:ext cx="2743200" cy="1417320"/>
          </a:xfrm>
          <a:prstGeom prst="rect">
            <a:avLst/>
          </a:prstGeom>
          <a:solidFill>
            <a:srgbClr val="E6F4E6"/>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47472" y="3419856"/>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A5</a:t>
            </a:r>
          </a:p>
        </p:txBody>
      </p:sp>
      <p:sp>
        <p:nvSpPr>
          <p:cNvPr id="32" name="TextBox 31"/>
          <p:cNvSpPr txBox="1"/>
          <p:nvPr/>
        </p:nvSpPr>
        <p:spPr>
          <a:xfrm>
            <a:off x="676656" y="3419856"/>
            <a:ext cx="2304288" cy="201168"/>
          </a:xfrm>
          <a:prstGeom prst="rect">
            <a:avLst/>
          </a:prstGeom>
          <a:noFill/>
        </p:spPr>
        <p:txBody>
          <a:bodyPr wrap="square">
            <a:spAutoFit/>
          </a:bodyPr>
          <a:lstStyle/>
          <a:p>
            <a:pPr algn="l"/>
            <a:r>
              <a:rPr b="1" i="0" sz="750">
                <a:solidFill>
                  <a:srgbClr val="1A1A2E"/>
                </a:solidFill>
              </a:rPr>
              <a:t>Offline transactions</a:t>
            </a:r>
          </a:p>
        </p:txBody>
      </p:sp>
      <p:sp>
        <p:nvSpPr>
          <p:cNvPr id="33" name="TextBox 32"/>
          <p:cNvSpPr txBox="1"/>
          <p:nvPr/>
        </p:nvSpPr>
        <p:spPr>
          <a:xfrm>
            <a:off x="365760" y="3648456"/>
            <a:ext cx="2615184" cy="1097280"/>
          </a:xfrm>
          <a:prstGeom prst="rect">
            <a:avLst/>
          </a:prstGeom>
          <a:noFill/>
        </p:spPr>
        <p:txBody>
          <a:bodyPr wrap="square">
            <a:spAutoFit/>
          </a:bodyPr>
          <a:lstStyle/>
          <a:p>
            <a:pPr algn="l"/>
            <a:r>
              <a:rPr b="0" i="1" sz="700">
                <a:solidFill>
                  <a:srgbClr val="555566"/>
                </a:solidFill>
              </a:rPr>
              <a:t>Offline payments are both usable and trusted in patchy-connectivity contexts.</a:t>
            </a:r>
          </a:p>
        </p:txBody>
      </p:sp>
      <p:sp>
        <p:nvSpPr>
          <p:cNvPr id="34" name="Rectangle 33"/>
          <p:cNvSpPr/>
          <p:nvPr/>
        </p:nvSpPr>
        <p:spPr>
          <a:xfrm>
            <a:off x="3191256" y="3364992"/>
            <a:ext cx="2743200" cy="1417320"/>
          </a:xfrm>
          <a:prstGeom prst="rect">
            <a:avLst/>
          </a:prstGeom>
          <a:solidFill>
            <a:srgbClr val="E6F4E6"/>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46120" y="3419856"/>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A6</a:t>
            </a:r>
          </a:p>
        </p:txBody>
      </p:sp>
      <p:sp>
        <p:nvSpPr>
          <p:cNvPr id="36" name="TextBox 35"/>
          <p:cNvSpPr txBox="1"/>
          <p:nvPr/>
        </p:nvSpPr>
        <p:spPr>
          <a:xfrm>
            <a:off x="3575303" y="3419856"/>
            <a:ext cx="2304288" cy="201168"/>
          </a:xfrm>
          <a:prstGeom prst="rect">
            <a:avLst/>
          </a:prstGeom>
          <a:noFill/>
        </p:spPr>
        <p:txBody>
          <a:bodyPr wrap="square">
            <a:spAutoFit/>
          </a:bodyPr>
          <a:lstStyle/>
          <a:p>
            <a:pPr algn="l"/>
            <a:r>
              <a:rPr b="1" i="0" sz="750">
                <a:solidFill>
                  <a:srgbClr val="1A1A2E"/>
                </a:solidFill>
              </a:rPr>
              <a:t>Stable Balance (volatility protection)</a:t>
            </a:r>
          </a:p>
        </p:txBody>
      </p:sp>
      <p:sp>
        <p:nvSpPr>
          <p:cNvPr id="37" name="TextBox 36"/>
          <p:cNvSpPr txBox="1"/>
          <p:nvPr/>
        </p:nvSpPr>
        <p:spPr>
          <a:xfrm>
            <a:off x="3264408" y="3648456"/>
            <a:ext cx="2615184" cy="1097280"/>
          </a:xfrm>
          <a:prstGeom prst="rect">
            <a:avLst/>
          </a:prstGeom>
          <a:noFill/>
        </p:spPr>
        <p:txBody>
          <a:bodyPr wrap="square">
            <a:spAutoFit/>
          </a:bodyPr>
          <a:lstStyle/>
          <a:p>
            <a:pPr algn="l"/>
            <a:r>
              <a:rPr b="0" i="1" sz="700">
                <a:solidFill>
                  <a:srgbClr val="555566"/>
                </a:solidFill>
              </a:rPr>
              <a:t>Users want a stable-value option and correctly understand the trade-off (stability vs bitcoin amount).</a:t>
            </a:r>
          </a:p>
        </p:txBody>
      </p:sp>
      <p:sp>
        <p:nvSpPr>
          <p:cNvPr id="38" name="Rectangle 37"/>
          <p:cNvSpPr/>
          <p:nvPr/>
        </p:nvSpPr>
        <p:spPr>
          <a:xfrm>
            <a:off x="6089904" y="3364992"/>
            <a:ext cx="2743200" cy="1417320"/>
          </a:xfrm>
          <a:prstGeom prst="rect">
            <a:avLst/>
          </a:prstGeom>
          <a:solidFill>
            <a:srgbClr val="E6F4E6"/>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44768" y="3419856"/>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A7</a:t>
            </a:r>
          </a:p>
        </p:txBody>
      </p:sp>
      <p:sp>
        <p:nvSpPr>
          <p:cNvPr id="40" name="TextBox 39"/>
          <p:cNvSpPr txBox="1"/>
          <p:nvPr/>
        </p:nvSpPr>
        <p:spPr>
          <a:xfrm>
            <a:off x="6473952" y="3419856"/>
            <a:ext cx="2304288" cy="201168"/>
          </a:xfrm>
          <a:prstGeom prst="rect">
            <a:avLst/>
          </a:prstGeom>
          <a:noFill/>
        </p:spPr>
        <p:txBody>
          <a:bodyPr wrap="square">
            <a:spAutoFit/>
          </a:bodyPr>
          <a:lstStyle/>
          <a:p>
            <a:pPr algn="l"/>
            <a:r>
              <a:rPr b="1" i="0" sz="750">
                <a:solidFill>
                  <a:srgbClr val="1A1A2E"/>
                </a:solidFill>
              </a:rPr>
              <a:t>Mini apps value</a:t>
            </a:r>
          </a:p>
        </p:txBody>
      </p:sp>
      <p:sp>
        <p:nvSpPr>
          <p:cNvPr id="41" name="TextBox 40"/>
          <p:cNvSpPr txBox="1"/>
          <p:nvPr/>
        </p:nvSpPr>
        <p:spPr>
          <a:xfrm>
            <a:off x="6163056" y="3648456"/>
            <a:ext cx="2615184" cy="1097280"/>
          </a:xfrm>
          <a:prstGeom prst="rect">
            <a:avLst/>
          </a:prstGeom>
          <a:noFill/>
        </p:spPr>
        <p:txBody>
          <a:bodyPr wrap="square">
            <a:spAutoFit/>
          </a:bodyPr>
          <a:lstStyle/>
          <a:p>
            <a:pPr algn="l"/>
            <a:r>
              <a:rPr b="0" i="1" sz="700">
                <a:solidFill>
                  <a:srgbClr val="555566"/>
                </a:solidFill>
              </a:rPr>
              <a:t>Mini apps provide genuine daily utility rather than clutter or confusion.</a:t>
            </a:r>
          </a:p>
        </p:txBody>
      </p:sp>
      <p:sp>
        <p:nvSpPr>
          <p:cNvPr id="42" name="Rectangle 41"/>
          <p:cNvSpPr/>
          <p:nvPr/>
        </p:nvSpPr>
        <p:spPr>
          <a:xfrm>
            <a:off x="8988552" y="3364992"/>
            <a:ext cx="2743200" cy="1417320"/>
          </a:xfrm>
          <a:prstGeom prst="rect">
            <a:avLst/>
          </a:prstGeom>
          <a:solidFill>
            <a:srgbClr val="D0E8FF"/>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043416" y="3419856"/>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A8</a:t>
            </a:r>
          </a:p>
        </p:txBody>
      </p:sp>
      <p:sp>
        <p:nvSpPr>
          <p:cNvPr id="44" name="TextBox 43"/>
          <p:cNvSpPr txBox="1"/>
          <p:nvPr/>
        </p:nvSpPr>
        <p:spPr>
          <a:xfrm>
            <a:off x="9372600" y="3419856"/>
            <a:ext cx="2304288" cy="201168"/>
          </a:xfrm>
          <a:prstGeom prst="rect">
            <a:avLst/>
          </a:prstGeom>
          <a:noFill/>
        </p:spPr>
        <p:txBody>
          <a:bodyPr wrap="square">
            <a:spAutoFit/>
          </a:bodyPr>
          <a:lstStyle/>
          <a:p>
            <a:pPr algn="l"/>
            <a:r>
              <a:rPr b="1" i="0" sz="750">
                <a:solidFill>
                  <a:srgbClr val="1A1A2E"/>
                </a:solidFill>
              </a:rPr>
              <a:t>In-app money and chat</a:t>
            </a:r>
          </a:p>
        </p:txBody>
      </p:sp>
      <p:sp>
        <p:nvSpPr>
          <p:cNvPr id="45" name="TextBox 44"/>
          <p:cNvSpPr txBox="1"/>
          <p:nvPr/>
        </p:nvSpPr>
        <p:spPr>
          <a:xfrm>
            <a:off x="9061704" y="3648456"/>
            <a:ext cx="2615184" cy="1097280"/>
          </a:xfrm>
          <a:prstGeom prst="rect">
            <a:avLst/>
          </a:prstGeom>
          <a:noFill/>
        </p:spPr>
        <p:txBody>
          <a:bodyPr wrap="square">
            <a:spAutoFit/>
          </a:bodyPr>
          <a:lstStyle/>
          <a:p>
            <a:pPr algn="l"/>
            <a:r>
              <a:rPr b="0" i="1" sz="700">
                <a:solidFill>
                  <a:srgbClr val="555566"/>
                </a:solidFill>
              </a:rPr>
              <a:t>Sending money in chat is intuitive and increases usage vs separate wallet actions.</a:t>
            </a:r>
          </a:p>
        </p:txBody>
      </p:sp>
      <p:sp>
        <p:nvSpPr>
          <p:cNvPr id="46" name="Rectangle 45"/>
          <p:cNvSpPr/>
          <p:nvPr/>
        </p:nvSpPr>
        <p:spPr>
          <a:xfrm>
            <a:off x="292608" y="4901184"/>
            <a:ext cx="2743200" cy="1417320"/>
          </a:xfrm>
          <a:prstGeom prst="rect">
            <a:avLst/>
          </a:prstGeom>
          <a:solidFill>
            <a:srgbClr val="FFE0E0"/>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47472" y="4956048"/>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A9</a:t>
            </a:r>
          </a:p>
        </p:txBody>
      </p:sp>
      <p:sp>
        <p:nvSpPr>
          <p:cNvPr id="48" name="TextBox 47"/>
          <p:cNvSpPr txBox="1"/>
          <p:nvPr/>
        </p:nvSpPr>
        <p:spPr>
          <a:xfrm>
            <a:off x="676656" y="4956048"/>
            <a:ext cx="2304288" cy="201168"/>
          </a:xfrm>
          <a:prstGeom prst="rect">
            <a:avLst/>
          </a:prstGeom>
          <a:noFill/>
        </p:spPr>
        <p:txBody>
          <a:bodyPr wrap="square">
            <a:spAutoFit/>
          </a:bodyPr>
          <a:lstStyle/>
          <a:p>
            <a:pPr algn="l"/>
            <a:r>
              <a:rPr b="1" i="0" sz="750">
                <a:solidFill>
                  <a:srgbClr val="1A1A2E"/>
                </a:solidFill>
              </a:rPr>
              <a:t>Trust and scam resistance</a:t>
            </a:r>
          </a:p>
        </p:txBody>
      </p:sp>
      <p:sp>
        <p:nvSpPr>
          <p:cNvPr id="49" name="TextBox 48"/>
          <p:cNvSpPr txBox="1"/>
          <p:nvPr/>
        </p:nvSpPr>
        <p:spPr>
          <a:xfrm>
            <a:off x="365760" y="5184648"/>
            <a:ext cx="2615184" cy="1097280"/>
          </a:xfrm>
          <a:prstGeom prst="rect">
            <a:avLst/>
          </a:prstGeom>
          <a:noFill/>
        </p:spPr>
        <p:txBody>
          <a:bodyPr wrap="square">
            <a:spAutoFit/>
          </a:bodyPr>
          <a:lstStyle/>
          <a:p>
            <a:pPr algn="l"/>
            <a:r>
              <a:rPr b="0" i="1" sz="700">
                <a:solidFill>
                  <a:srgbClr val="555566"/>
                </a:solidFill>
              </a:rPr>
              <a:t>Users can avoid common scam patterns and understand safety boundaries without becoming paranoid.</a:t>
            </a:r>
          </a:p>
        </p:txBody>
      </p:sp>
      <p:sp>
        <p:nvSpPr>
          <p:cNvPr id="50" name="Rectangle 49"/>
          <p:cNvSpPr/>
          <p:nvPr/>
        </p:nvSpPr>
        <p:spPr>
          <a:xfrm>
            <a:off x="3191256" y="4901184"/>
            <a:ext cx="2743200" cy="1417320"/>
          </a:xfrm>
          <a:prstGeom prst="rect">
            <a:avLst/>
          </a:prstGeom>
          <a:solidFill>
            <a:srgbClr val="D0E8FF"/>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246120" y="4956048"/>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A10</a:t>
            </a:r>
          </a:p>
        </p:txBody>
      </p:sp>
      <p:sp>
        <p:nvSpPr>
          <p:cNvPr id="52" name="TextBox 51"/>
          <p:cNvSpPr txBox="1"/>
          <p:nvPr/>
        </p:nvSpPr>
        <p:spPr>
          <a:xfrm>
            <a:off x="3575303" y="4956048"/>
            <a:ext cx="2304288" cy="201168"/>
          </a:xfrm>
          <a:prstGeom prst="rect">
            <a:avLst/>
          </a:prstGeom>
          <a:noFill/>
        </p:spPr>
        <p:txBody>
          <a:bodyPr wrap="square">
            <a:spAutoFit/>
          </a:bodyPr>
          <a:lstStyle/>
          <a:p>
            <a:pPr algn="l"/>
            <a:r>
              <a:rPr b="1" i="0" sz="750">
                <a:solidFill>
                  <a:srgbClr val="1A1A2E"/>
                </a:solidFill>
              </a:rPr>
              <a:t>Language, literacy and comprehension</a:t>
            </a:r>
          </a:p>
        </p:txBody>
      </p:sp>
      <p:sp>
        <p:nvSpPr>
          <p:cNvPr id="53" name="TextBox 52"/>
          <p:cNvSpPr txBox="1"/>
          <p:nvPr/>
        </p:nvSpPr>
        <p:spPr>
          <a:xfrm>
            <a:off x="3264408" y="5184648"/>
            <a:ext cx="2615184" cy="1097280"/>
          </a:xfrm>
          <a:prstGeom prst="rect">
            <a:avLst/>
          </a:prstGeom>
          <a:noFill/>
        </p:spPr>
        <p:txBody>
          <a:bodyPr wrap="square">
            <a:spAutoFit/>
          </a:bodyPr>
          <a:lstStyle/>
          <a:p>
            <a:pPr algn="l"/>
            <a:r>
              <a:rPr b="0" i="1" sz="700">
                <a:solidFill>
                  <a:srgbClr val="555566"/>
                </a:solidFill>
              </a:rPr>
              <a:t>The product concepts can be understood by users with varying literacy and education levels.</a:t>
            </a:r>
          </a:p>
        </p:txBody>
      </p:sp>
      <p:sp>
        <p:nvSpPr>
          <p:cNvPr id="54" name="Rectangle 53"/>
          <p:cNvSpPr/>
          <p:nvPr/>
        </p:nvSpPr>
        <p:spPr>
          <a:xfrm>
            <a:off x="6089904" y="4901184"/>
            <a:ext cx="2743200" cy="1417320"/>
          </a:xfrm>
          <a:prstGeom prst="rect">
            <a:avLst/>
          </a:prstGeom>
          <a:solidFill>
            <a:srgbClr val="FFE0E0"/>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44768" y="4956048"/>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A11</a:t>
            </a:r>
          </a:p>
        </p:txBody>
      </p:sp>
      <p:sp>
        <p:nvSpPr>
          <p:cNvPr id="56" name="TextBox 55"/>
          <p:cNvSpPr txBox="1"/>
          <p:nvPr/>
        </p:nvSpPr>
        <p:spPr>
          <a:xfrm>
            <a:off x="6473952" y="4956048"/>
            <a:ext cx="2304288" cy="201168"/>
          </a:xfrm>
          <a:prstGeom prst="rect">
            <a:avLst/>
          </a:prstGeom>
          <a:noFill/>
        </p:spPr>
        <p:txBody>
          <a:bodyPr wrap="square">
            <a:spAutoFit/>
          </a:bodyPr>
          <a:lstStyle/>
          <a:p>
            <a:pPr algn="l"/>
            <a:r>
              <a:rPr b="1" i="0" sz="750">
                <a:solidFill>
                  <a:srgbClr val="1A1A2E"/>
                </a:solidFill>
              </a:rPr>
              <a:t>Device sharing and privacy</a:t>
            </a:r>
          </a:p>
        </p:txBody>
      </p:sp>
      <p:sp>
        <p:nvSpPr>
          <p:cNvPr id="57" name="TextBox 56"/>
          <p:cNvSpPr txBox="1"/>
          <p:nvPr/>
        </p:nvSpPr>
        <p:spPr>
          <a:xfrm>
            <a:off x="6163056" y="5184648"/>
            <a:ext cx="2615184" cy="1097280"/>
          </a:xfrm>
          <a:prstGeom prst="rect">
            <a:avLst/>
          </a:prstGeom>
          <a:noFill/>
        </p:spPr>
        <p:txBody>
          <a:bodyPr wrap="square">
            <a:spAutoFit/>
          </a:bodyPr>
          <a:lstStyle/>
          <a:p>
            <a:pPr algn="l"/>
            <a:r>
              <a:rPr b="0" i="1" sz="700">
                <a:solidFill>
                  <a:srgbClr val="555566"/>
                </a:solidFill>
              </a:rPr>
              <a:t>The app remains safe and usable in device-sharing households (common in some contexts).</a:t>
            </a:r>
          </a:p>
        </p:txBody>
      </p:sp>
      <p:sp>
        <p:nvSpPr>
          <p:cNvPr id="58" name="Rectangle 57"/>
          <p:cNvSpPr/>
          <p:nvPr/>
        </p:nvSpPr>
        <p:spPr>
          <a:xfrm>
            <a:off x="8988552" y="4901184"/>
            <a:ext cx="2743200" cy="1417320"/>
          </a:xfrm>
          <a:prstGeom prst="rect">
            <a:avLst/>
          </a:prstGeom>
          <a:solidFill>
            <a:srgbClr val="FFF3CC"/>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043416" y="4956048"/>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A12</a:t>
            </a:r>
          </a:p>
        </p:txBody>
      </p:sp>
      <p:sp>
        <p:nvSpPr>
          <p:cNvPr id="60" name="TextBox 59"/>
          <p:cNvSpPr txBox="1"/>
          <p:nvPr/>
        </p:nvSpPr>
        <p:spPr>
          <a:xfrm>
            <a:off x="9372600" y="4956048"/>
            <a:ext cx="2304288" cy="201168"/>
          </a:xfrm>
          <a:prstGeom prst="rect">
            <a:avLst/>
          </a:prstGeom>
          <a:noFill/>
        </p:spPr>
        <p:txBody>
          <a:bodyPr wrap="square">
            <a:spAutoFit/>
          </a:bodyPr>
          <a:lstStyle/>
          <a:p>
            <a:pPr algn="l"/>
            <a:r>
              <a:rPr b="1" i="0" sz="750">
                <a:solidFill>
                  <a:srgbClr val="1A1A2E"/>
                </a:solidFill>
              </a:rPr>
              <a:t>Community governance and support</a:t>
            </a:r>
          </a:p>
        </p:txBody>
      </p:sp>
      <p:sp>
        <p:nvSpPr>
          <p:cNvPr id="61" name="TextBox 60"/>
          <p:cNvSpPr txBox="1"/>
          <p:nvPr/>
        </p:nvSpPr>
        <p:spPr>
          <a:xfrm>
            <a:off x="9061704" y="5184648"/>
            <a:ext cx="2615184" cy="1097280"/>
          </a:xfrm>
          <a:prstGeom prst="rect">
            <a:avLst/>
          </a:prstGeom>
          <a:noFill/>
        </p:spPr>
        <p:txBody>
          <a:bodyPr wrap="square">
            <a:spAutoFit/>
          </a:bodyPr>
          <a:lstStyle/>
          <a:p>
            <a:pPr algn="l"/>
            <a:r>
              <a:rPr b="0" i="1" sz="700">
                <a:solidFill>
                  <a:srgbClr val="555566"/>
                </a:solidFill>
              </a:rPr>
              <a:t>Communities and federations can provide support and governance without causing confusion about accountability.</a:t>
            </a:r>
          </a:p>
        </p:txBody>
      </p:sp>
      <p:sp>
        <p:nvSpPr>
          <p:cNvPr id="62" name="Rectangle 61"/>
          <p:cNvSpPr/>
          <p:nvPr/>
        </p:nvSpPr>
        <p:spPr>
          <a:xfrm>
            <a:off x="292608" y="6437376"/>
            <a:ext cx="2743200" cy="1417320"/>
          </a:xfrm>
          <a:prstGeom prst="rect">
            <a:avLst/>
          </a:prstGeom>
          <a:solidFill>
            <a:srgbClr val="FFF3CC"/>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47472" y="6492240"/>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A13</a:t>
            </a:r>
          </a:p>
        </p:txBody>
      </p:sp>
      <p:sp>
        <p:nvSpPr>
          <p:cNvPr id="64" name="TextBox 63"/>
          <p:cNvSpPr txBox="1"/>
          <p:nvPr/>
        </p:nvSpPr>
        <p:spPr>
          <a:xfrm>
            <a:off x="676656" y="6492240"/>
            <a:ext cx="2304288" cy="201168"/>
          </a:xfrm>
          <a:prstGeom prst="rect">
            <a:avLst/>
          </a:prstGeom>
          <a:noFill/>
        </p:spPr>
        <p:txBody>
          <a:bodyPr wrap="square">
            <a:spAutoFit/>
          </a:bodyPr>
          <a:lstStyle/>
          <a:p>
            <a:pPr algn="l"/>
            <a:r>
              <a:rPr b="1" i="0" sz="750">
                <a:solidFill>
                  <a:srgbClr val="1A1A2E"/>
                </a:solidFill>
              </a:rPr>
              <a:t>Cross-region generalisation</a:t>
            </a:r>
          </a:p>
        </p:txBody>
      </p:sp>
      <p:sp>
        <p:nvSpPr>
          <p:cNvPr id="65" name="TextBox 64"/>
          <p:cNvSpPr txBox="1"/>
          <p:nvPr/>
        </p:nvSpPr>
        <p:spPr>
          <a:xfrm>
            <a:off x="365760" y="6720840"/>
            <a:ext cx="2615184" cy="1097280"/>
          </a:xfrm>
          <a:prstGeom prst="rect">
            <a:avLst/>
          </a:prstGeom>
          <a:noFill/>
        </p:spPr>
        <p:txBody>
          <a:bodyPr wrap="square">
            <a:spAutoFit/>
          </a:bodyPr>
          <a:lstStyle/>
          <a:p>
            <a:pPr algn="l"/>
            <a:r>
              <a:rPr b="0" i="1" sz="700">
                <a:solidFill>
                  <a:srgbClr val="555566"/>
                </a:solidFill>
              </a:rPr>
              <a:t>Some UX patterns generalise across regions; others must be localised.</a:t>
            </a:r>
          </a:p>
        </p:txBody>
      </p:sp>
      <p:sp>
        <p:nvSpPr>
          <p:cNvPr id="66" name="Rectangle 65"/>
          <p:cNvSpPr/>
          <p:nvPr/>
        </p:nvSpPr>
        <p:spPr>
          <a:xfrm>
            <a:off x="3191256" y="6437376"/>
            <a:ext cx="2743200" cy="1417320"/>
          </a:xfrm>
          <a:prstGeom prst="rect">
            <a:avLst/>
          </a:prstGeom>
          <a:solidFill>
            <a:srgbClr val="FFF3CC"/>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3246120" y="6492240"/>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A14</a:t>
            </a:r>
          </a:p>
        </p:txBody>
      </p:sp>
      <p:sp>
        <p:nvSpPr>
          <p:cNvPr id="68" name="TextBox 67"/>
          <p:cNvSpPr txBox="1"/>
          <p:nvPr/>
        </p:nvSpPr>
        <p:spPr>
          <a:xfrm>
            <a:off x="3575303" y="6492240"/>
            <a:ext cx="2304288" cy="201168"/>
          </a:xfrm>
          <a:prstGeom prst="rect">
            <a:avLst/>
          </a:prstGeom>
          <a:noFill/>
        </p:spPr>
        <p:txBody>
          <a:bodyPr wrap="square">
            <a:spAutoFit/>
          </a:bodyPr>
          <a:lstStyle/>
          <a:p>
            <a:pPr algn="l"/>
            <a:r>
              <a:rPr b="1" i="0" sz="750">
                <a:solidFill>
                  <a:srgbClr val="1A1A2E"/>
                </a:solidFill>
              </a:rPr>
              <a:t>Western vs Global South segmentation</a:t>
            </a:r>
          </a:p>
        </p:txBody>
      </p:sp>
      <p:sp>
        <p:nvSpPr>
          <p:cNvPr id="69" name="TextBox 68"/>
          <p:cNvSpPr txBox="1"/>
          <p:nvPr/>
        </p:nvSpPr>
        <p:spPr>
          <a:xfrm>
            <a:off x="3264408" y="6720840"/>
            <a:ext cx="2615184" cy="1097280"/>
          </a:xfrm>
          <a:prstGeom prst="rect">
            <a:avLst/>
          </a:prstGeom>
          <a:noFill/>
        </p:spPr>
        <p:txBody>
          <a:bodyPr wrap="square">
            <a:spAutoFit/>
          </a:bodyPr>
          <a:lstStyle/>
          <a:p>
            <a:pPr algn="l"/>
            <a:r>
              <a:rPr b="0" i="1" sz="700">
                <a:solidFill>
                  <a:srgbClr val="555566"/>
                </a:solidFill>
              </a:rPr>
              <a:t>Western users and Global South users need different onboarding, terminology, or defaults -- but not two totally different products.</a:t>
            </a:r>
          </a:p>
        </p:txBody>
      </p:sp>
      <p:sp>
        <p:nvSpPr>
          <p:cNvPr id="70" name="Rectangle 69"/>
          <p:cNvSpPr/>
          <p:nvPr/>
        </p:nvSpPr>
        <p:spPr>
          <a:xfrm>
            <a:off x="6089904" y="6437376"/>
            <a:ext cx="2743200" cy="1417320"/>
          </a:xfrm>
          <a:prstGeom prst="rect">
            <a:avLst/>
          </a:prstGeom>
          <a:solidFill>
            <a:srgbClr val="FFF3CC"/>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144768" y="6492240"/>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A15</a:t>
            </a:r>
          </a:p>
        </p:txBody>
      </p:sp>
      <p:sp>
        <p:nvSpPr>
          <p:cNvPr id="72" name="TextBox 71"/>
          <p:cNvSpPr txBox="1"/>
          <p:nvPr/>
        </p:nvSpPr>
        <p:spPr>
          <a:xfrm>
            <a:off x="6473952" y="6492240"/>
            <a:ext cx="2304288" cy="201168"/>
          </a:xfrm>
          <a:prstGeom prst="rect">
            <a:avLst/>
          </a:prstGeom>
          <a:noFill/>
        </p:spPr>
        <p:txBody>
          <a:bodyPr wrap="square">
            <a:spAutoFit/>
          </a:bodyPr>
          <a:lstStyle/>
          <a:p>
            <a:pPr algn="l"/>
            <a:r>
              <a:rPr b="1" i="0" sz="750">
                <a:solidFill>
                  <a:srgbClr val="1A1A2E"/>
                </a:solidFill>
              </a:rPr>
              <a:t>Evidence threshold</a:t>
            </a:r>
          </a:p>
        </p:txBody>
      </p:sp>
      <p:sp>
        <p:nvSpPr>
          <p:cNvPr id="73" name="TextBox 72"/>
          <p:cNvSpPr txBox="1"/>
          <p:nvPr/>
        </p:nvSpPr>
        <p:spPr>
          <a:xfrm>
            <a:off x="6163056" y="6720840"/>
            <a:ext cx="2615184" cy="1097280"/>
          </a:xfrm>
          <a:prstGeom prst="rect">
            <a:avLst/>
          </a:prstGeom>
          <a:noFill/>
        </p:spPr>
        <p:txBody>
          <a:bodyPr wrap="square">
            <a:spAutoFit/>
          </a:bodyPr>
          <a:lstStyle/>
          <a:p>
            <a:pPr algn="l"/>
            <a:r>
              <a:rPr b="0" i="1" sz="700">
                <a:solidFill>
                  <a:srgbClr val="555566"/>
                </a:solidFill>
              </a:rPr>
              <a:t>The org can define validated-enough evidence thresholds per decision so shipping is not blocked by perfection.</a:t>
            </a:r>
          </a:p>
        </p:txBody>
      </p:sp>
      <p:sp>
        <p:nvSpPr>
          <p:cNvPr id="74" name="Rectangle 73"/>
          <p:cNvSpPr/>
          <p:nvPr/>
        </p:nvSpPr>
        <p:spPr>
          <a:xfrm>
            <a:off x="8988552" y="6437376"/>
            <a:ext cx="2743200" cy="1417320"/>
          </a:xfrm>
          <a:prstGeom prst="rect">
            <a:avLst/>
          </a:prstGeom>
          <a:solidFill>
            <a:srgbClr val="FFF3CC"/>
          </a:solidFill>
          <a:ln w="6350">
            <a:solidFill>
              <a:srgbClr val="BBBBB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9043416" y="6492240"/>
            <a:ext cx="292608" cy="2011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700">
                <a:solidFill>
                  <a:srgbClr val="FFFFFF"/>
                </a:solidFill>
              </a:rPr>
              <a:t>A16</a:t>
            </a:r>
          </a:p>
        </p:txBody>
      </p:sp>
      <p:sp>
        <p:nvSpPr>
          <p:cNvPr id="76" name="TextBox 75"/>
          <p:cNvSpPr txBox="1"/>
          <p:nvPr/>
        </p:nvSpPr>
        <p:spPr>
          <a:xfrm>
            <a:off x="9372600" y="6492240"/>
            <a:ext cx="2304288" cy="201168"/>
          </a:xfrm>
          <a:prstGeom prst="rect">
            <a:avLst/>
          </a:prstGeom>
          <a:noFill/>
        </p:spPr>
        <p:txBody>
          <a:bodyPr wrap="square">
            <a:spAutoFit/>
          </a:bodyPr>
          <a:lstStyle/>
          <a:p>
            <a:pPr algn="l"/>
            <a:r>
              <a:rPr b="1" i="0" sz="750">
                <a:solidFill>
                  <a:srgbClr val="1A1A2E"/>
                </a:solidFill>
              </a:rPr>
              <a:t>Roadmap alignment</a:t>
            </a:r>
          </a:p>
        </p:txBody>
      </p:sp>
      <p:sp>
        <p:nvSpPr>
          <p:cNvPr id="77" name="TextBox 76"/>
          <p:cNvSpPr txBox="1"/>
          <p:nvPr/>
        </p:nvSpPr>
        <p:spPr>
          <a:xfrm>
            <a:off x="9061704" y="6720840"/>
            <a:ext cx="2615184" cy="1097280"/>
          </a:xfrm>
          <a:prstGeom prst="rect">
            <a:avLst/>
          </a:prstGeom>
          <a:noFill/>
        </p:spPr>
        <p:txBody>
          <a:bodyPr wrap="square">
            <a:spAutoFit/>
          </a:bodyPr>
          <a:lstStyle/>
          <a:p>
            <a:pPr algn="l"/>
            <a:r>
              <a:rPr b="0" i="1" sz="700">
                <a:solidFill>
                  <a:srgbClr val="555566"/>
                </a:solidFill>
              </a:rPr>
              <a:t>Research effort must align to Product and Engineering plans; some work is in-flight and needs harm-reduction rather than discovery.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Assumptions + Research Questions  (A1--A4)</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Each assumption is a testable hypothesis. Questions show how to validate or falsify it.</a:t>
            </a:r>
          </a:p>
        </p:txBody>
      </p:sp>
      <p:sp>
        <p:nvSpPr>
          <p:cNvPr id="5" name="Rectangle 4"/>
          <p:cNvSpPr/>
          <p:nvPr/>
        </p:nvSpPr>
        <p:spPr>
          <a:xfrm>
            <a:off x="228600" y="1005840"/>
            <a:ext cx="2795778" cy="5669280"/>
          </a:xfrm>
          <a:prstGeom prst="rect">
            <a:avLst/>
          </a:prstGeom>
          <a:solidFill>
            <a:srgbClr val="D0E8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1752"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A1</a:t>
            </a:r>
          </a:p>
        </p:txBody>
      </p:sp>
      <p:sp>
        <p:nvSpPr>
          <p:cNvPr id="8" name="TextBox 7"/>
          <p:cNvSpPr txBox="1"/>
          <p:nvPr/>
        </p:nvSpPr>
        <p:spPr>
          <a:xfrm>
            <a:off x="685800" y="1078992"/>
            <a:ext cx="2292858" cy="347472"/>
          </a:xfrm>
          <a:prstGeom prst="rect">
            <a:avLst/>
          </a:prstGeom>
          <a:noFill/>
        </p:spPr>
        <p:txBody>
          <a:bodyPr wrap="square">
            <a:spAutoFit/>
          </a:bodyPr>
          <a:lstStyle/>
          <a:p>
            <a:pPr algn="l"/>
            <a:r>
              <a:rPr b="1" i="0" sz="800">
                <a:solidFill>
                  <a:srgbClr val="FFFFFF"/>
                </a:solidFill>
              </a:rPr>
              <a:t>Federation vs Community mental model</a:t>
            </a:r>
          </a:p>
        </p:txBody>
      </p:sp>
      <p:sp>
        <p:nvSpPr>
          <p:cNvPr id="9" name="TextBox 8"/>
          <p:cNvSpPr txBox="1"/>
          <p:nvPr/>
        </p:nvSpPr>
        <p:spPr>
          <a:xfrm>
            <a:off x="320040" y="1572768"/>
            <a:ext cx="2612898" cy="1188720"/>
          </a:xfrm>
          <a:prstGeom prst="rect">
            <a:avLst/>
          </a:prstGeom>
          <a:noFill/>
        </p:spPr>
        <p:txBody>
          <a:bodyPr wrap="square">
            <a:spAutoFit/>
          </a:bodyPr>
          <a:lstStyle/>
          <a:p>
            <a:pPr algn="l"/>
            <a:r>
              <a:rPr b="0" i="1" sz="800">
                <a:solidFill>
                  <a:srgbClr val="1A1A2E"/>
                </a:solidFill>
              </a:rPr>
              <a:t>Users understand the difference between Federation (money/bank) and Community (social/town square) quickly enough to use it correctly.</a:t>
            </a:r>
          </a:p>
        </p:txBody>
      </p:sp>
      <p:sp>
        <p:nvSpPr>
          <p:cNvPr id="10" name="Rectangle 9"/>
          <p:cNvSpPr/>
          <p:nvPr/>
        </p:nvSpPr>
        <p:spPr>
          <a:xfrm>
            <a:off x="301752"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12" name="TextBox 11"/>
          <p:cNvSpPr txBox="1"/>
          <p:nvPr/>
        </p:nvSpPr>
        <p:spPr>
          <a:xfrm>
            <a:off x="393192" y="3108960"/>
            <a:ext cx="2539746" cy="438912"/>
          </a:xfrm>
          <a:prstGeom prst="rect">
            <a:avLst/>
          </a:prstGeom>
          <a:noFill/>
        </p:spPr>
        <p:txBody>
          <a:bodyPr wrap="square">
            <a:spAutoFit/>
          </a:bodyPr>
          <a:lstStyle/>
          <a:p>
            <a:pPr algn="l"/>
            <a:r>
              <a:rPr b="0" i="0" sz="750">
                <a:solidFill>
                  <a:srgbClr val="1A1A2E"/>
                </a:solidFill>
              </a:rPr>
              <a:t>- What do users think each concept is?</a:t>
            </a:r>
          </a:p>
        </p:txBody>
      </p:sp>
      <p:sp>
        <p:nvSpPr>
          <p:cNvPr id="13" name="TextBox 12"/>
          <p:cNvSpPr txBox="1"/>
          <p:nvPr/>
        </p:nvSpPr>
        <p:spPr>
          <a:xfrm>
            <a:off x="393192" y="3566160"/>
            <a:ext cx="2539746" cy="438912"/>
          </a:xfrm>
          <a:prstGeom prst="rect">
            <a:avLst/>
          </a:prstGeom>
          <a:noFill/>
        </p:spPr>
        <p:txBody>
          <a:bodyPr wrap="square">
            <a:spAutoFit/>
          </a:bodyPr>
          <a:lstStyle/>
          <a:p>
            <a:pPr algn="l"/>
            <a:r>
              <a:rPr b="0" i="0" sz="750">
                <a:solidFill>
                  <a:srgbClr val="1A1A2E"/>
                </a:solidFill>
              </a:rPr>
              <a:t>- Where do they misclassify actions?</a:t>
            </a:r>
          </a:p>
        </p:txBody>
      </p:sp>
      <p:sp>
        <p:nvSpPr>
          <p:cNvPr id="14" name="TextBox 13"/>
          <p:cNvSpPr txBox="1"/>
          <p:nvPr/>
        </p:nvSpPr>
        <p:spPr>
          <a:xfrm>
            <a:off x="393192" y="4023360"/>
            <a:ext cx="2539746" cy="438912"/>
          </a:xfrm>
          <a:prstGeom prst="rect">
            <a:avLst/>
          </a:prstGeom>
          <a:noFill/>
        </p:spPr>
        <p:txBody>
          <a:bodyPr wrap="square">
            <a:spAutoFit/>
          </a:bodyPr>
          <a:lstStyle/>
          <a:p>
            <a:pPr algn="l"/>
            <a:r>
              <a:rPr b="0" i="0" sz="750">
                <a:solidFill>
                  <a:srgbClr val="1A1A2E"/>
                </a:solidFill>
              </a:rPr>
              <a:t>- What minimum explanation makes it click?</a:t>
            </a:r>
          </a:p>
        </p:txBody>
      </p:sp>
      <p:sp>
        <p:nvSpPr>
          <p:cNvPr id="15" name="TextBox 14"/>
          <p:cNvSpPr txBox="1"/>
          <p:nvPr/>
        </p:nvSpPr>
        <p:spPr>
          <a:xfrm>
            <a:off x="393192" y="4480560"/>
            <a:ext cx="2539746" cy="438912"/>
          </a:xfrm>
          <a:prstGeom prst="rect">
            <a:avLst/>
          </a:prstGeom>
          <a:noFill/>
        </p:spPr>
        <p:txBody>
          <a:bodyPr wrap="square">
            <a:spAutoFit/>
          </a:bodyPr>
          <a:lstStyle/>
          <a:p>
            <a:pPr algn="l"/>
            <a:r>
              <a:rPr b="0" i="0" sz="750">
                <a:solidFill>
                  <a:srgbClr val="1A1A2E"/>
                </a:solidFill>
              </a:rPr>
              <a:t>- Which labels or metaphors reduce confusion fastest?</a:t>
            </a:r>
          </a:p>
        </p:txBody>
      </p:sp>
      <p:sp>
        <p:nvSpPr>
          <p:cNvPr id="16" name="TextBox 15"/>
          <p:cNvSpPr txBox="1"/>
          <p:nvPr/>
        </p:nvSpPr>
        <p:spPr>
          <a:xfrm>
            <a:off x="393192" y="4937760"/>
            <a:ext cx="2539746" cy="438912"/>
          </a:xfrm>
          <a:prstGeom prst="rect">
            <a:avLst/>
          </a:prstGeom>
          <a:noFill/>
        </p:spPr>
        <p:txBody>
          <a:bodyPr wrap="square">
            <a:spAutoFit/>
          </a:bodyPr>
          <a:lstStyle/>
          <a:p>
            <a:pPr algn="l"/>
            <a:r>
              <a:rPr b="0" i="0" sz="750">
                <a:solidFill>
                  <a:srgbClr val="1A1A2E"/>
                </a:solidFill>
              </a:rPr>
              <a:t>- What errors happen when they misunderstand (lost funds, wrong help channel)?</a:t>
            </a:r>
          </a:p>
        </p:txBody>
      </p:sp>
      <p:sp>
        <p:nvSpPr>
          <p:cNvPr id="17" name="Rectangle 16"/>
          <p:cNvSpPr/>
          <p:nvPr/>
        </p:nvSpPr>
        <p:spPr>
          <a:xfrm>
            <a:off x="3161538" y="1005840"/>
            <a:ext cx="2795778" cy="5669280"/>
          </a:xfrm>
          <a:prstGeom prst="rect">
            <a:avLst/>
          </a:prstGeom>
          <a:solidFill>
            <a:srgbClr val="E6F4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161538"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34690"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A2</a:t>
            </a:r>
          </a:p>
        </p:txBody>
      </p:sp>
      <p:sp>
        <p:nvSpPr>
          <p:cNvPr id="20" name="TextBox 19"/>
          <p:cNvSpPr txBox="1"/>
          <p:nvPr/>
        </p:nvSpPr>
        <p:spPr>
          <a:xfrm>
            <a:off x="3618738" y="1078992"/>
            <a:ext cx="2292858" cy="347472"/>
          </a:xfrm>
          <a:prstGeom prst="rect">
            <a:avLst/>
          </a:prstGeom>
          <a:noFill/>
        </p:spPr>
        <p:txBody>
          <a:bodyPr wrap="square">
            <a:spAutoFit/>
          </a:bodyPr>
          <a:lstStyle/>
          <a:p>
            <a:pPr algn="l"/>
            <a:r>
              <a:rPr b="1" i="0" sz="800">
                <a:solidFill>
                  <a:srgbClr val="FFFFFF"/>
                </a:solidFill>
              </a:rPr>
              <a:t>Onboarding and time-to-value</a:t>
            </a:r>
          </a:p>
        </p:txBody>
      </p:sp>
      <p:sp>
        <p:nvSpPr>
          <p:cNvPr id="21" name="TextBox 20"/>
          <p:cNvSpPr txBox="1"/>
          <p:nvPr/>
        </p:nvSpPr>
        <p:spPr>
          <a:xfrm>
            <a:off x="3252978" y="1572768"/>
            <a:ext cx="2612898" cy="1188720"/>
          </a:xfrm>
          <a:prstGeom prst="rect">
            <a:avLst/>
          </a:prstGeom>
          <a:noFill/>
        </p:spPr>
        <p:txBody>
          <a:bodyPr wrap="square">
            <a:spAutoFit/>
          </a:bodyPr>
          <a:lstStyle/>
          <a:p>
            <a:pPr algn="l"/>
            <a:r>
              <a:rPr b="0" i="1" sz="800">
                <a:solidFill>
                  <a:srgbClr val="1A1A2E"/>
                </a:solidFill>
              </a:rPr>
              <a:t>New users can reach their first successful moment (setup &gt; join &gt; receive/send) without external help.</a:t>
            </a:r>
          </a:p>
        </p:txBody>
      </p:sp>
      <p:sp>
        <p:nvSpPr>
          <p:cNvPr id="22" name="Rectangle 21"/>
          <p:cNvSpPr/>
          <p:nvPr/>
        </p:nvSpPr>
        <p:spPr>
          <a:xfrm>
            <a:off x="3234690"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52978"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24" name="TextBox 23"/>
          <p:cNvSpPr txBox="1"/>
          <p:nvPr/>
        </p:nvSpPr>
        <p:spPr>
          <a:xfrm>
            <a:off x="3326130" y="3108960"/>
            <a:ext cx="2539746" cy="438912"/>
          </a:xfrm>
          <a:prstGeom prst="rect">
            <a:avLst/>
          </a:prstGeom>
          <a:noFill/>
        </p:spPr>
        <p:txBody>
          <a:bodyPr wrap="square">
            <a:spAutoFit/>
          </a:bodyPr>
          <a:lstStyle/>
          <a:p>
            <a:pPr algn="l"/>
            <a:r>
              <a:rPr b="0" i="0" sz="750">
                <a:solidFill>
                  <a:srgbClr val="1A1A2E"/>
                </a:solidFill>
              </a:rPr>
              <a:t>- What is the first confusing step?</a:t>
            </a:r>
          </a:p>
        </p:txBody>
      </p:sp>
      <p:sp>
        <p:nvSpPr>
          <p:cNvPr id="25" name="TextBox 24"/>
          <p:cNvSpPr txBox="1"/>
          <p:nvPr/>
        </p:nvSpPr>
        <p:spPr>
          <a:xfrm>
            <a:off x="3326130" y="3566160"/>
            <a:ext cx="2539746" cy="438912"/>
          </a:xfrm>
          <a:prstGeom prst="rect">
            <a:avLst/>
          </a:prstGeom>
          <a:noFill/>
        </p:spPr>
        <p:txBody>
          <a:bodyPr wrap="square">
            <a:spAutoFit/>
          </a:bodyPr>
          <a:lstStyle/>
          <a:p>
            <a:pPr algn="l"/>
            <a:r>
              <a:rPr b="0" i="0" sz="750">
                <a:solidFill>
                  <a:srgbClr val="1A1A2E"/>
                </a:solidFill>
              </a:rPr>
              <a:t>- What prevents first deposit or receive?</a:t>
            </a:r>
          </a:p>
        </p:txBody>
      </p:sp>
      <p:sp>
        <p:nvSpPr>
          <p:cNvPr id="26" name="TextBox 25"/>
          <p:cNvSpPr txBox="1"/>
          <p:nvPr/>
        </p:nvSpPr>
        <p:spPr>
          <a:xfrm>
            <a:off x="3326130" y="4023360"/>
            <a:ext cx="2539746" cy="438912"/>
          </a:xfrm>
          <a:prstGeom prst="rect">
            <a:avLst/>
          </a:prstGeom>
          <a:noFill/>
        </p:spPr>
        <p:txBody>
          <a:bodyPr wrap="square">
            <a:spAutoFit/>
          </a:bodyPr>
          <a:lstStyle/>
          <a:p>
            <a:pPr algn="l"/>
            <a:r>
              <a:rPr b="0" i="0" sz="750">
                <a:solidFill>
                  <a:srgbClr val="1A1A2E"/>
                </a:solidFill>
              </a:rPr>
              <a:t>- What is the median time-to-first-value?</a:t>
            </a:r>
          </a:p>
        </p:txBody>
      </p:sp>
      <p:sp>
        <p:nvSpPr>
          <p:cNvPr id="27" name="TextBox 26"/>
          <p:cNvSpPr txBox="1"/>
          <p:nvPr/>
        </p:nvSpPr>
        <p:spPr>
          <a:xfrm>
            <a:off x="3326130" y="4480560"/>
            <a:ext cx="2539746" cy="438912"/>
          </a:xfrm>
          <a:prstGeom prst="rect">
            <a:avLst/>
          </a:prstGeom>
          <a:noFill/>
        </p:spPr>
        <p:txBody>
          <a:bodyPr wrap="square">
            <a:spAutoFit/>
          </a:bodyPr>
          <a:lstStyle/>
          <a:p>
            <a:pPr algn="l"/>
            <a:r>
              <a:rPr b="0" i="0" sz="750">
                <a:solidFill>
                  <a:srgbClr val="1A1A2E"/>
                </a:solidFill>
              </a:rPr>
              <a:t>- What triggers dropout?</a:t>
            </a:r>
          </a:p>
        </p:txBody>
      </p:sp>
      <p:sp>
        <p:nvSpPr>
          <p:cNvPr id="28" name="TextBox 27"/>
          <p:cNvSpPr txBox="1"/>
          <p:nvPr/>
        </p:nvSpPr>
        <p:spPr>
          <a:xfrm>
            <a:off x="3326130" y="4937760"/>
            <a:ext cx="2539746" cy="438912"/>
          </a:xfrm>
          <a:prstGeom prst="rect">
            <a:avLst/>
          </a:prstGeom>
          <a:noFill/>
        </p:spPr>
        <p:txBody>
          <a:bodyPr wrap="square">
            <a:spAutoFit/>
          </a:bodyPr>
          <a:lstStyle/>
          <a:p>
            <a:pPr algn="l"/>
            <a:r>
              <a:rPr b="0" i="0" sz="750">
                <a:solidFill>
                  <a:srgbClr val="1A1A2E"/>
                </a:solidFill>
              </a:rPr>
              <a:t>- What single piece of reassurance increases completion most?</a:t>
            </a:r>
          </a:p>
        </p:txBody>
      </p:sp>
      <p:sp>
        <p:nvSpPr>
          <p:cNvPr id="29" name="Rectangle 28"/>
          <p:cNvSpPr/>
          <p:nvPr/>
        </p:nvSpPr>
        <p:spPr>
          <a:xfrm>
            <a:off x="6094476" y="1005840"/>
            <a:ext cx="2795778" cy="5669280"/>
          </a:xfrm>
          <a:prstGeom prst="rect">
            <a:avLst/>
          </a:prstGeom>
          <a:solidFill>
            <a:srgbClr val="FFE0E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94476"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7628"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A3</a:t>
            </a:r>
          </a:p>
        </p:txBody>
      </p:sp>
      <p:sp>
        <p:nvSpPr>
          <p:cNvPr id="32" name="TextBox 31"/>
          <p:cNvSpPr txBox="1"/>
          <p:nvPr/>
        </p:nvSpPr>
        <p:spPr>
          <a:xfrm>
            <a:off x="6551676" y="1078992"/>
            <a:ext cx="2292858" cy="347472"/>
          </a:xfrm>
          <a:prstGeom prst="rect">
            <a:avLst/>
          </a:prstGeom>
          <a:noFill/>
        </p:spPr>
        <p:txBody>
          <a:bodyPr wrap="square">
            <a:spAutoFit/>
          </a:bodyPr>
          <a:lstStyle/>
          <a:p>
            <a:pPr algn="l"/>
            <a:r>
              <a:rPr b="1" i="0" sz="800">
                <a:solidFill>
                  <a:srgbClr val="FFFFFF"/>
                </a:solidFill>
              </a:rPr>
              <a:t>Social Backup trust</a:t>
            </a:r>
          </a:p>
        </p:txBody>
      </p:sp>
      <p:sp>
        <p:nvSpPr>
          <p:cNvPr id="33" name="TextBox 32"/>
          <p:cNvSpPr txBox="1"/>
          <p:nvPr/>
        </p:nvSpPr>
        <p:spPr>
          <a:xfrm>
            <a:off x="6185916" y="1572768"/>
            <a:ext cx="2612898" cy="1188720"/>
          </a:xfrm>
          <a:prstGeom prst="rect">
            <a:avLst/>
          </a:prstGeom>
          <a:noFill/>
        </p:spPr>
        <p:txBody>
          <a:bodyPr wrap="square">
            <a:spAutoFit/>
          </a:bodyPr>
          <a:lstStyle/>
          <a:p>
            <a:pPr algn="l"/>
            <a:r>
              <a:rPr b="0" i="1" sz="800">
                <a:solidFill>
                  <a:srgbClr val="1A1A2E"/>
                </a:solidFill>
              </a:rPr>
              <a:t>Social Backup feels safer (or at least acceptable) vs self-custody for non-technical users.</a:t>
            </a:r>
          </a:p>
        </p:txBody>
      </p:sp>
      <p:sp>
        <p:nvSpPr>
          <p:cNvPr id="34" name="Rectangle 33"/>
          <p:cNvSpPr/>
          <p:nvPr/>
        </p:nvSpPr>
        <p:spPr>
          <a:xfrm>
            <a:off x="6167628"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85916"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36" name="TextBox 35"/>
          <p:cNvSpPr txBox="1"/>
          <p:nvPr/>
        </p:nvSpPr>
        <p:spPr>
          <a:xfrm>
            <a:off x="6259068" y="3108960"/>
            <a:ext cx="2539746" cy="438912"/>
          </a:xfrm>
          <a:prstGeom prst="rect">
            <a:avLst/>
          </a:prstGeom>
          <a:noFill/>
        </p:spPr>
        <p:txBody>
          <a:bodyPr wrap="square">
            <a:spAutoFit/>
          </a:bodyPr>
          <a:lstStyle/>
          <a:p>
            <a:pPr algn="l"/>
            <a:r>
              <a:rPr b="0" i="0" sz="750">
                <a:solidFill>
                  <a:srgbClr val="1A1A2E"/>
                </a:solidFill>
              </a:rPr>
              <a:t>- What do users think Social Backup does?</a:t>
            </a:r>
          </a:p>
        </p:txBody>
      </p:sp>
      <p:sp>
        <p:nvSpPr>
          <p:cNvPr id="37" name="TextBox 36"/>
          <p:cNvSpPr txBox="1"/>
          <p:nvPr/>
        </p:nvSpPr>
        <p:spPr>
          <a:xfrm>
            <a:off x="6259068" y="3566160"/>
            <a:ext cx="2539746" cy="438912"/>
          </a:xfrm>
          <a:prstGeom prst="rect">
            <a:avLst/>
          </a:prstGeom>
          <a:noFill/>
        </p:spPr>
        <p:txBody>
          <a:bodyPr wrap="square">
            <a:spAutoFit/>
          </a:bodyPr>
          <a:lstStyle/>
          <a:p>
            <a:pPr algn="l"/>
            <a:r>
              <a:rPr b="0" i="0" sz="750">
                <a:solidFill>
                  <a:srgbClr val="1A1A2E"/>
                </a:solidFill>
              </a:rPr>
              <a:t>- What are their nightmare scenarios (theft, coercion, family conflict)?</a:t>
            </a:r>
          </a:p>
        </p:txBody>
      </p:sp>
      <p:sp>
        <p:nvSpPr>
          <p:cNvPr id="38" name="TextBox 37"/>
          <p:cNvSpPr txBox="1"/>
          <p:nvPr/>
        </p:nvSpPr>
        <p:spPr>
          <a:xfrm>
            <a:off x="6259068" y="4023360"/>
            <a:ext cx="2539746" cy="438912"/>
          </a:xfrm>
          <a:prstGeom prst="rect">
            <a:avLst/>
          </a:prstGeom>
          <a:noFill/>
        </p:spPr>
        <p:txBody>
          <a:bodyPr wrap="square">
            <a:spAutoFit/>
          </a:bodyPr>
          <a:lstStyle/>
          <a:p>
            <a:pPr algn="l"/>
            <a:r>
              <a:rPr b="0" i="0" sz="750">
                <a:solidFill>
                  <a:srgbClr val="1A1A2E"/>
                </a:solidFill>
              </a:rPr>
              <a:t>- Which social structures make it viable (elders, church, co-op, family)?</a:t>
            </a:r>
          </a:p>
        </p:txBody>
      </p:sp>
      <p:sp>
        <p:nvSpPr>
          <p:cNvPr id="39" name="TextBox 38"/>
          <p:cNvSpPr txBox="1"/>
          <p:nvPr/>
        </p:nvSpPr>
        <p:spPr>
          <a:xfrm>
            <a:off x="6259068" y="4480560"/>
            <a:ext cx="2539746" cy="438912"/>
          </a:xfrm>
          <a:prstGeom prst="rect">
            <a:avLst/>
          </a:prstGeom>
          <a:noFill/>
        </p:spPr>
        <p:txBody>
          <a:bodyPr wrap="square">
            <a:spAutoFit/>
          </a:bodyPr>
          <a:lstStyle/>
          <a:p>
            <a:pPr algn="l"/>
            <a:r>
              <a:rPr b="0" i="0" sz="750">
                <a:solidFill>
                  <a:srgbClr val="1A1A2E"/>
                </a:solidFill>
              </a:rPr>
              <a:t>- What proof or trust cues do they need before enabling it?</a:t>
            </a:r>
          </a:p>
        </p:txBody>
      </p:sp>
      <p:sp>
        <p:nvSpPr>
          <p:cNvPr id="40" name="Rectangle 39"/>
          <p:cNvSpPr/>
          <p:nvPr/>
        </p:nvSpPr>
        <p:spPr>
          <a:xfrm>
            <a:off x="9027414" y="1005840"/>
            <a:ext cx="2795778" cy="5669280"/>
          </a:xfrm>
          <a:prstGeom prst="rect">
            <a:avLst/>
          </a:prstGeom>
          <a:solidFill>
            <a:srgbClr val="FFE0E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027414"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00566"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A4</a:t>
            </a:r>
          </a:p>
        </p:txBody>
      </p:sp>
      <p:sp>
        <p:nvSpPr>
          <p:cNvPr id="43" name="TextBox 42"/>
          <p:cNvSpPr txBox="1"/>
          <p:nvPr/>
        </p:nvSpPr>
        <p:spPr>
          <a:xfrm>
            <a:off x="9484614" y="1078992"/>
            <a:ext cx="2292858" cy="347472"/>
          </a:xfrm>
          <a:prstGeom prst="rect">
            <a:avLst/>
          </a:prstGeom>
          <a:noFill/>
        </p:spPr>
        <p:txBody>
          <a:bodyPr wrap="square">
            <a:spAutoFit/>
          </a:bodyPr>
          <a:lstStyle/>
          <a:p>
            <a:pPr algn="l"/>
            <a:r>
              <a:rPr b="1" i="0" sz="800">
                <a:solidFill>
                  <a:srgbClr val="FFFFFF"/>
                </a:solidFill>
              </a:rPr>
              <a:t>Recovery and panic moments</a:t>
            </a:r>
          </a:p>
        </p:txBody>
      </p:sp>
      <p:sp>
        <p:nvSpPr>
          <p:cNvPr id="44" name="TextBox 43"/>
          <p:cNvSpPr txBox="1"/>
          <p:nvPr/>
        </p:nvSpPr>
        <p:spPr>
          <a:xfrm>
            <a:off x="9118854" y="1572768"/>
            <a:ext cx="2612898" cy="1188720"/>
          </a:xfrm>
          <a:prstGeom prst="rect">
            <a:avLst/>
          </a:prstGeom>
          <a:noFill/>
        </p:spPr>
        <p:txBody>
          <a:bodyPr wrap="square">
            <a:spAutoFit/>
          </a:bodyPr>
          <a:lstStyle/>
          <a:p>
            <a:pPr algn="l"/>
            <a:r>
              <a:rPr b="0" i="1" sz="800">
                <a:solidFill>
                  <a:srgbClr val="1A1A2E"/>
                </a:solidFill>
              </a:rPr>
              <a:t>In loss or panic scenarios (lost phone, reinstall), users can recover confidently without catastrophic errors.</a:t>
            </a:r>
          </a:p>
        </p:txBody>
      </p:sp>
      <p:sp>
        <p:nvSpPr>
          <p:cNvPr id="45" name="Rectangle 44"/>
          <p:cNvSpPr/>
          <p:nvPr/>
        </p:nvSpPr>
        <p:spPr>
          <a:xfrm>
            <a:off x="9100566"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118854"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47" name="TextBox 46"/>
          <p:cNvSpPr txBox="1"/>
          <p:nvPr/>
        </p:nvSpPr>
        <p:spPr>
          <a:xfrm>
            <a:off x="9192006" y="3108960"/>
            <a:ext cx="2539746" cy="438912"/>
          </a:xfrm>
          <a:prstGeom prst="rect">
            <a:avLst/>
          </a:prstGeom>
          <a:noFill/>
        </p:spPr>
        <p:txBody>
          <a:bodyPr wrap="square">
            <a:spAutoFit/>
          </a:bodyPr>
          <a:lstStyle/>
          <a:p>
            <a:pPr algn="l"/>
            <a:r>
              <a:rPr b="0" i="0" sz="750">
                <a:solidFill>
                  <a:srgbClr val="1A1A2E"/>
                </a:solidFill>
              </a:rPr>
              <a:t>- What is the user mental model in panic?</a:t>
            </a:r>
          </a:p>
        </p:txBody>
      </p:sp>
      <p:sp>
        <p:nvSpPr>
          <p:cNvPr id="48" name="TextBox 47"/>
          <p:cNvSpPr txBox="1"/>
          <p:nvPr/>
        </p:nvSpPr>
        <p:spPr>
          <a:xfrm>
            <a:off x="9192006" y="3566160"/>
            <a:ext cx="2539746" cy="438912"/>
          </a:xfrm>
          <a:prstGeom prst="rect">
            <a:avLst/>
          </a:prstGeom>
          <a:noFill/>
        </p:spPr>
        <p:txBody>
          <a:bodyPr wrap="square">
            <a:spAutoFit/>
          </a:bodyPr>
          <a:lstStyle/>
          <a:p>
            <a:pPr algn="l"/>
            <a:r>
              <a:rPr b="0" i="0" sz="750">
                <a:solidFill>
                  <a:srgbClr val="1A1A2E"/>
                </a:solidFill>
              </a:rPr>
              <a:t>- Which recovery steps are misinterpreted?</a:t>
            </a:r>
          </a:p>
        </p:txBody>
      </p:sp>
      <p:sp>
        <p:nvSpPr>
          <p:cNvPr id="49" name="TextBox 48"/>
          <p:cNvSpPr txBox="1"/>
          <p:nvPr/>
        </p:nvSpPr>
        <p:spPr>
          <a:xfrm>
            <a:off x="9192006" y="4023360"/>
            <a:ext cx="2539746" cy="438912"/>
          </a:xfrm>
          <a:prstGeom prst="rect">
            <a:avLst/>
          </a:prstGeom>
          <a:noFill/>
        </p:spPr>
        <p:txBody>
          <a:bodyPr wrap="square">
            <a:spAutoFit/>
          </a:bodyPr>
          <a:lstStyle/>
          <a:p>
            <a:pPr algn="l"/>
            <a:r>
              <a:rPr b="0" i="0" sz="750">
                <a:solidFill>
                  <a:srgbClr val="1A1A2E"/>
                </a:solidFill>
              </a:rPr>
              <a:t>- What reassurance reduces churn and support contacts?</a:t>
            </a:r>
          </a:p>
        </p:txBody>
      </p:sp>
      <p:sp>
        <p:nvSpPr>
          <p:cNvPr id="50" name="TextBox 49"/>
          <p:cNvSpPr txBox="1"/>
          <p:nvPr/>
        </p:nvSpPr>
        <p:spPr>
          <a:xfrm>
            <a:off x="9192006" y="4480560"/>
            <a:ext cx="2539746" cy="438912"/>
          </a:xfrm>
          <a:prstGeom prst="rect">
            <a:avLst/>
          </a:prstGeom>
          <a:noFill/>
        </p:spPr>
        <p:txBody>
          <a:bodyPr wrap="square">
            <a:spAutoFit/>
          </a:bodyPr>
          <a:lstStyle/>
          <a:p>
            <a:pPr algn="l"/>
            <a:r>
              <a:rPr b="0" i="0" sz="750">
                <a:solidFill>
                  <a:srgbClr val="1A1A2E"/>
                </a:solidFill>
              </a:rPr>
              <a:t>- Which safeguards prevent irreversible actions?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Assumptions + Research Questions  (A5--A8)</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Each assumption is a testable hypothesis. Questions show how to validate or falsify it.</a:t>
            </a:r>
          </a:p>
        </p:txBody>
      </p:sp>
      <p:sp>
        <p:nvSpPr>
          <p:cNvPr id="5" name="Rectangle 4"/>
          <p:cNvSpPr/>
          <p:nvPr/>
        </p:nvSpPr>
        <p:spPr>
          <a:xfrm>
            <a:off x="228600" y="1005840"/>
            <a:ext cx="2795778" cy="5669280"/>
          </a:xfrm>
          <a:prstGeom prst="rect">
            <a:avLst/>
          </a:prstGeom>
          <a:solidFill>
            <a:srgbClr val="E6F4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1752"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A5</a:t>
            </a:r>
          </a:p>
        </p:txBody>
      </p:sp>
      <p:sp>
        <p:nvSpPr>
          <p:cNvPr id="8" name="TextBox 7"/>
          <p:cNvSpPr txBox="1"/>
          <p:nvPr/>
        </p:nvSpPr>
        <p:spPr>
          <a:xfrm>
            <a:off x="685800" y="1078992"/>
            <a:ext cx="2292858" cy="347472"/>
          </a:xfrm>
          <a:prstGeom prst="rect">
            <a:avLst/>
          </a:prstGeom>
          <a:noFill/>
        </p:spPr>
        <p:txBody>
          <a:bodyPr wrap="square">
            <a:spAutoFit/>
          </a:bodyPr>
          <a:lstStyle/>
          <a:p>
            <a:pPr algn="l"/>
            <a:r>
              <a:rPr b="1" i="0" sz="800">
                <a:solidFill>
                  <a:srgbClr val="FFFFFF"/>
                </a:solidFill>
              </a:rPr>
              <a:t>Offline transactions</a:t>
            </a:r>
          </a:p>
        </p:txBody>
      </p:sp>
      <p:sp>
        <p:nvSpPr>
          <p:cNvPr id="9" name="TextBox 8"/>
          <p:cNvSpPr txBox="1"/>
          <p:nvPr/>
        </p:nvSpPr>
        <p:spPr>
          <a:xfrm>
            <a:off x="320040" y="1572768"/>
            <a:ext cx="2612898" cy="1188720"/>
          </a:xfrm>
          <a:prstGeom prst="rect">
            <a:avLst/>
          </a:prstGeom>
          <a:noFill/>
        </p:spPr>
        <p:txBody>
          <a:bodyPr wrap="square">
            <a:spAutoFit/>
          </a:bodyPr>
          <a:lstStyle/>
          <a:p>
            <a:pPr algn="l"/>
            <a:r>
              <a:rPr b="0" i="1" sz="800">
                <a:solidFill>
                  <a:srgbClr val="1A1A2E"/>
                </a:solidFill>
              </a:rPr>
              <a:t>Offline payments are both usable and trusted in patchy-connectivity contexts.</a:t>
            </a:r>
          </a:p>
        </p:txBody>
      </p:sp>
      <p:sp>
        <p:nvSpPr>
          <p:cNvPr id="10" name="Rectangle 9"/>
          <p:cNvSpPr/>
          <p:nvPr/>
        </p:nvSpPr>
        <p:spPr>
          <a:xfrm>
            <a:off x="301752"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12" name="TextBox 11"/>
          <p:cNvSpPr txBox="1"/>
          <p:nvPr/>
        </p:nvSpPr>
        <p:spPr>
          <a:xfrm>
            <a:off x="393192" y="3108960"/>
            <a:ext cx="2539746" cy="438912"/>
          </a:xfrm>
          <a:prstGeom prst="rect">
            <a:avLst/>
          </a:prstGeom>
          <a:noFill/>
        </p:spPr>
        <p:txBody>
          <a:bodyPr wrap="square">
            <a:spAutoFit/>
          </a:bodyPr>
          <a:lstStyle/>
          <a:p>
            <a:pPr algn="l"/>
            <a:r>
              <a:rPr b="0" i="0" sz="750">
                <a:solidFill>
                  <a:srgbClr val="1A1A2E"/>
                </a:solidFill>
              </a:rPr>
              <a:t>- When do users actually need offline payments?</a:t>
            </a:r>
          </a:p>
        </p:txBody>
      </p:sp>
      <p:sp>
        <p:nvSpPr>
          <p:cNvPr id="13" name="TextBox 12"/>
          <p:cNvSpPr txBox="1"/>
          <p:nvPr/>
        </p:nvSpPr>
        <p:spPr>
          <a:xfrm>
            <a:off x="393192" y="3566160"/>
            <a:ext cx="2539746" cy="438912"/>
          </a:xfrm>
          <a:prstGeom prst="rect">
            <a:avLst/>
          </a:prstGeom>
          <a:noFill/>
        </p:spPr>
        <p:txBody>
          <a:bodyPr wrap="square">
            <a:spAutoFit/>
          </a:bodyPr>
          <a:lstStyle/>
          <a:p>
            <a:pPr algn="l"/>
            <a:r>
              <a:rPr b="0" i="0" sz="750">
                <a:solidFill>
                  <a:srgbClr val="1A1A2E"/>
                </a:solidFill>
              </a:rPr>
              <a:t>- What failure modes are acceptable (delayed sync, pending state)?</a:t>
            </a:r>
          </a:p>
        </p:txBody>
      </p:sp>
      <p:sp>
        <p:nvSpPr>
          <p:cNvPr id="14" name="TextBox 13"/>
          <p:cNvSpPr txBox="1"/>
          <p:nvPr/>
        </p:nvSpPr>
        <p:spPr>
          <a:xfrm>
            <a:off x="393192" y="4023360"/>
            <a:ext cx="2539746" cy="438912"/>
          </a:xfrm>
          <a:prstGeom prst="rect">
            <a:avLst/>
          </a:prstGeom>
          <a:noFill/>
        </p:spPr>
        <p:txBody>
          <a:bodyPr wrap="square">
            <a:spAutoFit/>
          </a:bodyPr>
          <a:lstStyle/>
          <a:p>
            <a:pPr algn="l"/>
            <a:r>
              <a:rPr b="0" i="0" sz="750">
                <a:solidFill>
                  <a:srgbClr val="1A1A2E"/>
                </a:solidFill>
              </a:rPr>
              <a:t>- How do users resolve disputes over offline payments?</a:t>
            </a:r>
          </a:p>
        </p:txBody>
      </p:sp>
      <p:sp>
        <p:nvSpPr>
          <p:cNvPr id="15" name="TextBox 14"/>
          <p:cNvSpPr txBox="1"/>
          <p:nvPr/>
        </p:nvSpPr>
        <p:spPr>
          <a:xfrm>
            <a:off x="393192" y="4480560"/>
            <a:ext cx="2539746" cy="438912"/>
          </a:xfrm>
          <a:prstGeom prst="rect">
            <a:avLst/>
          </a:prstGeom>
          <a:noFill/>
        </p:spPr>
        <p:txBody>
          <a:bodyPr wrap="square">
            <a:spAutoFit/>
          </a:bodyPr>
          <a:lstStyle/>
          <a:p>
            <a:pPr algn="l"/>
            <a:r>
              <a:rPr b="0" i="0" sz="750">
                <a:solidFill>
                  <a:srgbClr val="1A1A2E"/>
                </a:solidFill>
              </a:rPr>
              <a:t>- What UI cues prevent false confidence?</a:t>
            </a:r>
          </a:p>
        </p:txBody>
      </p:sp>
      <p:sp>
        <p:nvSpPr>
          <p:cNvPr id="16" name="Rectangle 15"/>
          <p:cNvSpPr/>
          <p:nvPr/>
        </p:nvSpPr>
        <p:spPr>
          <a:xfrm>
            <a:off x="3161538" y="1005840"/>
            <a:ext cx="2795778" cy="5669280"/>
          </a:xfrm>
          <a:prstGeom prst="rect">
            <a:avLst/>
          </a:prstGeom>
          <a:solidFill>
            <a:srgbClr val="E6F4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61538"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34690"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A6</a:t>
            </a:r>
          </a:p>
        </p:txBody>
      </p:sp>
      <p:sp>
        <p:nvSpPr>
          <p:cNvPr id="19" name="TextBox 18"/>
          <p:cNvSpPr txBox="1"/>
          <p:nvPr/>
        </p:nvSpPr>
        <p:spPr>
          <a:xfrm>
            <a:off x="3618738" y="1078992"/>
            <a:ext cx="2292858" cy="347472"/>
          </a:xfrm>
          <a:prstGeom prst="rect">
            <a:avLst/>
          </a:prstGeom>
          <a:noFill/>
        </p:spPr>
        <p:txBody>
          <a:bodyPr wrap="square">
            <a:spAutoFit/>
          </a:bodyPr>
          <a:lstStyle/>
          <a:p>
            <a:pPr algn="l"/>
            <a:r>
              <a:rPr b="1" i="0" sz="800">
                <a:solidFill>
                  <a:srgbClr val="FFFFFF"/>
                </a:solidFill>
              </a:rPr>
              <a:t>Stable Balance (volatility protection)</a:t>
            </a:r>
          </a:p>
        </p:txBody>
      </p:sp>
      <p:sp>
        <p:nvSpPr>
          <p:cNvPr id="20" name="TextBox 19"/>
          <p:cNvSpPr txBox="1"/>
          <p:nvPr/>
        </p:nvSpPr>
        <p:spPr>
          <a:xfrm>
            <a:off x="3252978" y="1572768"/>
            <a:ext cx="2612898" cy="1188720"/>
          </a:xfrm>
          <a:prstGeom prst="rect">
            <a:avLst/>
          </a:prstGeom>
          <a:noFill/>
        </p:spPr>
        <p:txBody>
          <a:bodyPr wrap="square">
            <a:spAutoFit/>
          </a:bodyPr>
          <a:lstStyle/>
          <a:p>
            <a:pPr algn="l"/>
            <a:r>
              <a:rPr b="0" i="1" sz="800">
                <a:solidFill>
                  <a:srgbClr val="1A1A2E"/>
                </a:solidFill>
              </a:rPr>
              <a:t>Users want a stable-value option and correctly understand the trade-off (stability vs bitcoin amount).</a:t>
            </a:r>
          </a:p>
        </p:txBody>
      </p:sp>
      <p:sp>
        <p:nvSpPr>
          <p:cNvPr id="21" name="Rectangle 20"/>
          <p:cNvSpPr/>
          <p:nvPr/>
        </p:nvSpPr>
        <p:spPr>
          <a:xfrm>
            <a:off x="3234690"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52978"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23" name="TextBox 22"/>
          <p:cNvSpPr txBox="1"/>
          <p:nvPr/>
        </p:nvSpPr>
        <p:spPr>
          <a:xfrm>
            <a:off x="3326130" y="3108960"/>
            <a:ext cx="2539746" cy="438912"/>
          </a:xfrm>
          <a:prstGeom prst="rect">
            <a:avLst/>
          </a:prstGeom>
          <a:noFill/>
        </p:spPr>
        <p:txBody>
          <a:bodyPr wrap="square">
            <a:spAutoFit/>
          </a:bodyPr>
          <a:lstStyle/>
          <a:p>
            <a:pPr algn="l"/>
            <a:r>
              <a:rPr b="0" i="0" sz="750">
                <a:solidFill>
                  <a:srgbClr val="1A1A2E"/>
                </a:solidFill>
              </a:rPr>
              <a:t>- Do users understand what stays constant vs what changes?</a:t>
            </a:r>
          </a:p>
        </p:txBody>
      </p:sp>
      <p:sp>
        <p:nvSpPr>
          <p:cNvPr id="24" name="TextBox 23"/>
          <p:cNvSpPr txBox="1"/>
          <p:nvPr/>
        </p:nvSpPr>
        <p:spPr>
          <a:xfrm>
            <a:off x="3326130" y="3566160"/>
            <a:ext cx="2539746" cy="438912"/>
          </a:xfrm>
          <a:prstGeom prst="rect">
            <a:avLst/>
          </a:prstGeom>
          <a:noFill/>
        </p:spPr>
        <p:txBody>
          <a:bodyPr wrap="square">
            <a:spAutoFit/>
          </a:bodyPr>
          <a:lstStyle/>
          <a:p>
            <a:pPr algn="l"/>
            <a:r>
              <a:rPr b="0" i="0" sz="750">
                <a:solidFill>
                  <a:srgbClr val="1A1A2E"/>
                </a:solidFill>
              </a:rPr>
              <a:t>- When do they choose Stable vs Bitcoin balance?</a:t>
            </a:r>
          </a:p>
        </p:txBody>
      </p:sp>
      <p:sp>
        <p:nvSpPr>
          <p:cNvPr id="25" name="TextBox 24"/>
          <p:cNvSpPr txBox="1"/>
          <p:nvPr/>
        </p:nvSpPr>
        <p:spPr>
          <a:xfrm>
            <a:off x="3326130" y="4023360"/>
            <a:ext cx="2539746" cy="438912"/>
          </a:xfrm>
          <a:prstGeom prst="rect">
            <a:avLst/>
          </a:prstGeom>
          <a:noFill/>
        </p:spPr>
        <p:txBody>
          <a:bodyPr wrap="square">
            <a:spAutoFit/>
          </a:bodyPr>
          <a:lstStyle/>
          <a:p>
            <a:pPr algn="l"/>
            <a:r>
              <a:rPr b="0" i="0" sz="750">
                <a:solidFill>
                  <a:srgbClr val="1A1A2E"/>
                </a:solidFill>
              </a:rPr>
              <a:t>- Does it increase day-to-day use or add cognitive load?</a:t>
            </a:r>
          </a:p>
        </p:txBody>
      </p:sp>
      <p:sp>
        <p:nvSpPr>
          <p:cNvPr id="26" name="TextBox 25"/>
          <p:cNvSpPr txBox="1"/>
          <p:nvPr/>
        </p:nvSpPr>
        <p:spPr>
          <a:xfrm>
            <a:off x="3326130" y="4480560"/>
            <a:ext cx="2539746" cy="438912"/>
          </a:xfrm>
          <a:prstGeom prst="rect">
            <a:avLst/>
          </a:prstGeom>
          <a:noFill/>
        </p:spPr>
        <p:txBody>
          <a:bodyPr wrap="square">
            <a:spAutoFit/>
          </a:bodyPr>
          <a:lstStyle/>
          <a:p>
            <a:pPr algn="l"/>
            <a:r>
              <a:rPr b="0" i="0" sz="750">
                <a:solidFill>
                  <a:srgbClr val="1A1A2E"/>
                </a:solidFill>
              </a:rPr>
              <a:t>- Does it create two-money confusion?</a:t>
            </a:r>
          </a:p>
        </p:txBody>
      </p:sp>
      <p:sp>
        <p:nvSpPr>
          <p:cNvPr id="27" name="Rectangle 26"/>
          <p:cNvSpPr/>
          <p:nvPr/>
        </p:nvSpPr>
        <p:spPr>
          <a:xfrm>
            <a:off x="6094476" y="1005840"/>
            <a:ext cx="2795778" cy="5669280"/>
          </a:xfrm>
          <a:prstGeom prst="rect">
            <a:avLst/>
          </a:prstGeom>
          <a:solidFill>
            <a:srgbClr val="E6F4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94476"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7628"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A7</a:t>
            </a:r>
          </a:p>
        </p:txBody>
      </p:sp>
      <p:sp>
        <p:nvSpPr>
          <p:cNvPr id="30" name="TextBox 29"/>
          <p:cNvSpPr txBox="1"/>
          <p:nvPr/>
        </p:nvSpPr>
        <p:spPr>
          <a:xfrm>
            <a:off x="6551676" y="1078992"/>
            <a:ext cx="2292858" cy="347472"/>
          </a:xfrm>
          <a:prstGeom prst="rect">
            <a:avLst/>
          </a:prstGeom>
          <a:noFill/>
        </p:spPr>
        <p:txBody>
          <a:bodyPr wrap="square">
            <a:spAutoFit/>
          </a:bodyPr>
          <a:lstStyle/>
          <a:p>
            <a:pPr algn="l"/>
            <a:r>
              <a:rPr b="1" i="0" sz="800">
                <a:solidFill>
                  <a:srgbClr val="FFFFFF"/>
                </a:solidFill>
              </a:rPr>
              <a:t>Mini apps value</a:t>
            </a:r>
          </a:p>
        </p:txBody>
      </p:sp>
      <p:sp>
        <p:nvSpPr>
          <p:cNvPr id="31" name="TextBox 30"/>
          <p:cNvSpPr txBox="1"/>
          <p:nvPr/>
        </p:nvSpPr>
        <p:spPr>
          <a:xfrm>
            <a:off x="6185916" y="1572768"/>
            <a:ext cx="2612898" cy="1188720"/>
          </a:xfrm>
          <a:prstGeom prst="rect">
            <a:avLst/>
          </a:prstGeom>
          <a:noFill/>
        </p:spPr>
        <p:txBody>
          <a:bodyPr wrap="square">
            <a:spAutoFit/>
          </a:bodyPr>
          <a:lstStyle/>
          <a:p>
            <a:pPr algn="l"/>
            <a:r>
              <a:rPr b="0" i="1" sz="800">
                <a:solidFill>
                  <a:srgbClr val="1A1A2E"/>
                </a:solidFill>
              </a:rPr>
              <a:t>Mini apps provide genuine daily utility rather than clutter or confusion.</a:t>
            </a:r>
          </a:p>
        </p:txBody>
      </p:sp>
      <p:sp>
        <p:nvSpPr>
          <p:cNvPr id="32" name="Rectangle 31"/>
          <p:cNvSpPr/>
          <p:nvPr/>
        </p:nvSpPr>
        <p:spPr>
          <a:xfrm>
            <a:off x="6167628"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5916"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34" name="TextBox 33"/>
          <p:cNvSpPr txBox="1"/>
          <p:nvPr/>
        </p:nvSpPr>
        <p:spPr>
          <a:xfrm>
            <a:off x="6259068" y="3108960"/>
            <a:ext cx="2539746" cy="438912"/>
          </a:xfrm>
          <a:prstGeom prst="rect">
            <a:avLst/>
          </a:prstGeom>
          <a:noFill/>
        </p:spPr>
        <p:txBody>
          <a:bodyPr wrap="square">
            <a:spAutoFit/>
          </a:bodyPr>
          <a:lstStyle/>
          <a:p>
            <a:pPr algn="l"/>
            <a:r>
              <a:rPr b="0" i="0" sz="750">
                <a:solidFill>
                  <a:srgbClr val="1A1A2E"/>
                </a:solidFill>
              </a:rPr>
              <a:t>- Which mini apps are must-have by region?</a:t>
            </a:r>
          </a:p>
        </p:txBody>
      </p:sp>
      <p:sp>
        <p:nvSpPr>
          <p:cNvPr id="35" name="TextBox 34"/>
          <p:cNvSpPr txBox="1"/>
          <p:nvPr/>
        </p:nvSpPr>
        <p:spPr>
          <a:xfrm>
            <a:off x="6259068" y="3566160"/>
            <a:ext cx="2539746" cy="438912"/>
          </a:xfrm>
          <a:prstGeom prst="rect">
            <a:avLst/>
          </a:prstGeom>
          <a:noFill/>
        </p:spPr>
        <p:txBody>
          <a:bodyPr wrap="square">
            <a:spAutoFit/>
          </a:bodyPr>
          <a:lstStyle/>
          <a:p>
            <a:pPr algn="l"/>
            <a:r>
              <a:rPr b="0" i="0" sz="750">
                <a:solidFill>
                  <a:srgbClr val="1A1A2E"/>
                </a:solidFill>
              </a:rPr>
              <a:t>- How do users assess trustworthiness of apps?</a:t>
            </a:r>
          </a:p>
        </p:txBody>
      </p:sp>
      <p:sp>
        <p:nvSpPr>
          <p:cNvPr id="36" name="TextBox 35"/>
          <p:cNvSpPr txBox="1"/>
          <p:nvPr/>
        </p:nvSpPr>
        <p:spPr>
          <a:xfrm>
            <a:off x="6259068" y="4023360"/>
            <a:ext cx="2539746" cy="438912"/>
          </a:xfrm>
          <a:prstGeom prst="rect">
            <a:avLst/>
          </a:prstGeom>
          <a:noFill/>
        </p:spPr>
        <p:txBody>
          <a:bodyPr wrap="square">
            <a:spAutoFit/>
          </a:bodyPr>
          <a:lstStyle/>
          <a:p>
            <a:pPr algn="l"/>
            <a:r>
              <a:rPr b="0" i="0" sz="750">
                <a:solidFill>
                  <a:srgbClr val="1A1A2E"/>
                </a:solidFill>
              </a:rPr>
              <a:t>- Does the catalog feel safe or sketchy?</a:t>
            </a:r>
          </a:p>
        </p:txBody>
      </p:sp>
      <p:sp>
        <p:nvSpPr>
          <p:cNvPr id="37" name="TextBox 36"/>
          <p:cNvSpPr txBox="1"/>
          <p:nvPr/>
        </p:nvSpPr>
        <p:spPr>
          <a:xfrm>
            <a:off x="6259068" y="4480560"/>
            <a:ext cx="2539746" cy="438912"/>
          </a:xfrm>
          <a:prstGeom prst="rect">
            <a:avLst/>
          </a:prstGeom>
          <a:noFill/>
        </p:spPr>
        <p:txBody>
          <a:bodyPr wrap="square">
            <a:spAutoFit/>
          </a:bodyPr>
          <a:lstStyle/>
          <a:p>
            <a:pPr algn="l"/>
            <a:r>
              <a:rPr b="0" i="0" sz="750">
                <a:solidFill>
                  <a:srgbClr val="1A1A2E"/>
                </a:solidFill>
              </a:rPr>
              <a:t>- What is the smallest set of apps that drives weekly retention?</a:t>
            </a:r>
          </a:p>
        </p:txBody>
      </p:sp>
      <p:sp>
        <p:nvSpPr>
          <p:cNvPr id="38" name="Rectangle 37"/>
          <p:cNvSpPr/>
          <p:nvPr/>
        </p:nvSpPr>
        <p:spPr>
          <a:xfrm>
            <a:off x="9027414" y="1005840"/>
            <a:ext cx="2795778" cy="5669280"/>
          </a:xfrm>
          <a:prstGeom prst="rect">
            <a:avLst/>
          </a:prstGeom>
          <a:solidFill>
            <a:srgbClr val="D0E8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27414"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100566"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A8</a:t>
            </a:r>
          </a:p>
        </p:txBody>
      </p:sp>
      <p:sp>
        <p:nvSpPr>
          <p:cNvPr id="41" name="TextBox 40"/>
          <p:cNvSpPr txBox="1"/>
          <p:nvPr/>
        </p:nvSpPr>
        <p:spPr>
          <a:xfrm>
            <a:off x="9484614" y="1078992"/>
            <a:ext cx="2292858" cy="347472"/>
          </a:xfrm>
          <a:prstGeom prst="rect">
            <a:avLst/>
          </a:prstGeom>
          <a:noFill/>
        </p:spPr>
        <p:txBody>
          <a:bodyPr wrap="square">
            <a:spAutoFit/>
          </a:bodyPr>
          <a:lstStyle/>
          <a:p>
            <a:pPr algn="l"/>
            <a:r>
              <a:rPr b="1" i="0" sz="800">
                <a:solidFill>
                  <a:srgbClr val="FFFFFF"/>
                </a:solidFill>
              </a:rPr>
              <a:t>In-app money and chat</a:t>
            </a:r>
          </a:p>
        </p:txBody>
      </p:sp>
      <p:sp>
        <p:nvSpPr>
          <p:cNvPr id="42" name="TextBox 41"/>
          <p:cNvSpPr txBox="1"/>
          <p:nvPr/>
        </p:nvSpPr>
        <p:spPr>
          <a:xfrm>
            <a:off x="9118854" y="1572768"/>
            <a:ext cx="2612898" cy="1188720"/>
          </a:xfrm>
          <a:prstGeom prst="rect">
            <a:avLst/>
          </a:prstGeom>
          <a:noFill/>
        </p:spPr>
        <p:txBody>
          <a:bodyPr wrap="square">
            <a:spAutoFit/>
          </a:bodyPr>
          <a:lstStyle/>
          <a:p>
            <a:pPr algn="l"/>
            <a:r>
              <a:rPr b="0" i="1" sz="800">
                <a:solidFill>
                  <a:srgbClr val="1A1A2E"/>
                </a:solidFill>
              </a:rPr>
              <a:t>Sending money in chat is intuitive and increases usage vs separate wallet actions.</a:t>
            </a:r>
          </a:p>
        </p:txBody>
      </p:sp>
      <p:sp>
        <p:nvSpPr>
          <p:cNvPr id="43" name="Rectangle 42"/>
          <p:cNvSpPr/>
          <p:nvPr/>
        </p:nvSpPr>
        <p:spPr>
          <a:xfrm>
            <a:off x="9100566"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18854"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45" name="TextBox 44"/>
          <p:cNvSpPr txBox="1"/>
          <p:nvPr/>
        </p:nvSpPr>
        <p:spPr>
          <a:xfrm>
            <a:off x="9192006" y="3108960"/>
            <a:ext cx="2539746" cy="438912"/>
          </a:xfrm>
          <a:prstGeom prst="rect">
            <a:avLst/>
          </a:prstGeom>
          <a:noFill/>
        </p:spPr>
        <p:txBody>
          <a:bodyPr wrap="square">
            <a:spAutoFit/>
          </a:bodyPr>
          <a:lstStyle/>
          <a:p>
            <a:pPr algn="l"/>
            <a:r>
              <a:rPr b="0" i="0" sz="750">
                <a:solidFill>
                  <a:srgbClr val="1A1A2E"/>
                </a:solidFill>
              </a:rPr>
              <a:t>- Do users understand who is being paid and from which balance?</a:t>
            </a:r>
          </a:p>
        </p:txBody>
      </p:sp>
      <p:sp>
        <p:nvSpPr>
          <p:cNvPr id="46" name="TextBox 45"/>
          <p:cNvSpPr txBox="1"/>
          <p:nvPr/>
        </p:nvSpPr>
        <p:spPr>
          <a:xfrm>
            <a:off x="9192006" y="3566160"/>
            <a:ext cx="2539746" cy="438912"/>
          </a:xfrm>
          <a:prstGeom prst="rect">
            <a:avLst/>
          </a:prstGeom>
          <a:noFill/>
        </p:spPr>
        <p:txBody>
          <a:bodyPr wrap="square">
            <a:spAutoFit/>
          </a:bodyPr>
          <a:lstStyle/>
          <a:p>
            <a:pPr algn="l"/>
            <a:r>
              <a:rPr b="0" i="0" sz="750">
                <a:solidFill>
                  <a:srgbClr val="1A1A2E"/>
                </a:solidFill>
              </a:rPr>
              <a:t>- What mistakes happen (wrong person, wrong amount)?</a:t>
            </a:r>
          </a:p>
        </p:txBody>
      </p:sp>
      <p:sp>
        <p:nvSpPr>
          <p:cNvPr id="47" name="TextBox 46"/>
          <p:cNvSpPr txBox="1"/>
          <p:nvPr/>
        </p:nvSpPr>
        <p:spPr>
          <a:xfrm>
            <a:off x="9192006" y="4023360"/>
            <a:ext cx="2539746" cy="438912"/>
          </a:xfrm>
          <a:prstGeom prst="rect">
            <a:avLst/>
          </a:prstGeom>
          <a:noFill/>
        </p:spPr>
        <p:txBody>
          <a:bodyPr wrap="square">
            <a:spAutoFit/>
          </a:bodyPr>
          <a:lstStyle/>
          <a:p>
            <a:pPr algn="l"/>
            <a:r>
              <a:rPr b="0" i="0" sz="750">
                <a:solidFill>
                  <a:srgbClr val="1A1A2E"/>
                </a:solidFill>
              </a:rPr>
              <a:t>- Does chat increase trust or increase scam risk?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Assumptions + Research Questions  (A9--A12)</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Each assumption is a testable hypothesis. Questions show how to validate or falsify it.</a:t>
            </a:r>
          </a:p>
        </p:txBody>
      </p:sp>
      <p:sp>
        <p:nvSpPr>
          <p:cNvPr id="5" name="Rectangle 4"/>
          <p:cNvSpPr/>
          <p:nvPr/>
        </p:nvSpPr>
        <p:spPr>
          <a:xfrm>
            <a:off x="228600" y="1005840"/>
            <a:ext cx="2795778" cy="5669280"/>
          </a:xfrm>
          <a:prstGeom prst="rect">
            <a:avLst/>
          </a:prstGeom>
          <a:solidFill>
            <a:srgbClr val="FFE0E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1752"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A9</a:t>
            </a:r>
          </a:p>
        </p:txBody>
      </p:sp>
      <p:sp>
        <p:nvSpPr>
          <p:cNvPr id="8" name="TextBox 7"/>
          <p:cNvSpPr txBox="1"/>
          <p:nvPr/>
        </p:nvSpPr>
        <p:spPr>
          <a:xfrm>
            <a:off x="685800" y="1078992"/>
            <a:ext cx="2292858" cy="347472"/>
          </a:xfrm>
          <a:prstGeom prst="rect">
            <a:avLst/>
          </a:prstGeom>
          <a:noFill/>
        </p:spPr>
        <p:txBody>
          <a:bodyPr wrap="square">
            <a:spAutoFit/>
          </a:bodyPr>
          <a:lstStyle/>
          <a:p>
            <a:pPr algn="l"/>
            <a:r>
              <a:rPr b="1" i="0" sz="800">
                <a:solidFill>
                  <a:srgbClr val="FFFFFF"/>
                </a:solidFill>
              </a:rPr>
              <a:t>Trust and scam resistance</a:t>
            </a:r>
          </a:p>
        </p:txBody>
      </p:sp>
      <p:sp>
        <p:nvSpPr>
          <p:cNvPr id="9" name="TextBox 8"/>
          <p:cNvSpPr txBox="1"/>
          <p:nvPr/>
        </p:nvSpPr>
        <p:spPr>
          <a:xfrm>
            <a:off x="320040" y="1572768"/>
            <a:ext cx="2612898" cy="1188720"/>
          </a:xfrm>
          <a:prstGeom prst="rect">
            <a:avLst/>
          </a:prstGeom>
          <a:noFill/>
        </p:spPr>
        <p:txBody>
          <a:bodyPr wrap="square">
            <a:spAutoFit/>
          </a:bodyPr>
          <a:lstStyle/>
          <a:p>
            <a:pPr algn="l"/>
            <a:r>
              <a:rPr b="0" i="1" sz="800">
                <a:solidFill>
                  <a:srgbClr val="1A1A2E"/>
                </a:solidFill>
              </a:rPr>
              <a:t>Users can avoid common scam patterns and understand safety boundaries without becoming paranoid.</a:t>
            </a:r>
          </a:p>
        </p:txBody>
      </p:sp>
      <p:sp>
        <p:nvSpPr>
          <p:cNvPr id="10" name="Rectangle 9"/>
          <p:cNvSpPr/>
          <p:nvPr/>
        </p:nvSpPr>
        <p:spPr>
          <a:xfrm>
            <a:off x="301752"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12" name="TextBox 11"/>
          <p:cNvSpPr txBox="1"/>
          <p:nvPr/>
        </p:nvSpPr>
        <p:spPr>
          <a:xfrm>
            <a:off x="393192" y="3108960"/>
            <a:ext cx="2539746" cy="438912"/>
          </a:xfrm>
          <a:prstGeom prst="rect">
            <a:avLst/>
          </a:prstGeom>
          <a:noFill/>
        </p:spPr>
        <p:txBody>
          <a:bodyPr wrap="square">
            <a:spAutoFit/>
          </a:bodyPr>
          <a:lstStyle/>
          <a:p>
            <a:pPr algn="l"/>
            <a:r>
              <a:rPr b="0" i="0" sz="750">
                <a:solidFill>
                  <a:srgbClr val="1A1A2E"/>
                </a:solidFill>
              </a:rPr>
              <a:t>- What are the top scam vectors in each region?</a:t>
            </a:r>
          </a:p>
        </p:txBody>
      </p:sp>
      <p:sp>
        <p:nvSpPr>
          <p:cNvPr id="13" name="TextBox 12"/>
          <p:cNvSpPr txBox="1"/>
          <p:nvPr/>
        </p:nvSpPr>
        <p:spPr>
          <a:xfrm>
            <a:off x="393192" y="3566160"/>
            <a:ext cx="2539746" cy="438912"/>
          </a:xfrm>
          <a:prstGeom prst="rect">
            <a:avLst/>
          </a:prstGeom>
          <a:noFill/>
        </p:spPr>
        <p:txBody>
          <a:bodyPr wrap="square">
            <a:spAutoFit/>
          </a:bodyPr>
          <a:lstStyle/>
          <a:p>
            <a:pPr algn="l"/>
            <a:r>
              <a:rPr b="0" i="0" sz="750">
                <a:solidFill>
                  <a:srgbClr val="1A1A2E"/>
                </a:solidFill>
              </a:rPr>
              <a:t>- Which UI friction is acceptable before it harms adoption?</a:t>
            </a:r>
          </a:p>
        </p:txBody>
      </p:sp>
      <p:sp>
        <p:nvSpPr>
          <p:cNvPr id="14" name="TextBox 13"/>
          <p:cNvSpPr txBox="1"/>
          <p:nvPr/>
        </p:nvSpPr>
        <p:spPr>
          <a:xfrm>
            <a:off x="393192" y="4023360"/>
            <a:ext cx="2539746" cy="438912"/>
          </a:xfrm>
          <a:prstGeom prst="rect">
            <a:avLst/>
          </a:prstGeom>
          <a:noFill/>
        </p:spPr>
        <p:txBody>
          <a:bodyPr wrap="square">
            <a:spAutoFit/>
          </a:bodyPr>
          <a:lstStyle/>
          <a:p>
            <a:pPr algn="l"/>
            <a:r>
              <a:rPr b="0" i="0" sz="750">
                <a:solidFill>
                  <a:srgbClr val="1A1A2E"/>
                </a:solidFill>
              </a:rPr>
              <a:t>- What social proof signals are credible?</a:t>
            </a:r>
          </a:p>
        </p:txBody>
      </p:sp>
      <p:sp>
        <p:nvSpPr>
          <p:cNvPr id="15" name="TextBox 14"/>
          <p:cNvSpPr txBox="1"/>
          <p:nvPr/>
        </p:nvSpPr>
        <p:spPr>
          <a:xfrm>
            <a:off x="393192" y="4480560"/>
            <a:ext cx="2539746" cy="438912"/>
          </a:xfrm>
          <a:prstGeom prst="rect">
            <a:avLst/>
          </a:prstGeom>
          <a:noFill/>
        </p:spPr>
        <p:txBody>
          <a:bodyPr wrap="square">
            <a:spAutoFit/>
          </a:bodyPr>
          <a:lstStyle/>
          <a:p>
            <a:pPr algn="l"/>
            <a:r>
              <a:rPr b="0" i="0" sz="750">
                <a:solidFill>
                  <a:srgbClr val="1A1A2E"/>
                </a:solidFill>
              </a:rPr>
              <a:t>- Which safety education moments stick?</a:t>
            </a:r>
          </a:p>
        </p:txBody>
      </p:sp>
      <p:sp>
        <p:nvSpPr>
          <p:cNvPr id="16" name="Rectangle 15"/>
          <p:cNvSpPr/>
          <p:nvPr/>
        </p:nvSpPr>
        <p:spPr>
          <a:xfrm>
            <a:off x="3161538" y="1005840"/>
            <a:ext cx="2795778" cy="5669280"/>
          </a:xfrm>
          <a:prstGeom prst="rect">
            <a:avLst/>
          </a:prstGeom>
          <a:solidFill>
            <a:srgbClr val="D0E8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61538"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34690"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A10</a:t>
            </a:r>
          </a:p>
        </p:txBody>
      </p:sp>
      <p:sp>
        <p:nvSpPr>
          <p:cNvPr id="19" name="TextBox 18"/>
          <p:cNvSpPr txBox="1"/>
          <p:nvPr/>
        </p:nvSpPr>
        <p:spPr>
          <a:xfrm>
            <a:off x="3618738" y="1078992"/>
            <a:ext cx="2292858" cy="347472"/>
          </a:xfrm>
          <a:prstGeom prst="rect">
            <a:avLst/>
          </a:prstGeom>
          <a:noFill/>
        </p:spPr>
        <p:txBody>
          <a:bodyPr wrap="square">
            <a:spAutoFit/>
          </a:bodyPr>
          <a:lstStyle/>
          <a:p>
            <a:pPr algn="l"/>
            <a:r>
              <a:rPr b="1" i="0" sz="800">
                <a:solidFill>
                  <a:srgbClr val="FFFFFF"/>
                </a:solidFill>
              </a:rPr>
              <a:t>Language, literacy and comprehension</a:t>
            </a:r>
          </a:p>
        </p:txBody>
      </p:sp>
      <p:sp>
        <p:nvSpPr>
          <p:cNvPr id="20" name="TextBox 19"/>
          <p:cNvSpPr txBox="1"/>
          <p:nvPr/>
        </p:nvSpPr>
        <p:spPr>
          <a:xfrm>
            <a:off x="3252978" y="1572768"/>
            <a:ext cx="2612898" cy="1188720"/>
          </a:xfrm>
          <a:prstGeom prst="rect">
            <a:avLst/>
          </a:prstGeom>
          <a:noFill/>
        </p:spPr>
        <p:txBody>
          <a:bodyPr wrap="square">
            <a:spAutoFit/>
          </a:bodyPr>
          <a:lstStyle/>
          <a:p>
            <a:pPr algn="l"/>
            <a:r>
              <a:rPr b="0" i="1" sz="800">
                <a:solidFill>
                  <a:srgbClr val="1A1A2E"/>
                </a:solidFill>
              </a:rPr>
              <a:t>The product concepts can be understood by users with varying literacy and education levels.</a:t>
            </a:r>
          </a:p>
        </p:txBody>
      </p:sp>
      <p:sp>
        <p:nvSpPr>
          <p:cNvPr id="21" name="Rectangle 20"/>
          <p:cNvSpPr/>
          <p:nvPr/>
        </p:nvSpPr>
        <p:spPr>
          <a:xfrm>
            <a:off x="3234690"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52978"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23" name="TextBox 22"/>
          <p:cNvSpPr txBox="1"/>
          <p:nvPr/>
        </p:nvSpPr>
        <p:spPr>
          <a:xfrm>
            <a:off x="3326130" y="3108960"/>
            <a:ext cx="2539746" cy="438912"/>
          </a:xfrm>
          <a:prstGeom prst="rect">
            <a:avLst/>
          </a:prstGeom>
          <a:noFill/>
        </p:spPr>
        <p:txBody>
          <a:bodyPr wrap="square">
            <a:spAutoFit/>
          </a:bodyPr>
          <a:lstStyle/>
          <a:p>
            <a:pPr algn="l"/>
            <a:r>
              <a:rPr b="0" i="0" sz="750">
                <a:solidFill>
                  <a:srgbClr val="1A1A2E"/>
                </a:solidFill>
              </a:rPr>
              <a:t>- Which terms fail comprehension (federation, backup, guardian)?</a:t>
            </a:r>
          </a:p>
        </p:txBody>
      </p:sp>
      <p:sp>
        <p:nvSpPr>
          <p:cNvPr id="24" name="TextBox 23"/>
          <p:cNvSpPr txBox="1"/>
          <p:nvPr/>
        </p:nvSpPr>
        <p:spPr>
          <a:xfrm>
            <a:off x="3326130" y="3566160"/>
            <a:ext cx="2539746" cy="438912"/>
          </a:xfrm>
          <a:prstGeom prst="rect">
            <a:avLst/>
          </a:prstGeom>
          <a:noFill/>
        </p:spPr>
        <p:txBody>
          <a:bodyPr wrap="square">
            <a:spAutoFit/>
          </a:bodyPr>
          <a:lstStyle/>
          <a:p>
            <a:pPr algn="l"/>
            <a:r>
              <a:rPr b="0" i="0" sz="750">
                <a:solidFill>
                  <a:srgbClr val="1A1A2E"/>
                </a:solidFill>
              </a:rPr>
              <a:t>- What metaphors work locally?</a:t>
            </a:r>
          </a:p>
        </p:txBody>
      </p:sp>
      <p:sp>
        <p:nvSpPr>
          <p:cNvPr id="25" name="TextBox 24"/>
          <p:cNvSpPr txBox="1"/>
          <p:nvPr/>
        </p:nvSpPr>
        <p:spPr>
          <a:xfrm>
            <a:off x="3326130" y="4023360"/>
            <a:ext cx="2539746" cy="438912"/>
          </a:xfrm>
          <a:prstGeom prst="rect">
            <a:avLst/>
          </a:prstGeom>
          <a:noFill/>
        </p:spPr>
        <p:txBody>
          <a:bodyPr wrap="square">
            <a:spAutoFit/>
          </a:bodyPr>
          <a:lstStyle/>
          <a:p>
            <a:pPr algn="l"/>
            <a:r>
              <a:rPr b="0" i="0" sz="750">
                <a:solidFill>
                  <a:srgbClr val="1A1A2E"/>
                </a:solidFill>
              </a:rPr>
              <a:t>- Do icons help or confuse?</a:t>
            </a:r>
          </a:p>
        </p:txBody>
      </p:sp>
      <p:sp>
        <p:nvSpPr>
          <p:cNvPr id="26" name="TextBox 25"/>
          <p:cNvSpPr txBox="1"/>
          <p:nvPr/>
        </p:nvSpPr>
        <p:spPr>
          <a:xfrm>
            <a:off x="3326130" y="4480560"/>
            <a:ext cx="2539746" cy="438912"/>
          </a:xfrm>
          <a:prstGeom prst="rect">
            <a:avLst/>
          </a:prstGeom>
          <a:noFill/>
        </p:spPr>
        <p:txBody>
          <a:bodyPr wrap="square">
            <a:spAutoFit/>
          </a:bodyPr>
          <a:lstStyle/>
          <a:p>
            <a:pPr algn="l"/>
            <a:r>
              <a:rPr b="0" i="0" sz="750">
                <a:solidFill>
                  <a:srgbClr val="1A1A2E"/>
                </a:solidFill>
              </a:rPr>
              <a:t>- What is the minimum viable explanation for each high-stakes concept?</a:t>
            </a:r>
          </a:p>
        </p:txBody>
      </p:sp>
      <p:sp>
        <p:nvSpPr>
          <p:cNvPr id="27" name="Rectangle 26"/>
          <p:cNvSpPr/>
          <p:nvPr/>
        </p:nvSpPr>
        <p:spPr>
          <a:xfrm>
            <a:off x="6094476" y="1005840"/>
            <a:ext cx="2795778" cy="5669280"/>
          </a:xfrm>
          <a:prstGeom prst="rect">
            <a:avLst/>
          </a:prstGeom>
          <a:solidFill>
            <a:srgbClr val="FFE0E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94476"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7628"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A11</a:t>
            </a:r>
          </a:p>
        </p:txBody>
      </p:sp>
      <p:sp>
        <p:nvSpPr>
          <p:cNvPr id="30" name="TextBox 29"/>
          <p:cNvSpPr txBox="1"/>
          <p:nvPr/>
        </p:nvSpPr>
        <p:spPr>
          <a:xfrm>
            <a:off x="6551676" y="1078992"/>
            <a:ext cx="2292858" cy="347472"/>
          </a:xfrm>
          <a:prstGeom prst="rect">
            <a:avLst/>
          </a:prstGeom>
          <a:noFill/>
        </p:spPr>
        <p:txBody>
          <a:bodyPr wrap="square">
            <a:spAutoFit/>
          </a:bodyPr>
          <a:lstStyle/>
          <a:p>
            <a:pPr algn="l"/>
            <a:r>
              <a:rPr b="1" i="0" sz="800">
                <a:solidFill>
                  <a:srgbClr val="FFFFFF"/>
                </a:solidFill>
              </a:rPr>
              <a:t>Device sharing and privacy</a:t>
            </a:r>
          </a:p>
        </p:txBody>
      </p:sp>
      <p:sp>
        <p:nvSpPr>
          <p:cNvPr id="31" name="TextBox 30"/>
          <p:cNvSpPr txBox="1"/>
          <p:nvPr/>
        </p:nvSpPr>
        <p:spPr>
          <a:xfrm>
            <a:off x="6185916" y="1572768"/>
            <a:ext cx="2612898" cy="1188720"/>
          </a:xfrm>
          <a:prstGeom prst="rect">
            <a:avLst/>
          </a:prstGeom>
          <a:noFill/>
        </p:spPr>
        <p:txBody>
          <a:bodyPr wrap="square">
            <a:spAutoFit/>
          </a:bodyPr>
          <a:lstStyle/>
          <a:p>
            <a:pPr algn="l"/>
            <a:r>
              <a:rPr b="0" i="1" sz="800">
                <a:solidFill>
                  <a:srgbClr val="1A1A2E"/>
                </a:solidFill>
              </a:rPr>
              <a:t>The app remains safe and usable in device-sharing households (common in some contexts).</a:t>
            </a:r>
          </a:p>
        </p:txBody>
      </p:sp>
      <p:sp>
        <p:nvSpPr>
          <p:cNvPr id="32" name="Rectangle 31"/>
          <p:cNvSpPr/>
          <p:nvPr/>
        </p:nvSpPr>
        <p:spPr>
          <a:xfrm>
            <a:off x="6167628"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5916"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34" name="TextBox 33"/>
          <p:cNvSpPr txBox="1"/>
          <p:nvPr/>
        </p:nvSpPr>
        <p:spPr>
          <a:xfrm>
            <a:off x="6259068" y="3108960"/>
            <a:ext cx="2539746" cy="438912"/>
          </a:xfrm>
          <a:prstGeom prst="rect">
            <a:avLst/>
          </a:prstGeom>
          <a:noFill/>
        </p:spPr>
        <p:txBody>
          <a:bodyPr wrap="square">
            <a:spAutoFit/>
          </a:bodyPr>
          <a:lstStyle/>
          <a:p>
            <a:pPr algn="l"/>
            <a:r>
              <a:rPr b="0" i="0" sz="750">
                <a:solidFill>
                  <a:srgbClr val="1A1A2E"/>
                </a:solidFill>
              </a:rPr>
              <a:t>- Do users share phones?</a:t>
            </a:r>
          </a:p>
        </p:txBody>
      </p:sp>
      <p:sp>
        <p:nvSpPr>
          <p:cNvPr id="35" name="TextBox 34"/>
          <p:cNvSpPr txBox="1"/>
          <p:nvPr/>
        </p:nvSpPr>
        <p:spPr>
          <a:xfrm>
            <a:off x="6259068" y="3566160"/>
            <a:ext cx="2539746" cy="438912"/>
          </a:xfrm>
          <a:prstGeom prst="rect">
            <a:avLst/>
          </a:prstGeom>
          <a:noFill/>
        </p:spPr>
        <p:txBody>
          <a:bodyPr wrap="square">
            <a:spAutoFit/>
          </a:bodyPr>
          <a:lstStyle/>
          <a:p>
            <a:pPr algn="l"/>
            <a:r>
              <a:rPr b="0" i="0" sz="750">
                <a:solidFill>
                  <a:srgbClr val="1A1A2E"/>
                </a:solidFill>
              </a:rPr>
              <a:t>- What content should be hidden by default?</a:t>
            </a:r>
          </a:p>
        </p:txBody>
      </p:sp>
      <p:sp>
        <p:nvSpPr>
          <p:cNvPr id="36" name="TextBox 35"/>
          <p:cNvSpPr txBox="1"/>
          <p:nvPr/>
        </p:nvSpPr>
        <p:spPr>
          <a:xfrm>
            <a:off x="6259068" y="4023360"/>
            <a:ext cx="2539746" cy="438912"/>
          </a:xfrm>
          <a:prstGeom prst="rect">
            <a:avLst/>
          </a:prstGeom>
          <a:noFill/>
        </p:spPr>
        <p:txBody>
          <a:bodyPr wrap="square">
            <a:spAutoFit/>
          </a:bodyPr>
          <a:lstStyle/>
          <a:p>
            <a:pPr algn="l"/>
            <a:r>
              <a:rPr b="0" i="0" sz="750">
                <a:solidFill>
                  <a:srgbClr val="1A1A2E"/>
                </a:solidFill>
              </a:rPr>
              <a:t>- What privacy modes are needed?</a:t>
            </a:r>
          </a:p>
        </p:txBody>
      </p:sp>
      <p:sp>
        <p:nvSpPr>
          <p:cNvPr id="37" name="TextBox 36"/>
          <p:cNvSpPr txBox="1"/>
          <p:nvPr/>
        </p:nvSpPr>
        <p:spPr>
          <a:xfrm>
            <a:off x="6259068" y="4480560"/>
            <a:ext cx="2539746" cy="438912"/>
          </a:xfrm>
          <a:prstGeom prst="rect">
            <a:avLst/>
          </a:prstGeom>
          <a:noFill/>
        </p:spPr>
        <p:txBody>
          <a:bodyPr wrap="square">
            <a:spAutoFit/>
          </a:bodyPr>
          <a:lstStyle/>
          <a:p>
            <a:pPr algn="l"/>
            <a:r>
              <a:rPr b="0" i="0" sz="750">
                <a:solidFill>
                  <a:srgbClr val="1A1A2E"/>
                </a:solidFill>
              </a:rPr>
              <a:t>- What threats exist from family or community power dynamics?</a:t>
            </a:r>
          </a:p>
        </p:txBody>
      </p:sp>
      <p:sp>
        <p:nvSpPr>
          <p:cNvPr id="38" name="Rectangle 37"/>
          <p:cNvSpPr/>
          <p:nvPr/>
        </p:nvSpPr>
        <p:spPr>
          <a:xfrm>
            <a:off x="9027414" y="1005840"/>
            <a:ext cx="2795778" cy="5669280"/>
          </a:xfrm>
          <a:prstGeom prst="rect">
            <a:avLst/>
          </a:prstGeom>
          <a:solidFill>
            <a:srgbClr val="FFF3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27414"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100566"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A12</a:t>
            </a:r>
          </a:p>
        </p:txBody>
      </p:sp>
      <p:sp>
        <p:nvSpPr>
          <p:cNvPr id="41" name="TextBox 40"/>
          <p:cNvSpPr txBox="1"/>
          <p:nvPr/>
        </p:nvSpPr>
        <p:spPr>
          <a:xfrm>
            <a:off x="9484614" y="1078992"/>
            <a:ext cx="2292858" cy="347472"/>
          </a:xfrm>
          <a:prstGeom prst="rect">
            <a:avLst/>
          </a:prstGeom>
          <a:noFill/>
        </p:spPr>
        <p:txBody>
          <a:bodyPr wrap="square">
            <a:spAutoFit/>
          </a:bodyPr>
          <a:lstStyle/>
          <a:p>
            <a:pPr algn="l"/>
            <a:r>
              <a:rPr b="1" i="0" sz="800">
                <a:solidFill>
                  <a:srgbClr val="FFFFFF"/>
                </a:solidFill>
              </a:rPr>
              <a:t>Community governance and support</a:t>
            </a:r>
          </a:p>
        </p:txBody>
      </p:sp>
      <p:sp>
        <p:nvSpPr>
          <p:cNvPr id="42" name="TextBox 41"/>
          <p:cNvSpPr txBox="1"/>
          <p:nvPr/>
        </p:nvSpPr>
        <p:spPr>
          <a:xfrm>
            <a:off x="9118854" y="1572768"/>
            <a:ext cx="2612898" cy="1188720"/>
          </a:xfrm>
          <a:prstGeom prst="rect">
            <a:avLst/>
          </a:prstGeom>
          <a:noFill/>
        </p:spPr>
        <p:txBody>
          <a:bodyPr wrap="square">
            <a:spAutoFit/>
          </a:bodyPr>
          <a:lstStyle/>
          <a:p>
            <a:pPr algn="l"/>
            <a:r>
              <a:rPr b="0" i="1" sz="800">
                <a:solidFill>
                  <a:srgbClr val="1A1A2E"/>
                </a:solidFill>
              </a:rPr>
              <a:t>Communities and federations can provide support and governance without causing confusion about accountability.</a:t>
            </a:r>
          </a:p>
        </p:txBody>
      </p:sp>
      <p:sp>
        <p:nvSpPr>
          <p:cNvPr id="43" name="Rectangle 42"/>
          <p:cNvSpPr/>
          <p:nvPr/>
        </p:nvSpPr>
        <p:spPr>
          <a:xfrm>
            <a:off x="9100566"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18854"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45" name="TextBox 44"/>
          <p:cNvSpPr txBox="1"/>
          <p:nvPr/>
        </p:nvSpPr>
        <p:spPr>
          <a:xfrm>
            <a:off x="9192006" y="3108960"/>
            <a:ext cx="2539746" cy="438912"/>
          </a:xfrm>
          <a:prstGeom prst="rect">
            <a:avLst/>
          </a:prstGeom>
          <a:noFill/>
        </p:spPr>
        <p:txBody>
          <a:bodyPr wrap="square">
            <a:spAutoFit/>
          </a:bodyPr>
          <a:lstStyle/>
          <a:p>
            <a:pPr algn="l"/>
            <a:r>
              <a:rPr b="0" i="0" sz="750">
                <a:solidFill>
                  <a:srgbClr val="1A1A2E"/>
                </a:solidFill>
              </a:rPr>
              <a:t>- When something goes wrong, who do users believe is responsible?</a:t>
            </a:r>
          </a:p>
        </p:txBody>
      </p:sp>
      <p:sp>
        <p:nvSpPr>
          <p:cNvPr id="46" name="TextBox 45"/>
          <p:cNvSpPr txBox="1"/>
          <p:nvPr/>
        </p:nvSpPr>
        <p:spPr>
          <a:xfrm>
            <a:off x="9192006" y="3566160"/>
            <a:ext cx="2539746" cy="438912"/>
          </a:xfrm>
          <a:prstGeom prst="rect">
            <a:avLst/>
          </a:prstGeom>
          <a:noFill/>
        </p:spPr>
        <p:txBody>
          <a:bodyPr wrap="square">
            <a:spAutoFit/>
          </a:bodyPr>
          <a:lstStyle/>
          <a:p>
            <a:pPr algn="l"/>
            <a:r>
              <a:rPr b="0" i="0" sz="750">
                <a:solidFill>
                  <a:srgbClr val="1A1A2E"/>
                </a:solidFill>
              </a:rPr>
              <a:t>- What support path do they naturally take?</a:t>
            </a:r>
          </a:p>
        </p:txBody>
      </p:sp>
      <p:sp>
        <p:nvSpPr>
          <p:cNvPr id="47" name="TextBox 46"/>
          <p:cNvSpPr txBox="1"/>
          <p:nvPr/>
        </p:nvSpPr>
        <p:spPr>
          <a:xfrm>
            <a:off x="9192006" y="4023360"/>
            <a:ext cx="2539746" cy="438912"/>
          </a:xfrm>
          <a:prstGeom prst="rect">
            <a:avLst/>
          </a:prstGeom>
          <a:noFill/>
        </p:spPr>
        <p:txBody>
          <a:bodyPr wrap="square">
            <a:spAutoFit/>
          </a:bodyPr>
          <a:lstStyle/>
          <a:p>
            <a:pPr algn="l"/>
            <a:r>
              <a:rPr b="0" i="0" sz="750">
                <a:solidFill>
                  <a:srgbClr val="1A1A2E"/>
                </a:solidFill>
              </a:rPr>
              <a:t>- What UX makes where-to-get-help unambiguous?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Assumptions + Research Questions  (A13--A16)</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Each assumption is a testable hypothesis. Questions show how to validate or falsify it.</a:t>
            </a:r>
          </a:p>
        </p:txBody>
      </p:sp>
      <p:sp>
        <p:nvSpPr>
          <p:cNvPr id="5" name="Rectangle 4"/>
          <p:cNvSpPr/>
          <p:nvPr/>
        </p:nvSpPr>
        <p:spPr>
          <a:xfrm>
            <a:off x="228600" y="1005840"/>
            <a:ext cx="2795778" cy="5669280"/>
          </a:xfrm>
          <a:prstGeom prst="rect">
            <a:avLst/>
          </a:prstGeom>
          <a:solidFill>
            <a:srgbClr val="FFF3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1752"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A13</a:t>
            </a:r>
          </a:p>
        </p:txBody>
      </p:sp>
      <p:sp>
        <p:nvSpPr>
          <p:cNvPr id="8" name="TextBox 7"/>
          <p:cNvSpPr txBox="1"/>
          <p:nvPr/>
        </p:nvSpPr>
        <p:spPr>
          <a:xfrm>
            <a:off x="685800" y="1078992"/>
            <a:ext cx="2292858" cy="347472"/>
          </a:xfrm>
          <a:prstGeom prst="rect">
            <a:avLst/>
          </a:prstGeom>
          <a:noFill/>
        </p:spPr>
        <p:txBody>
          <a:bodyPr wrap="square">
            <a:spAutoFit/>
          </a:bodyPr>
          <a:lstStyle/>
          <a:p>
            <a:pPr algn="l"/>
            <a:r>
              <a:rPr b="1" i="0" sz="800">
                <a:solidFill>
                  <a:srgbClr val="FFFFFF"/>
                </a:solidFill>
              </a:rPr>
              <a:t>Cross-region generalisation</a:t>
            </a:r>
          </a:p>
        </p:txBody>
      </p:sp>
      <p:sp>
        <p:nvSpPr>
          <p:cNvPr id="9" name="TextBox 8"/>
          <p:cNvSpPr txBox="1"/>
          <p:nvPr/>
        </p:nvSpPr>
        <p:spPr>
          <a:xfrm>
            <a:off x="320040" y="1572768"/>
            <a:ext cx="2612898" cy="1188720"/>
          </a:xfrm>
          <a:prstGeom prst="rect">
            <a:avLst/>
          </a:prstGeom>
          <a:noFill/>
        </p:spPr>
        <p:txBody>
          <a:bodyPr wrap="square">
            <a:spAutoFit/>
          </a:bodyPr>
          <a:lstStyle/>
          <a:p>
            <a:pPr algn="l"/>
            <a:r>
              <a:rPr b="0" i="1" sz="800">
                <a:solidFill>
                  <a:srgbClr val="1A1A2E"/>
                </a:solidFill>
              </a:rPr>
              <a:t>Some UX patterns generalise across regions; others must be localised.</a:t>
            </a:r>
          </a:p>
        </p:txBody>
      </p:sp>
      <p:sp>
        <p:nvSpPr>
          <p:cNvPr id="10" name="Rectangle 9"/>
          <p:cNvSpPr/>
          <p:nvPr/>
        </p:nvSpPr>
        <p:spPr>
          <a:xfrm>
            <a:off x="301752"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12" name="TextBox 11"/>
          <p:cNvSpPr txBox="1"/>
          <p:nvPr/>
        </p:nvSpPr>
        <p:spPr>
          <a:xfrm>
            <a:off x="393192" y="3108960"/>
            <a:ext cx="2539746" cy="438912"/>
          </a:xfrm>
          <a:prstGeom prst="rect">
            <a:avLst/>
          </a:prstGeom>
          <a:noFill/>
        </p:spPr>
        <p:txBody>
          <a:bodyPr wrap="square">
            <a:spAutoFit/>
          </a:bodyPr>
          <a:lstStyle/>
          <a:p>
            <a:pPr algn="l"/>
            <a:r>
              <a:rPr b="0" i="0" sz="750">
                <a:solidFill>
                  <a:srgbClr val="1A1A2E"/>
                </a:solidFill>
              </a:rPr>
              <a:t>- Which behaviours are universal (trust cues, fear triggers)?</a:t>
            </a:r>
          </a:p>
        </p:txBody>
      </p:sp>
      <p:sp>
        <p:nvSpPr>
          <p:cNvPr id="13" name="TextBox 12"/>
          <p:cNvSpPr txBox="1"/>
          <p:nvPr/>
        </p:nvSpPr>
        <p:spPr>
          <a:xfrm>
            <a:off x="393192" y="3566160"/>
            <a:ext cx="2539746" cy="438912"/>
          </a:xfrm>
          <a:prstGeom prst="rect">
            <a:avLst/>
          </a:prstGeom>
          <a:noFill/>
        </p:spPr>
        <p:txBody>
          <a:bodyPr wrap="square">
            <a:spAutoFit/>
          </a:bodyPr>
          <a:lstStyle/>
          <a:p>
            <a:pPr algn="l"/>
            <a:r>
              <a:rPr b="0" i="0" sz="750">
                <a:solidFill>
                  <a:srgbClr val="1A1A2E"/>
                </a:solidFill>
              </a:rPr>
              <a:t>- Which are regional (financial rails, norms)?</a:t>
            </a:r>
          </a:p>
        </p:txBody>
      </p:sp>
      <p:sp>
        <p:nvSpPr>
          <p:cNvPr id="14" name="TextBox 13"/>
          <p:cNvSpPr txBox="1"/>
          <p:nvPr/>
        </p:nvSpPr>
        <p:spPr>
          <a:xfrm>
            <a:off x="393192" y="4023360"/>
            <a:ext cx="2539746" cy="438912"/>
          </a:xfrm>
          <a:prstGeom prst="rect">
            <a:avLst/>
          </a:prstGeom>
          <a:noFill/>
        </p:spPr>
        <p:txBody>
          <a:bodyPr wrap="square">
            <a:spAutoFit/>
          </a:bodyPr>
          <a:lstStyle/>
          <a:p>
            <a:pPr algn="l"/>
            <a:r>
              <a:rPr b="0" i="0" sz="750">
                <a:solidFill>
                  <a:srgbClr val="1A1A2E"/>
                </a:solidFill>
              </a:rPr>
              <a:t>- What is the minimum sample strategy to identify universal vs local?</a:t>
            </a:r>
          </a:p>
        </p:txBody>
      </p:sp>
      <p:sp>
        <p:nvSpPr>
          <p:cNvPr id="15" name="TextBox 14"/>
          <p:cNvSpPr txBox="1"/>
          <p:nvPr/>
        </p:nvSpPr>
        <p:spPr>
          <a:xfrm>
            <a:off x="393192" y="4480560"/>
            <a:ext cx="2539746" cy="438912"/>
          </a:xfrm>
          <a:prstGeom prst="rect">
            <a:avLst/>
          </a:prstGeom>
          <a:noFill/>
        </p:spPr>
        <p:txBody>
          <a:bodyPr wrap="square">
            <a:spAutoFit/>
          </a:bodyPr>
          <a:lstStyle/>
          <a:p>
            <a:pPr algn="l"/>
            <a:r>
              <a:rPr b="0" i="0" sz="750">
                <a:solidFill>
                  <a:srgbClr val="1A1A2E"/>
                </a:solidFill>
              </a:rPr>
              <a:t>- How do we avoid overfitting to one market?</a:t>
            </a:r>
          </a:p>
        </p:txBody>
      </p:sp>
      <p:sp>
        <p:nvSpPr>
          <p:cNvPr id="16" name="Rectangle 15"/>
          <p:cNvSpPr/>
          <p:nvPr/>
        </p:nvSpPr>
        <p:spPr>
          <a:xfrm>
            <a:off x="3161538" y="1005840"/>
            <a:ext cx="2795778" cy="5669280"/>
          </a:xfrm>
          <a:prstGeom prst="rect">
            <a:avLst/>
          </a:prstGeom>
          <a:solidFill>
            <a:srgbClr val="FFF3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61538"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34690"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A14</a:t>
            </a:r>
          </a:p>
        </p:txBody>
      </p:sp>
      <p:sp>
        <p:nvSpPr>
          <p:cNvPr id="19" name="TextBox 18"/>
          <p:cNvSpPr txBox="1"/>
          <p:nvPr/>
        </p:nvSpPr>
        <p:spPr>
          <a:xfrm>
            <a:off x="3618738" y="1078992"/>
            <a:ext cx="2292858" cy="347472"/>
          </a:xfrm>
          <a:prstGeom prst="rect">
            <a:avLst/>
          </a:prstGeom>
          <a:noFill/>
        </p:spPr>
        <p:txBody>
          <a:bodyPr wrap="square">
            <a:spAutoFit/>
          </a:bodyPr>
          <a:lstStyle/>
          <a:p>
            <a:pPr algn="l"/>
            <a:r>
              <a:rPr b="1" i="0" sz="800">
                <a:solidFill>
                  <a:srgbClr val="FFFFFF"/>
                </a:solidFill>
              </a:rPr>
              <a:t>Western vs Global South segmentation</a:t>
            </a:r>
          </a:p>
        </p:txBody>
      </p:sp>
      <p:sp>
        <p:nvSpPr>
          <p:cNvPr id="20" name="TextBox 19"/>
          <p:cNvSpPr txBox="1"/>
          <p:nvPr/>
        </p:nvSpPr>
        <p:spPr>
          <a:xfrm>
            <a:off x="3252978" y="1572768"/>
            <a:ext cx="2612898" cy="1188720"/>
          </a:xfrm>
          <a:prstGeom prst="rect">
            <a:avLst/>
          </a:prstGeom>
          <a:noFill/>
        </p:spPr>
        <p:txBody>
          <a:bodyPr wrap="square">
            <a:spAutoFit/>
          </a:bodyPr>
          <a:lstStyle/>
          <a:p>
            <a:pPr algn="l"/>
            <a:r>
              <a:rPr b="0" i="1" sz="800">
                <a:solidFill>
                  <a:srgbClr val="1A1A2E"/>
                </a:solidFill>
              </a:rPr>
              <a:t>Western users and Global South users need different onboarding, terminology, or defaults -- but not two totally different products.</a:t>
            </a:r>
          </a:p>
        </p:txBody>
      </p:sp>
      <p:sp>
        <p:nvSpPr>
          <p:cNvPr id="21" name="Rectangle 20"/>
          <p:cNvSpPr/>
          <p:nvPr/>
        </p:nvSpPr>
        <p:spPr>
          <a:xfrm>
            <a:off x="3234690"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52978"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23" name="TextBox 22"/>
          <p:cNvSpPr txBox="1"/>
          <p:nvPr/>
        </p:nvSpPr>
        <p:spPr>
          <a:xfrm>
            <a:off x="3326130" y="3108960"/>
            <a:ext cx="2539746" cy="438912"/>
          </a:xfrm>
          <a:prstGeom prst="rect">
            <a:avLst/>
          </a:prstGeom>
          <a:noFill/>
        </p:spPr>
        <p:txBody>
          <a:bodyPr wrap="square">
            <a:spAutoFit/>
          </a:bodyPr>
          <a:lstStyle/>
          <a:p>
            <a:pPr algn="l"/>
            <a:r>
              <a:rPr b="0" i="0" sz="750">
                <a:solidFill>
                  <a:srgbClr val="1A1A2E"/>
                </a:solidFill>
              </a:rPr>
              <a:t>- Which steps differ most by segment?</a:t>
            </a:r>
          </a:p>
        </p:txBody>
      </p:sp>
      <p:sp>
        <p:nvSpPr>
          <p:cNvPr id="24" name="TextBox 23"/>
          <p:cNvSpPr txBox="1"/>
          <p:nvPr/>
        </p:nvSpPr>
        <p:spPr>
          <a:xfrm>
            <a:off x="3326130" y="3566160"/>
            <a:ext cx="2539746" cy="438912"/>
          </a:xfrm>
          <a:prstGeom prst="rect">
            <a:avLst/>
          </a:prstGeom>
          <a:noFill/>
        </p:spPr>
        <p:txBody>
          <a:bodyPr wrap="square">
            <a:spAutoFit/>
          </a:bodyPr>
          <a:lstStyle/>
          <a:p>
            <a:pPr algn="l"/>
            <a:r>
              <a:rPr b="0" i="0" sz="750">
                <a:solidFill>
                  <a:srgbClr val="1A1A2E"/>
                </a:solidFill>
              </a:rPr>
              <a:t>- What defaults should change (privacy, backup prompts, education)?</a:t>
            </a:r>
          </a:p>
        </p:txBody>
      </p:sp>
      <p:sp>
        <p:nvSpPr>
          <p:cNvPr id="25" name="TextBox 24"/>
          <p:cNvSpPr txBox="1"/>
          <p:nvPr/>
        </p:nvSpPr>
        <p:spPr>
          <a:xfrm>
            <a:off x="3326130" y="4023360"/>
            <a:ext cx="2539746" cy="438912"/>
          </a:xfrm>
          <a:prstGeom prst="rect">
            <a:avLst/>
          </a:prstGeom>
          <a:noFill/>
        </p:spPr>
        <p:txBody>
          <a:bodyPr wrap="square">
            <a:spAutoFit/>
          </a:bodyPr>
          <a:lstStyle/>
          <a:p>
            <a:pPr algn="l"/>
            <a:r>
              <a:rPr b="0" i="0" sz="750">
                <a:solidFill>
                  <a:srgbClr val="1A1A2E"/>
                </a:solidFill>
              </a:rPr>
              <a:t>- Can a single flow adapt with progressive disclosure?</a:t>
            </a:r>
          </a:p>
        </p:txBody>
      </p:sp>
      <p:sp>
        <p:nvSpPr>
          <p:cNvPr id="26" name="TextBox 25"/>
          <p:cNvSpPr txBox="1"/>
          <p:nvPr/>
        </p:nvSpPr>
        <p:spPr>
          <a:xfrm>
            <a:off x="3326130" y="4480560"/>
            <a:ext cx="2539746" cy="438912"/>
          </a:xfrm>
          <a:prstGeom prst="rect">
            <a:avLst/>
          </a:prstGeom>
          <a:noFill/>
        </p:spPr>
        <p:txBody>
          <a:bodyPr wrap="square">
            <a:spAutoFit/>
          </a:bodyPr>
          <a:lstStyle/>
          <a:p>
            <a:pPr algn="l"/>
            <a:r>
              <a:rPr b="0" i="0" sz="750">
                <a:solidFill>
                  <a:srgbClr val="1A1A2E"/>
                </a:solidFill>
              </a:rPr>
              <a:t>- Where do segments share core needs?</a:t>
            </a:r>
          </a:p>
        </p:txBody>
      </p:sp>
      <p:sp>
        <p:nvSpPr>
          <p:cNvPr id="27" name="Rectangle 26"/>
          <p:cNvSpPr/>
          <p:nvPr/>
        </p:nvSpPr>
        <p:spPr>
          <a:xfrm>
            <a:off x="6094476" y="1005840"/>
            <a:ext cx="2795778" cy="5669280"/>
          </a:xfrm>
          <a:prstGeom prst="rect">
            <a:avLst/>
          </a:prstGeom>
          <a:solidFill>
            <a:srgbClr val="FFF3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94476"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67628"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A15</a:t>
            </a:r>
          </a:p>
        </p:txBody>
      </p:sp>
      <p:sp>
        <p:nvSpPr>
          <p:cNvPr id="30" name="TextBox 29"/>
          <p:cNvSpPr txBox="1"/>
          <p:nvPr/>
        </p:nvSpPr>
        <p:spPr>
          <a:xfrm>
            <a:off x="6551676" y="1078992"/>
            <a:ext cx="2292858" cy="347472"/>
          </a:xfrm>
          <a:prstGeom prst="rect">
            <a:avLst/>
          </a:prstGeom>
          <a:noFill/>
        </p:spPr>
        <p:txBody>
          <a:bodyPr wrap="square">
            <a:spAutoFit/>
          </a:bodyPr>
          <a:lstStyle/>
          <a:p>
            <a:pPr algn="l"/>
            <a:r>
              <a:rPr b="1" i="0" sz="800">
                <a:solidFill>
                  <a:srgbClr val="FFFFFF"/>
                </a:solidFill>
              </a:rPr>
              <a:t>Evidence threshold</a:t>
            </a:r>
          </a:p>
        </p:txBody>
      </p:sp>
      <p:sp>
        <p:nvSpPr>
          <p:cNvPr id="31" name="TextBox 30"/>
          <p:cNvSpPr txBox="1"/>
          <p:nvPr/>
        </p:nvSpPr>
        <p:spPr>
          <a:xfrm>
            <a:off x="6185916" y="1572768"/>
            <a:ext cx="2612898" cy="1188720"/>
          </a:xfrm>
          <a:prstGeom prst="rect">
            <a:avLst/>
          </a:prstGeom>
          <a:noFill/>
        </p:spPr>
        <p:txBody>
          <a:bodyPr wrap="square">
            <a:spAutoFit/>
          </a:bodyPr>
          <a:lstStyle/>
          <a:p>
            <a:pPr algn="l"/>
            <a:r>
              <a:rPr b="0" i="1" sz="800">
                <a:solidFill>
                  <a:srgbClr val="1A1A2E"/>
                </a:solidFill>
              </a:rPr>
              <a:t>The org can define validated-enough evidence thresholds per decision so shipping is not blocked by perfection.</a:t>
            </a:r>
          </a:p>
        </p:txBody>
      </p:sp>
      <p:sp>
        <p:nvSpPr>
          <p:cNvPr id="32" name="Rectangle 31"/>
          <p:cNvSpPr/>
          <p:nvPr/>
        </p:nvSpPr>
        <p:spPr>
          <a:xfrm>
            <a:off x="6167628"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85916"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34" name="TextBox 33"/>
          <p:cNvSpPr txBox="1"/>
          <p:nvPr/>
        </p:nvSpPr>
        <p:spPr>
          <a:xfrm>
            <a:off x="6259068" y="3108960"/>
            <a:ext cx="2539746" cy="438912"/>
          </a:xfrm>
          <a:prstGeom prst="rect">
            <a:avLst/>
          </a:prstGeom>
          <a:noFill/>
        </p:spPr>
        <p:txBody>
          <a:bodyPr wrap="square">
            <a:spAutoFit/>
          </a:bodyPr>
          <a:lstStyle/>
          <a:p>
            <a:pPr algn="l"/>
            <a:r>
              <a:rPr b="0" i="0" sz="750">
                <a:solidFill>
                  <a:srgbClr val="1A1A2E"/>
                </a:solidFill>
              </a:rPr>
              <a:t>- Which decisions require high confidence (recovery, custody)?</a:t>
            </a:r>
          </a:p>
        </p:txBody>
      </p:sp>
      <p:sp>
        <p:nvSpPr>
          <p:cNvPr id="35" name="TextBox 34"/>
          <p:cNvSpPr txBox="1"/>
          <p:nvPr/>
        </p:nvSpPr>
        <p:spPr>
          <a:xfrm>
            <a:off x="6259068" y="3566160"/>
            <a:ext cx="2539746" cy="438912"/>
          </a:xfrm>
          <a:prstGeom prst="rect">
            <a:avLst/>
          </a:prstGeom>
          <a:noFill/>
        </p:spPr>
        <p:txBody>
          <a:bodyPr wrap="square">
            <a:spAutoFit/>
          </a:bodyPr>
          <a:lstStyle/>
          <a:p>
            <a:pPr algn="l"/>
            <a:r>
              <a:rPr b="0" i="0" sz="750">
                <a:solidFill>
                  <a:srgbClr val="1A1A2E"/>
                </a:solidFill>
              </a:rPr>
              <a:t>- Which can ship as experiments?</a:t>
            </a:r>
          </a:p>
        </p:txBody>
      </p:sp>
      <p:sp>
        <p:nvSpPr>
          <p:cNvPr id="36" name="TextBox 35"/>
          <p:cNvSpPr txBox="1"/>
          <p:nvPr/>
        </p:nvSpPr>
        <p:spPr>
          <a:xfrm>
            <a:off x="6259068" y="4023360"/>
            <a:ext cx="2539746" cy="438912"/>
          </a:xfrm>
          <a:prstGeom prst="rect">
            <a:avLst/>
          </a:prstGeom>
          <a:noFill/>
        </p:spPr>
        <p:txBody>
          <a:bodyPr wrap="square">
            <a:spAutoFit/>
          </a:bodyPr>
          <a:lstStyle/>
          <a:p>
            <a:pPr algn="l"/>
            <a:r>
              <a:rPr b="0" i="0" sz="750">
                <a:solidFill>
                  <a:srgbClr val="1A1A2E"/>
                </a:solidFill>
              </a:rPr>
              <a:t>- What counts as success (task success, comprehension, trust rating)?</a:t>
            </a:r>
          </a:p>
        </p:txBody>
      </p:sp>
      <p:sp>
        <p:nvSpPr>
          <p:cNvPr id="37" name="TextBox 36"/>
          <p:cNvSpPr txBox="1"/>
          <p:nvPr/>
        </p:nvSpPr>
        <p:spPr>
          <a:xfrm>
            <a:off x="6259068" y="4480560"/>
            <a:ext cx="2539746" cy="438912"/>
          </a:xfrm>
          <a:prstGeom prst="rect">
            <a:avLst/>
          </a:prstGeom>
          <a:noFill/>
        </p:spPr>
        <p:txBody>
          <a:bodyPr wrap="square">
            <a:spAutoFit/>
          </a:bodyPr>
          <a:lstStyle/>
          <a:p>
            <a:pPr algn="l"/>
            <a:r>
              <a:rPr b="0" i="0" sz="750">
                <a:solidFill>
                  <a:srgbClr val="1A1A2E"/>
                </a:solidFill>
              </a:rPr>
              <a:t>- How do we express confidence levels to engineers and leadership?</a:t>
            </a:r>
          </a:p>
        </p:txBody>
      </p:sp>
      <p:sp>
        <p:nvSpPr>
          <p:cNvPr id="38" name="Rectangle 37"/>
          <p:cNvSpPr/>
          <p:nvPr/>
        </p:nvSpPr>
        <p:spPr>
          <a:xfrm>
            <a:off x="9027414" y="1005840"/>
            <a:ext cx="2795778" cy="5669280"/>
          </a:xfrm>
          <a:prstGeom prst="rect">
            <a:avLst/>
          </a:prstGeom>
          <a:solidFill>
            <a:srgbClr val="FFF3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027414" y="1005840"/>
            <a:ext cx="2795778"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100566" y="1133856"/>
            <a:ext cx="347472"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800">
                <a:solidFill>
                  <a:srgbClr val="FFFFFF"/>
                </a:solidFill>
              </a:rPr>
              <a:t>A16</a:t>
            </a:r>
          </a:p>
        </p:txBody>
      </p:sp>
      <p:sp>
        <p:nvSpPr>
          <p:cNvPr id="41" name="TextBox 40"/>
          <p:cNvSpPr txBox="1"/>
          <p:nvPr/>
        </p:nvSpPr>
        <p:spPr>
          <a:xfrm>
            <a:off x="9484614" y="1078992"/>
            <a:ext cx="2292858" cy="347472"/>
          </a:xfrm>
          <a:prstGeom prst="rect">
            <a:avLst/>
          </a:prstGeom>
          <a:noFill/>
        </p:spPr>
        <p:txBody>
          <a:bodyPr wrap="square">
            <a:spAutoFit/>
          </a:bodyPr>
          <a:lstStyle/>
          <a:p>
            <a:pPr algn="l"/>
            <a:r>
              <a:rPr b="1" i="0" sz="800">
                <a:solidFill>
                  <a:srgbClr val="FFFFFF"/>
                </a:solidFill>
              </a:rPr>
              <a:t>Roadmap alignment</a:t>
            </a:r>
          </a:p>
        </p:txBody>
      </p:sp>
      <p:sp>
        <p:nvSpPr>
          <p:cNvPr id="42" name="TextBox 41"/>
          <p:cNvSpPr txBox="1"/>
          <p:nvPr/>
        </p:nvSpPr>
        <p:spPr>
          <a:xfrm>
            <a:off x="9118854" y="1572768"/>
            <a:ext cx="2612898" cy="1188720"/>
          </a:xfrm>
          <a:prstGeom prst="rect">
            <a:avLst/>
          </a:prstGeom>
          <a:noFill/>
        </p:spPr>
        <p:txBody>
          <a:bodyPr wrap="square">
            <a:spAutoFit/>
          </a:bodyPr>
          <a:lstStyle/>
          <a:p>
            <a:pPr algn="l"/>
            <a:r>
              <a:rPr b="0" i="1" sz="800">
                <a:solidFill>
                  <a:srgbClr val="1A1A2E"/>
                </a:solidFill>
              </a:rPr>
              <a:t>Research effort must align to Product and Engineering plans; some work is in-flight and needs harm-reduction rather than discovery.</a:t>
            </a:r>
          </a:p>
        </p:txBody>
      </p:sp>
      <p:sp>
        <p:nvSpPr>
          <p:cNvPr id="43" name="Rectangle 42"/>
          <p:cNvSpPr/>
          <p:nvPr/>
        </p:nvSpPr>
        <p:spPr>
          <a:xfrm>
            <a:off x="9100566" y="2834640"/>
            <a:ext cx="2649474" cy="2286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18854" y="2834640"/>
            <a:ext cx="2612898" cy="228600"/>
          </a:xfrm>
          <a:prstGeom prst="rect">
            <a:avLst/>
          </a:prstGeom>
          <a:noFill/>
        </p:spPr>
        <p:txBody>
          <a:bodyPr wrap="square">
            <a:spAutoFit/>
          </a:bodyPr>
          <a:lstStyle/>
          <a:p>
            <a:pPr algn="l"/>
            <a:r>
              <a:rPr b="1" i="0" sz="750">
                <a:solidFill>
                  <a:srgbClr val="FFFFFF"/>
                </a:solidFill>
              </a:rPr>
              <a:t>Research Questions</a:t>
            </a:r>
          </a:p>
        </p:txBody>
      </p:sp>
      <p:sp>
        <p:nvSpPr>
          <p:cNvPr id="45" name="TextBox 44"/>
          <p:cNvSpPr txBox="1"/>
          <p:nvPr/>
        </p:nvSpPr>
        <p:spPr>
          <a:xfrm>
            <a:off x="9192006" y="3108960"/>
            <a:ext cx="2539746" cy="438912"/>
          </a:xfrm>
          <a:prstGeom prst="rect">
            <a:avLst/>
          </a:prstGeom>
          <a:noFill/>
        </p:spPr>
        <p:txBody>
          <a:bodyPr wrap="square">
            <a:spAutoFit/>
          </a:bodyPr>
          <a:lstStyle/>
          <a:p>
            <a:pPr algn="l"/>
            <a:r>
              <a:rPr b="0" i="0" sz="750">
                <a:solidFill>
                  <a:srgbClr val="1A1A2E"/>
                </a:solidFill>
              </a:rPr>
              <a:t>- What is already committed vs shapeable?</a:t>
            </a:r>
          </a:p>
        </p:txBody>
      </p:sp>
      <p:sp>
        <p:nvSpPr>
          <p:cNvPr id="46" name="TextBox 45"/>
          <p:cNvSpPr txBox="1"/>
          <p:nvPr/>
        </p:nvSpPr>
        <p:spPr>
          <a:xfrm>
            <a:off x="9192006" y="3566160"/>
            <a:ext cx="2539746" cy="438912"/>
          </a:xfrm>
          <a:prstGeom prst="rect">
            <a:avLst/>
          </a:prstGeom>
          <a:noFill/>
        </p:spPr>
        <p:txBody>
          <a:bodyPr wrap="square">
            <a:spAutoFit/>
          </a:bodyPr>
          <a:lstStyle/>
          <a:p>
            <a:pPr algn="l"/>
            <a:r>
              <a:rPr b="0" i="0" sz="750">
                <a:solidFill>
                  <a:srgbClr val="1A1A2E"/>
                </a:solidFill>
              </a:rPr>
              <a:t>- Where can research still reduce risk mid-flight?</a:t>
            </a:r>
          </a:p>
        </p:txBody>
      </p:sp>
      <p:sp>
        <p:nvSpPr>
          <p:cNvPr id="47" name="TextBox 46"/>
          <p:cNvSpPr txBox="1"/>
          <p:nvPr/>
        </p:nvSpPr>
        <p:spPr>
          <a:xfrm>
            <a:off x="9192006" y="4023360"/>
            <a:ext cx="2539746" cy="438912"/>
          </a:xfrm>
          <a:prstGeom prst="rect">
            <a:avLst/>
          </a:prstGeom>
          <a:noFill/>
        </p:spPr>
        <p:txBody>
          <a:bodyPr wrap="square">
            <a:spAutoFit/>
          </a:bodyPr>
          <a:lstStyle/>
          <a:p>
            <a:pPr algn="l"/>
            <a:r>
              <a:rPr b="0" i="0" sz="750">
                <a:solidFill>
                  <a:srgbClr val="1A1A2E"/>
                </a:solidFill>
              </a:rPr>
              <a:t>- What research will unlock near-term roadmap decisions fastest?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697480"/>
            <a:ext cx="10972800" cy="822960"/>
          </a:xfrm>
          <a:prstGeom prst="rect">
            <a:avLst/>
          </a:prstGeom>
          <a:noFill/>
        </p:spPr>
        <p:txBody>
          <a:bodyPr wrap="square">
            <a:spAutoFit/>
          </a:bodyPr>
          <a:lstStyle/>
          <a:p>
            <a:pPr algn="l"/>
            <a:r>
              <a:rPr b="1" i="0" sz="3600">
                <a:solidFill>
                  <a:srgbClr val="FFFFFF"/>
                </a:solidFill>
              </a:rPr>
              <a:t>Assumption Register</a:t>
            </a:r>
          </a:p>
        </p:txBody>
      </p:sp>
      <p:sp>
        <p:nvSpPr>
          <p:cNvPr id="4" name="TextBox 3"/>
          <p:cNvSpPr txBox="1"/>
          <p:nvPr/>
        </p:nvSpPr>
        <p:spPr>
          <a:xfrm>
            <a:off x="320040" y="3520440"/>
            <a:ext cx="10058400" cy="457200"/>
          </a:xfrm>
          <a:prstGeom prst="rect">
            <a:avLst/>
          </a:prstGeom>
          <a:noFill/>
        </p:spPr>
        <p:txBody>
          <a:bodyPr wrap="square">
            <a:spAutoFit/>
          </a:bodyPr>
          <a:lstStyle/>
          <a:p>
            <a:pPr algn="l"/>
            <a:r>
              <a:rPr b="0" i="0" sz="1400">
                <a:solidFill>
                  <a:srgbClr val="AABBCC"/>
                </a:solidFill>
              </a:rPr>
              <a:t>Prioritised research backlog: risk, evidence status, method &amp; timebox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Assumption Register (A1-A8)</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Prioritised research backlog: risk, evidence status, method &amp; timebox</a:t>
            </a:r>
          </a:p>
        </p:txBody>
      </p:sp>
      <p:graphicFrame>
        <p:nvGraphicFramePr>
          <p:cNvPr id="5" name="Table 4"/>
          <p:cNvGraphicFramePr>
            <a:graphicFrameLocks noGrp="1"/>
          </p:cNvGraphicFramePr>
          <p:nvPr/>
        </p:nvGraphicFramePr>
        <p:xfrm>
          <a:off x="137160" y="1005840"/>
          <a:ext cx="9628632" cy="5623560"/>
        </p:xfrm>
        <a:graphic>
          <a:graphicData uri="http://schemas.openxmlformats.org/drawingml/2006/table">
            <a:tbl>
              <a:tblPr firstRow="1" bandRow="1">
                <a:tableStyleId>{5C22544A-7EE6-4342-B048-85BDC9FD1C3A}</a:tableStyleId>
              </a:tblPr>
              <a:tblGrid>
                <a:gridCol w="320040"/>
                <a:gridCol w="1005840"/>
                <a:gridCol w="2377440"/>
                <a:gridCol w="347472"/>
                <a:gridCol w="640080"/>
                <a:gridCol w="594360"/>
                <a:gridCol w="1325880"/>
                <a:gridCol w="2377440"/>
                <a:gridCol w="640080"/>
              </a:tblGrid>
              <a:tr h="624840">
                <a:tc>
                  <a:txBody>
                    <a:bodyPr wrap="square"/>
                    <a:lstStyle/>
                    <a:p>
                      <a:pPr algn="ctr"/>
                      <a:r>
                        <a:rPr b="1" i="0" sz="800">
                          <a:solidFill>
                            <a:srgbClr val="FFFFFF"/>
                          </a:solidFill>
                        </a:rPr>
                        <a:t>ID</a:t>
                      </a:r>
                    </a:p>
                  </a:txBody>
                  <a:tcPr>
                    <a:solidFill>
                      <a:srgbClr val="1A1A2E"/>
                    </a:solidFill>
                  </a:tcPr>
                </a:tc>
                <a:tc>
                  <a:txBody>
                    <a:bodyPr wrap="square"/>
                    <a:lstStyle/>
                    <a:p>
                      <a:pPr algn="ctr"/>
                      <a:r>
                        <a:rPr b="1" i="0" sz="800">
                          <a:solidFill>
                            <a:srgbClr val="FFFFFF"/>
                          </a:solidFill>
                        </a:rPr>
                        <a:t>Theme</a:t>
                      </a:r>
                    </a:p>
                  </a:txBody>
                  <a:tcPr>
                    <a:solidFill>
                      <a:srgbClr val="1A1A2E"/>
                    </a:solidFill>
                  </a:tcPr>
                </a:tc>
                <a:tc>
                  <a:txBody>
                    <a:bodyPr wrap="square"/>
                    <a:lstStyle/>
                    <a:p>
                      <a:pPr algn="ctr"/>
                      <a:r>
                        <a:rPr b="1" i="0" sz="800">
                          <a:solidFill>
                            <a:srgbClr val="FFFFFF"/>
                          </a:solidFill>
                        </a:rPr>
                        <a:t>Assumption</a:t>
                      </a:r>
                    </a:p>
                  </a:txBody>
                  <a:tcPr>
                    <a:solidFill>
                      <a:srgbClr val="1A1A2E"/>
                    </a:solidFill>
                  </a:tcPr>
                </a:tc>
                <a:tc>
                  <a:txBody>
                    <a:bodyPr wrap="square"/>
                    <a:lstStyle/>
                    <a:p>
                      <a:pPr algn="ctr"/>
                      <a:r>
                        <a:rPr b="1" i="0" sz="800">
                          <a:solidFill>
                            <a:srgbClr val="FFFFFF"/>
                          </a:solidFill>
                        </a:rPr>
                        <a:t>Risk</a:t>
                      </a:r>
                    </a:p>
                  </a:txBody>
                  <a:tcPr>
                    <a:solidFill>
                      <a:srgbClr val="1A1A2E"/>
                    </a:solidFill>
                  </a:tcPr>
                </a:tc>
                <a:tc>
                  <a:txBody>
                    <a:bodyPr wrap="square"/>
                    <a:lstStyle/>
                    <a:p>
                      <a:pPr algn="ctr"/>
                      <a:r>
                        <a:rPr b="1" i="0" sz="800">
                          <a:solidFill>
                            <a:srgbClr val="FFFFFF"/>
                          </a:solidFill>
                        </a:rPr>
                        <a:t>Evidence</a:t>
                      </a:r>
                    </a:p>
                  </a:txBody>
                  <a:tcPr>
                    <a:solidFill>
                      <a:srgbClr val="1A1A2E"/>
                    </a:solidFill>
                  </a:tcPr>
                </a:tc>
                <a:tc>
                  <a:txBody>
                    <a:bodyPr wrap="square"/>
                    <a:lstStyle/>
                    <a:p>
                      <a:pPr algn="ctr"/>
                      <a:r>
                        <a:rPr b="1" i="0" sz="800">
                          <a:solidFill>
                            <a:srgbClr val="FFFFFF"/>
                          </a:solidFill>
                        </a:rPr>
                        <a:t>Region</a:t>
                      </a:r>
                    </a:p>
                  </a:txBody>
                  <a:tcPr>
                    <a:solidFill>
                      <a:srgbClr val="1A1A2E"/>
                    </a:solidFill>
                  </a:tcPr>
                </a:tc>
                <a:tc>
                  <a:txBody>
                    <a:bodyPr wrap="square"/>
                    <a:lstStyle/>
                    <a:p>
                      <a:pPr algn="ctr"/>
                      <a:r>
                        <a:rPr b="1" i="0" sz="800">
                          <a:solidFill>
                            <a:srgbClr val="FFFFFF"/>
                          </a:solidFill>
                        </a:rPr>
                        <a:t>Decision</a:t>
                      </a:r>
                    </a:p>
                  </a:txBody>
                  <a:tcPr>
                    <a:solidFill>
                      <a:srgbClr val="1A1A2E"/>
                    </a:solidFill>
                  </a:tcPr>
                </a:tc>
                <a:tc>
                  <a:txBody>
                    <a:bodyPr wrap="square"/>
                    <a:lstStyle/>
                    <a:p>
                      <a:pPr algn="ctr"/>
                      <a:r>
                        <a:rPr b="1" i="0" sz="800">
                          <a:solidFill>
                            <a:srgbClr val="FFFFFF"/>
                          </a:solidFill>
                        </a:rPr>
                        <a:t>Method</a:t>
                      </a:r>
                    </a:p>
                  </a:txBody>
                  <a:tcPr>
                    <a:solidFill>
                      <a:srgbClr val="1A1A2E"/>
                    </a:solidFill>
                  </a:tcPr>
                </a:tc>
                <a:tc>
                  <a:txBody>
                    <a:bodyPr wrap="square"/>
                    <a:lstStyle/>
                    <a:p>
                      <a:pPr algn="ctr"/>
                      <a:r>
                        <a:rPr b="1" i="0" sz="800">
                          <a:solidFill>
                            <a:srgbClr val="FFFFFF"/>
                          </a:solidFill>
                        </a:rPr>
                        <a:t>Timebox</a:t>
                      </a:r>
                    </a:p>
                  </a:txBody>
                  <a:tcPr>
                    <a:solidFill>
                      <a:srgbClr val="1A1A2E"/>
                    </a:solidFill>
                  </a:tcPr>
                </a:tc>
              </a:tr>
              <a:tr h="624840">
                <a:tc>
                  <a:txBody>
                    <a:bodyPr wrap="square"/>
                    <a:lstStyle/>
                    <a:p>
                      <a:pPr algn="ctr"/>
                      <a:r>
                        <a:rPr b="1" i="0" sz="800">
                          <a:solidFill>
                            <a:srgbClr val="2D6AD6"/>
                          </a:solidFill>
                        </a:rPr>
                        <a:t>A1</a:t>
                      </a:r>
                    </a:p>
                  </a:txBody>
                  <a:tcPr>
                    <a:solidFill>
                      <a:srgbClr val="FFFFFF"/>
                    </a:solidFill>
                  </a:tcPr>
                </a:tc>
                <a:tc>
                  <a:txBody>
                    <a:bodyPr wrap="square"/>
                    <a:lstStyle/>
                    <a:p>
                      <a:pPr algn="l"/>
                      <a:r>
                        <a:rPr b="1" i="0" sz="750">
                          <a:solidFill>
                            <a:srgbClr val="1A1A2E"/>
                          </a:solidFill>
                        </a:rPr>
                        <a:t>Core mental model</a:t>
                      </a:r>
                    </a:p>
                  </a:txBody>
                  <a:tcPr>
                    <a:solidFill>
                      <a:srgbClr val="FFFFFF"/>
                    </a:solidFill>
                  </a:tcPr>
                </a:tc>
                <a:tc>
                  <a:txBody>
                    <a:bodyPr wrap="square"/>
                    <a:lstStyle/>
                    <a:p>
                      <a:pPr algn="l"/>
                      <a:r>
                        <a:rPr b="0" i="0" sz="700">
                          <a:solidFill>
                            <a:srgbClr val="1A1A2E"/>
                          </a:solidFill>
                        </a:rPr>
                        <a:t>Users understand Federation vs Community well enough to act correctly.</a:t>
                      </a:r>
                    </a:p>
                  </a:txBody>
                  <a:tcPr>
                    <a:solidFill>
                      <a:srgbClr val="FFFFFF"/>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Global</a:t>
                      </a:r>
                    </a:p>
                  </a:txBody>
                  <a:tcPr>
                    <a:solidFill>
                      <a:srgbClr val="FFFFFF"/>
                    </a:solidFill>
                  </a:tcPr>
                </a:tc>
                <a:tc>
                  <a:txBody>
                    <a:bodyPr wrap="square"/>
                    <a:lstStyle/>
                    <a:p>
                      <a:pPr algn="l"/>
                      <a:r>
                        <a:rPr b="0" i="0" sz="700">
                          <a:solidFill>
                            <a:srgbClr val="1A1A2E"/>
                          </a:solidFill>
                        </a:rPr>
                        <a:t>IA, labeling, onboarding, navigation</a:t>
                      </a:r>
                    </a:p>
                  </a:txBody>
                  <a:tcPr>
                    <a:solidFill>
                      <a:srgbClr val="FFFFFF"/>
                    </a:solidFill>
                  </a:tcPr>
                </a:tc>
                <a:tc>
                  <a:txBody>
                    <a:bodyPr wrap="square"/>
                    <a:lstStyle/>
                    <a:p>
                      <a:pPr algn="l"/>
                      <a:r>
                        <a:rPr b="0" i="0" sz="700">
                          <a:solidFill>
                            <a:srgbClr val="1A1A2E"/>
                          </a:solidFill>
                        </a:rPr>
                        <a:t>Comprehension + task-based usability on prototype</a:t>
                      </a:r>
                    </a:p>
                  </a:txBody>
                  <a:tcPr>
                    <a:solidFill>
                      <a:srgbClr val="FFFFFF"/>
                    </a:solidFill>
                  </a:tcPr>
                </a:tc>
                <a:tc>
                  <a:txBody>
                    <a:bodyPr wrap="square"/>
                    <a:lstStyle/>
                    <a:p>
                      <a:pPr algn="ctr"/>
                      <a:r>
                        <a:rPr b="0" i="0" sz="750">
                          <a:solidFill>
                            <a:srgbClr val="555566"/>
                          </a:solidFill>
                        </a:rPr>
                        <a:t>5-7 days</a:t>
                      </a:r>
                    </a:p>
                  </a:txBody>
                  <a:tcPr>
                    <a:solidFill>
                      <a:srgbClr val="FFFFFF"/>
                    </a:solidFill>
                  </a:tcPr>
                </a:tc>
              </a:tr>
              <a:tr h="624840">
                <a:tc>
                  <a:txBody>
                    <a:bodyPr wrap="square"/>
                    <a:lstStyle/>
                    <a:p>
                      <a:pPr algn="ctr"/>
                      <a:r>
                        <a:rPr b="1" i="0" sz="800">
                          <a:solidFill>
                            <a:srgbClr val="2D6AD6"/>
                          </a:solidFill>
                        </a:rPr>
                        <a:t>A2</a:t>
                      </a:r>
                    </a:p>
                  </a:txBody>
                  <a:tcPr>
                    <a:solidFill>
                      <a:srgbClr val="F4F4F6"/>
                    </a:solidFill>
                  </a:tcPr>
                </a:tc>
                <a:tc>
                  <a:txBody>
                    <a:bodyPr wrap="square"/>
                    <a:lstStyle/>
                    <a:p>
                      <a:pPr algn="l"/>
                      <a:r>
                        <a:rPr b="1" i="0" sz="750">
                          <a:solidFill>
                            <a:srgbClr val="1A1A2E"/>
                          </a:solidFill>
                        </a:rPr>
                        <a:t>Onboarding</a:t>
                      </a:r>
                    </a:p>
                  </a:txBody>
                  <a:tcPr>
                    <a:solidFill>
                      <a:srgbClr val="F4F4F6"/>
                    </a:solidFill>
                  </a:tcPr>
                </a:tc>
                <a:tc>
                  <a:txBody>
                    <a:bodyPr wrap="square"/>
                    <a:lstStyle/>
                    <a:p>
                      <a:pPr algn="l"/>
                      <a:r>
                        <a:rPr b="0" i="0" sz="700">
                          <a:solidFill>
                            <a:srgbClr val="1A1A2E"/>
                          </a:solidFill>
                        </a:rPr>
                        <a:t>Users can reach first successful moment without external help.</a:t>
                      </a:r>
                    </a:p>
                  </a:txBody>
                  <a:tcPr>
                    <a:solidFill>
                      <a:srgbClr val="F4F4F6"/>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Global</a:t>
                      </a:r>
                    </a:p>
                  </a:txBody>
                  <a:tcPr>
                    <a:solidFill>
                      <a:srgbClr val="F4F4F6"/>
                    </a:solidFill>
                  </a:tcPr>
                </a:tc>
                <a:tc>
                  <a:txBody>
                    <a:bodyPr wrap="square"/>
                    <a:lstStyle/>
                    <a:p>
                      <a:pPr algn="l"/>
                      <a:r>
                        <a:rPr b="0" i="0" sz="700">
                          <a:solidFill>
                            <a:srgbClr val="1A1A2E"/>
                          </a:solidFill>
                        </a:rPr>
                        <a:t>Onboarding steps, defaults, prompts</a:t>
                      </a:r>
                    </a:p>
                  </a:txBody>
                  <a:tcPr>
                    <a:solidFill>
                      <a:srgbClr val="F4F4F6"/>
                    </a:solidFill>
                  </a:tcPr>
                </a:tc>
                <a:tc>
                  <a:txBody>
                    <a:bodyPr wrap="square"/>
                    <a:lstStyle/>
                    <a:p>
                      <a:pPr algn="l"/>
                      <a:r>
                        <a:rPr b="0" i="0" sz="700">
                          <a:solidFill>
                            <a:srgbClr val="1A1A2E"/>
                          </a:solidFill>
                        </a:rPr>
                        <a:t>Funnel review + 6-10 usability sessions</a:t>
                      </a:r>
                    </a:p>
                  </a:txBody>
                  <a:tcPr>
                    <a:solidFill>
                      <a:srgbClr val="F4F4F6"/>
                    </a:solidFill>
                  </a:tcPr>
                </a:tc>
                <a:tc>
                  <a:txBody>
                    <a:bodyPr wrap="square"/>
                    <a:lstStyle/>
                    <a:p>
                      <a:pPr algn="ctr"/>
                      <a:r>
                        <a:rPr b="0" i="0" sz="750">
                          <a:solidFill>
                            <a:srgbClr val="555566"/>
                          </a:solidFill>
                        </a:rPr>
                        <a:t>1-2 weeks</a:t>
                      </a:r>
                    </a:p>
                  </a:txBody>
                  <a:tcPr>
                    <a:solidFill>
                      <a:srgbClr val="F4F4F6"/>
                    </a:solidFill>
                  </a:tcPr>
                </a:tc>
              </a:tr>
              <a:tr h="624840">
                <a:tc>
                  <a:txBody>
                    <a:bodyPr wrap="square"/>
                    <a:lstStyle/>
                    <a:p>
                      <a:pPr algn="ctr"/>
                      <a:r>
                        <a:rPr b="1" i="0" sz="800">
                          <a:solidFill>
                            <a:srgbClr val="2D6AD6"/>
                          </a:solidFill>
                        </a:rPr>
                        <a:t>A3</a:t>
                      </a:r>
                    </a:p>
                  </a:txBody>
                  <a:tcPr>
                    <a:solidFill>
                      <a:srgbClr val="FFFFFF"/>
                    </a:solidFill>
                  </a:tcPr>
                </a:tc>
                <a:tc>
                  <a:txBody>
                    <a:bodyPr wrap="square"/>
                    <a:lstStyle/>
                    <a:p>
                      <a:pPr algn="l"/>
                      <a:r>
                        <a:rPr b="1" i="0" sz="750">
                          <a:solidFill>
                            <a:srgbClr val="1A1A2E"/>
                          </a:solidFill>
                        </a:rPr>
                        <a:t>Social Backup trust</a:t>
                      </a:r>
                    </a:p>
                  </a:txBody>
                  <a:tcPr>
                    <a:solidFill>
                      <a:srgbClr val="FFFFFF"/>
                    </a:solidFill>
                  </a:tcPr>
                </a:tc>
                <a:tc>
                  <a:txBody>
                    <a:bodyPr wrap="square"/>
                    <a:lstStyle/>
                    <a:p>
                      <a:pPr algn="l"/>
                      <a:r>
                        <a:rPr b="0" i="0" sz="700">
                          <a:solidFill>
                            <a:srgbClr val="1A1A2E"/>
                          </a:solidFill>
                        </a:rPr>
                        <a:t>Social Backup feels safe + socially acceptable to target users.</a:t>
                      </a:r>
                    </a:p>
                  </a:txBody>
                  <a:tcPr>
                    <a:solidFill>
                      <a:srgbClr val="FFFFFF"/>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Regional</a:t>
                      </a:r>
                    </a:p>
                  </a:txBody>
                  <a:tcPr>
                    <a:solidFill>
                      <a:srgbClr val="FFFFFF"/>
                    </a:solidFill>
                  </a:tcPr>
                </a:tc>
                <a:tc>
                  <a:txBody>
                    <a:bodyPr wrap="square"/>
                    <a:lstStyle/>
                    <a:p>
                      <a:pPr algn="l"/>
                      <a:r>
                        <a:rPr b="0" i="0" sz="700">
                          <a:solidFill>
                            <a:srgbClr val="1A1A2E"/>
                          </a:solidFill>
                        </a:rPr>
                        <a:t>Recovery design, messaging, rollout strategy</a:t>
                      </a:r>
                    </a:p>
                  </a:txBody>
                  <a:tcPr>
                    <a:solidFill>
                      <a:srgbClr val="FFFFFF"/>
                    </a:solidFill>
                  </a:tcPr>
                </a:tc>
                <a:tc>
                  <a:txBody>
                    <a:bodyPr wrap="square"/>
                    <a:lstStyle/>
                    <a:p>
                      <a:pPr algn="l"/>
                      <a:r>
                        <a:rPr b="0" i="0" sz="700">
                          <a:solidFill>
                            <a:srgbClr val="1A1A2E"/>
                          </a:solidFill>
                        </a:rPr>
                        <a:t>Concept test + scenario probes</a:t>
                      </a:r>
                    </a:p>
                  </a:txBody>
                  <a:tcPr>
                    <a:solidFill>
                      <a:srgbClr val="FFFFFF"/>
                    </a:solidFill>
                  </a:tcPr>
                </a:tc>
                <a:tc>
                  <a:txBody>
                    <a:bodyPr wrap="square"/>
                    <a:lstStyle/>
                    <a:p>
                      <a:pPr algn="ctr"/>
                      <a:r>
                        <a:rPr b="0" i="0" sz="750">
                          <a:solidFill>
                            <a:srgbClr val="555566"/>
                          </a:solidFill>
                        </a:rPr>
                        <a:t>1-2 weeks</a:t>
                      </a:r>
                    </a:p>
                  </a:txBody>
                  <a:tcPr>
                    <a:solidFill>
                      <a:srgbClr val="FFFFFF"/>
                    </a:solidFill>
                  </a:tcPr>
                </a:tc>
              </a:tr>
              <a:tr h="624840">
                <a:tc>
                  <a:txBody>
                    <a:bodyPr wrap="square"/>
                    <a:lstStyle/>
                    <a:p>
                      <a:pPr algn="ctr"/>
                      <a:r>
                        <a:rPr b="1" i="0" sz="800">
                          <a:solidFill>
                            <a:srgbClr val="2D6AD6"/>
                          </a:solidFill>
                        </a:rPr>
                        <a:t>A4</a:t>
                      </a:r>
                    </a:p>
                  </a:txBody>
                  <a:tcPr>
                    <a:solidFill>
                      <a:srgbClr val="F4F4F6"/>
                    </a:solidFill>
                  </a:tcPr>
                </a:tc>
                <a:tc>
                  <a:txBody>
                    <a:bodyPr wrap="square"/>
                    <a:lstStyle/>
                    <a:p>
                      <a:pPr algn="l"/>
                      <a:r>
                        <a:rPr b="1" i="0" sz="750">
                          <a:solidFill>
                            <a:srgbClr val="1A1A2E"/>
                          </a:solidFill>
                        </a:rPr>
                        <a:t>Recovery / panic</a:t>
                      </a:r>
                    </a:p>
                  </a:txBody>
                  <a:tcPr>
                    <a:solidFill>
                      <a:srgbClr val="F4F4F6"/>
                    </a:solidFill>
                  </a:tcPr>
                </a:tc>
                <a:tc>
                  <a:txBody>
                    <a:bodyPr wrap="square"/>
                    <a:lstStyle/>
                    <a:p>
                      <a:pPr algn="l"/>
                      <a:r>
                        <a:rPr b="0" i="0" sz="700">
                          <a:solidFill>
                            <a:srgbClr val="1A1A2E"/>
                          </a:solidFill>
                        </a:rPr>
                        <a:t>In a panic moment, users can recover without catastrophic errors.</a:t>
                      </a:r>
                    </a:p>
                  </a:txBody>
                  <a:tcPr>
                    <a:solidFill>
                      <a:srgbClr val="F4F4F6"/>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Global</a:t>
                      </a:r>
                    </a:p>
                  </a:txBody>
                  <a:tcPr>
                    <a:solidFill>
                      <a:srgbClr val="F4F4F6"/>
                    </a:solidFill>
                  </a:tcPr>
                </a:tc>
                <a:tc>
                  <a:txBody>
                    <a:bodyPr wrap="square"/>
                    <a:lstStyle/>
                    <a:p>
                      <a:pPr algn="l"/>
                      <a:r>
                        <a:rPr b="0" i="0" sz="700">
                          <a:solidFill>
                            <a:srgbClr val="1A1A2E"/>
                          </a:solidFill>
                        </a:rPr>
                        <a:t>Recovery flow, safeguards, copy, support</a:t>
                      </a:r>
                    </a:p>
                  </a:txBody>
                  <a:tcPr>
                    <a:solidFill>
                      <a:srgbClr val="F4F4F6"/>
                    </a:solidFill>
                  </a:tcPr>
                </a:tc>
                <a:tc>
                  <a:txBody>
                    <a:bodyPr wrap="square"/>
                    <a:lstStyle/>
                    <a:p>
                      <a:pPr algn="l"/>
                      <a:r>
                        <a:rPr b="0" i="0" sz="700">
                          <a:solidFill>
                            <a:srgbClr val="1A1A2E"/>
                          </a:solidFill>
                        </a:rPr>
                        <a:t>Disaster drill usability (lost phone scenario)</a:t>
                      </a:r>
                    </a:p>
                  </a:txBody>
                  <a:tcPr>
                    <a:solidFill>
                      <a:srgbClr val="F4F4F6"/>
                    </a:solidFill>
                  </a:tcPr>
                </a:tc>
                <a:tc>
                  <a:txBody>
                    <a:bodyPr wrap="square"/>
                    <a:lstStyle/>
                    <a:p>
                      <a:pPr algn="ctr"/>
                      <a:r>
                        <a:rPr b="0" i="0" sz="750">
                          <a:solidFill>
                            <a:srgbClr val="555566"/>
                          </a:solidFill>
                        </a:rPr>
                        <a:t>1-2 weeks</a:t>
                      </a:r>
                    </a:p>
                  </a:txBody>
                  <a:tcPr>
                    <a:solidFill>
                      <a:srgbClr val="F4F4F6"/>
                    </a:solidFill>
                  </a:tcPr>
                </a:tc>
              </a:tr>
              <a:tr h="624840">
                <a:tc>
                  <a:txBody>
                    <a:bodyPr wrap="square"/>
                    <a:lstStyle/>
                    <a:p>
                      <a:pPr algn="ctr"/>
                      <a:r>
                        <a:rPr b="1" i="0" sz="800">
                          <a:solidFill>
                            <a:srgbClr val="2D6AD6"/>
                          </a:solidFill>
                        </a:rPr>
                        <a:t>A5</a:t>
                      </a:r>
                    </a:p>
                  </a:txBody>
                  <a:tcPr>
                    <a:solidFill>
                      <a:srgbClr val="FFFFFF"/>
                    </a:solidFill>
                  </a:tcPr>
                </a:tc>
                <a:tc>
                  <a:txBody>
                    <a:bodyPr wrap="square"/>
                    <a:lstStyle/>
                    <a:p>
                      <a:pPr algn="l"/>
                      <a:r>
                        <a:rPr b="1" i="0" sz="750">
                          <a:solidFill>
                            <a:srgbClr val="1A1A2E"/>
                          </a:solidFill>
                        </a:rPr>
                        <a:t>Offline transactions</a:t>
                      </a:r>
                    </a:p>
                  </a:txBody>
                  <a:tcPr>
                    <a:solidFill>
                      <a:srgbClr val="FFFFFF"/>
                    </a:solidFill>
                  </a:tcPr>
                </a:tc>
                <a:tc>
                  <a:txBody>
                    <a:bodyPr wrap="square"/>
                    <a:lstStyle/>
                    <a:p>
                      <a:pPr algn="l"/>
                      <a:r>
                        <a:rPr b="0" i="0" sz="700">
                          <a:solidFill>
                            <a:srgbClr val="1A1A2E"/>
                          </a:solidFill>
                        </a:rPr>
                        <a:t>Offline payments are usable and trusted in real contexts.</a:t>
                      </a:r>
                    </a:p>
                  </a:txBody>
                  <a:tcPr>
                    <a:solidFill>
                      <a:srgbClr val="FFFFFF"/>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Regional</a:t>
                      </a:r>
                    </a:p>
                  </a:txBody>
                  <a:tcPr>
                    <a:solidFill>
                      <a:srgbClr val="FFFFFF"/>
                    </a:solidFill>
                  </a:tcPr>
                </a:tc>
                <a:tc>
                  <a:txBody>
                    <a:bodyPr wrap="square"/>
                    <a:lstStyle/>
                    <a:p>
                      <a:pPr algn="l"/>
                      <a:r>
                        <a:rPr b="0" i="0" sz="700">
                          <a:solidFill>
                            <a:srgbClr val="1A1A2E"/>
                          </a:solidFill>
                        </a:rPr>
                        <a:t>Offline UX, sync states, dispute handling</a:t>
                      </a:r>
                    </a:p>
                  </a:txBody>
                  <a:tcPr>
                    <a:solidFill>
                      <a:srgbClr val="FFFFFF"/>
                    </a:solidFill>
                  </a:tcPr>
                </a:tc>
                <a:tc>
                  <a:txBody>
                    <a:bodyPr wrap="square"/>
                    <a:lstStyle/>
                    <a:p>
                      <a:pPr algn="l"/>
                      <a:r>
                        <a:rPr b="0" i="0" sz="700">
                          <a:solidFill>
                            <a:srgbClr val="1A1A2E"/>
                          </a:solidFill>
                        </a:rPr>
                        <a:t>Field/diary + scenario usability</a:t>
                      </a:r>
                    </a:p>
                  </a:txBody>
                  <a:tcPr>
                    <a:solidFill>
                      <a:srgbClr val="FFFFFF"/>
                    </a:solidFill>
                  </a:tcPr>
                </a:tc>
                <a:tc>
                  <a:txBody>
                    <a:bodyPr wrap="square"/>
                    <a:lstStyle/>
                    <a:p>
                      <a:pPr algn="ctr"/>
                      <a:r>
                        <a:rPr b="0" i="0" sz="750">
                          <a:solidFill>
                            <a:srgbClr val="555566"/>
                          </a:solidFill>
                        </a:rPr>
                        <a:t>2-3 weeks</a:t>
                      </a:r>
                    </a:p>
                  </a:txBody>
                  <a:tcPr>
                    <a:solidFill>
                      <a:srgbClr val="FFFFFF"/>
                    </a:solidFill>
                  </a:tcPr>
                </a:tc>
              </a:tr>
              <a:tr h="624840">
                <a:tc>
                  <a:txBody>
                    <a:bodyPr wrap="square"/>
                    <a:lstStyle/>
                    <a:p>
                      <a:pPr algn="ctr"/>
                      <a:r>
                        <a:rPr b="1" i="0" sz="800">
                          <a:solidFill>
                            <a:srgbClr val="2D6AD6"/>
                          </a:solidFill>
                        </a:rPr>
                        <a:t>A6</a:t>
                      </a:r>
                    </a:p>
                  </a:txBody>
                  <a:tcPr>
                    <a:solidFill>
                      <a:srgbClr val="F4F4F6"/>
                    </a:solidFill>
                  </a:tcPr>
                </a:tc>
                <a:tc>
                  <a:txBody>
                    <a:bodyPr wrap="square"/>
                    <a:lstStyle/>
                    <a:p>
                      <a:pPr algn="l"/>
                      <a:r>
                        <a:rPr b="1" i="0" sz="750">
                          <a:solidFill>
                            <a:srgbClr val="1A1A2E"/>
                          </a:solidFill>
                        </a:rPr>
                        <a:t>Stable Balance</a:t>
                      </a:r>
                    </a:p>
                  </a:txBody>
                  <a:tcPr>
                    <a:solidFill>
                      <a:srgbClr val="F4F4F6"/>
                    </a:solidFill>
                  </a:tcPr>
                </a:tc>
                <a:tc>
                  <a:txBody>
                    <a:bodyPr wrap="square"/>
                    <a:lstStyle/>
                    <a:p>
                      <a:pPr algn="l"/>
                      <a:r>
                        <a:rPr b="0" i="0" sz="700">
                          <a:solidFill>
                            <a:srgbClr val="1A1A2E"/>
                          </a:solidFill>
                        </a:rPr>
                        <a:t>Users want stable value and understand the trade-off.</a:t>
                      </a:r>
                    </a:p>
                  </a:txBody>
                  <a:tcPr>
                    <a:solidFill>
                      <a:srgbClr val="F4F4F6"/>
                    </a:solidFill>
                  </a:tcPr>
                </a:tc>
                <a:tc>
                  <a:txBody>
                    <a:bodyPr wrap="square"/>
                    <a:lstStyle/>
                    <a:p>
                      <a:pPr algn="ctr"/>
                      <a:r>
                        <a:rPr b="1" i="0" sz="900">
                          <a:solidFill>
                            <a:srgbClr val="D06000"/>
                          </a:solidFill>
                        </a:rPr>
                        <a:t>M/H</a:t>
                      </a:r>
                    </a:p>
                  </a:txBody>
                  <a:tcPr>
                    <a:solidFill>
                      <a:srgbClr val="FFECD5"/>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Regional</a:t>
                      </a:r>
                    </a:p>
                  </a:txBody>
                  <a:tcPr>
                    <a:solidFill>
                      <a:srgbClr val="F4F4F6"/>
                    </a:solidFill>
                  </a:tcPr>
                </a:tc>
                <a:tc>
                  <a:txBody>
                    <a:bodyPr wrap="square"/>
                    <a:lstStyle/>
                    <a:p>
                      <a:pPr algn="l"/>
                      <a:r>
                        <a:rPr b="0" i="0" sz="700">
                          <a:solidFill>
                            <a:srgbClr val="1A1A2E"/>
                          </a:solidFill>
                        </a:rPr>
                        <a:t>Balance UX, education, default settings</a:t>
                      </a:r>
                    </a:p>
                  </a:txBody>
                  <a:tcPr>
                    <a:solidFill>
                      <a:srgbClr val="F4F4F6"/>
                    </a:solidFill>
                  </a:tcPr>
                </a:tc>
                <a:tc>
                  <a:txBody>
                    <a:bodyPr wrap="square"/>
                    <a:lstStyle/>
                    <a:p>
                      <a:pPr algn="l"/>
                      <a:r>
                        <a:rPr b="0" i="0" sz="700">
                          <a:solidFill>
                            <a:srgbClr val="1A1A2E"/>
                          </a:solidFill>
                        </a:rPr>
                        <a:t>Concept comprehension + choice tasks</a:t>
                      </a:r>
                    </a:p>
                  </a:txBody>
                  <a:tcPr>
                    <a:solidFill>
                      <a:srgbClr val="F4F4F6"/>
                    </a:solidFill>
                  </a:tcPr>
                </a:tc>
                <a:tc>
                  <a:txBody>
                    <a:bodyPr wrap="square"/>
                    <a:lstStyle/>
                    <a:p>
                      <a:pPr algn="ctr"/>
                      <a:r>
                        <a:rPr b="0" i="0" sz="750">
                          <a:solidFill>
                            <a:srgbClr val="555566"/>
                          </a:solidFill>
                        </a:rPr>
                        <a:t>1-2 weeks</a:t>
                      </a:r>
                    </a:p>
                  </a:txBody>
                  <a:tcPr>
                    <a:solidFill>
                      <a:srgbClr val="F4F4F6"/>
                    </a:solidFill>
                  </a:tcPr>
                </a:tc>
              </a:tr>
              <a:tr h="624840">
                <a:tc>
                  <a:txBody>
                    <a:bodyPr wrap="square"/>
                    <a:lstStyle/>
                    <a:p>
                      <a:pPr algn="ctr"/>
                      <a:r>
                        <a:rPr b="1" i="0" sz="800">
                          <a:solidFill>
                            <a:srgbClr val="2D6AD6"/>
                          </a:solidFill>
                        </a:rPr>
                        <a:t>A7</a:t>
                      </a:r>
                    </a:p>
                  </a:txBody>
                  <a:tcPr>
                    <a:solidFill>
                      <a:srgbClr val="FFFFFF"/>
                    </a:solidFill>
                  </a:tcPr>
                </a:tc>
                <a:tc>
                  <a:txBody>
                    <a:bodyPr wrap="square"/>
                    <a:lstStyle/>
                    <a:p>
                      <a:pPr algn="l"/>
                      <a:r>
                        <a:rPr b="1" i="0" sz="750">
                          <a:solidFill>
                            <a:srgbClr val="1A1A2E"/>
                          </a:solidFill>
                        </a:rPr>
                        <a:t>Mini apps value</a:t>
                      </a:r>
                    </a:p>
                  </a:txBody>
                  <a:tcPr>
                    <a:solidFill>
                      <a:srgbClr val="FFFFFF"/>
                    </a:solidFill>
                  </a:tcPr>
                </a:tc>
                <a:tc>
                  <a:txBody>
                    <a:bodyPr wrap="square"/>
                    <a:lstStyle/>
                    <a:p>
                      <a:pPr algn="l"/>
                      <a:r>
                        <a:rPr b="0" i="0" sz="700">
                          <a:solidFill>
                            <a:srgbClr val="1A1A2E"/>
                          </a:solidFill>
                        </a:rPr>
                        <a:t>Mini apps drive weekly utility, not clutter.</a:t>
                      </a:r>
                    </a:p>
                  </a:txBody>
                  <a:tcPr>
                    <a:solidFill>
                      <a:srgbClr val="FFFFFF"/>
                    </a:solidFill>
                  </a:tcPr>
                </a:tc>
                <a:tc>
                  <a:txBody>
                    <a:bodyPr wrap="square"/>
                    <a:lstStyle/>
                    <a:p>
                      <a:pPr algn="ctr"/>
                      <a:r>
                        <a:rPr b="1" i="0" sz="900">
                          <a:solidFill>
                            <a:srgbClr val="F08C00"/>
                          </a:solidFill>
                        </a:rPr>
                        <a:t>M</a:t>
                      </a:r>
                    </a:p>
                  </a:txBody>
                  <a:tcPr>
                    <a:solidFill>
                      <a:srgbClr val="FFF3CC"/>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Regional</a:t>
                      </a:r>
                    </a:p>
                  </a:txBody>
                  <a:tcPr>
                    <a:solidFill>
                      <a:srgbClr val="FFFFFF"/>
                    </a:solidFill>
                  </a:tcPr>
                </a:tc>
                <a:tc>
                  <a:txBody>
                    <a:bodyPr wrap="square"/>
                    <a:lstStyle/>
                    <a:p>
                      <a:pPr algn="l"/>
                      <a:r>
                        <a:rPr b="0" i="0" sz="700">
                          <a:solidFill>
                            <a:srgbClr val="1A1A2E"/>
                          </a:solidFill>
                        </a:rPr>
                        <a:t>Catalog IA, prioritization, governance</a:t>
                      </a:r>
                    </a:p>
                  </a:txBody>
                  <a:tcPr>
                    <a:solidFill>
                      <a:srgbClr val="FFFFFF"/>
                    </a:solidFill>
                  </a:tcPr>
                </a:tc>
                <a:tc>
                  <a:txBody>
                    <a:bodyPr wrap="square"/>
                    <a:lstStyle/>
                    <a:p>
                      <a:pPr algn="l"/>
                      <a:r>
                        <a:rPr b="0" i="0" sz="700">
                          <a:solidFill>
                            <a:srgbClr val="1A1A2E"/>
                          </a:solidFill>
                        </a:rPr>
                        <a:t>Jobs-to-be-done + card sort</a:t>
                      </a:r>
                    </a:p>
                  </a:txBody>
                  <a:tcPr>
                    <a:solidFill>
                      <a:srgbClr val="FFFFFF"/>
                    </a:solidFill>
                  </a:tcPr>
                </a:tc>
                <a:tc>
                  <a:txBody>
                    <a:bodyPr wrap="square"/>
                    <a:lstStyle/>
                    <a:p>
                      <a:pPr algn="ctr"/>
                      <a:r>
                        <a:rPr b="0" i="0" sz="750">
                          <a:solidFill>
                            <a:srgbClr val="555566"/>
                          </a:solidFill>
                        </a:rPr>
                        <a:t>2 weeks</a:t>
                      </a:r>
                    </a:p>
                  </a:txBody>
                  <a:tcPr>
                    <a:solidFill>
                      <a:srgbClr val="FFFFFF"/>
                    </a:solidFill>
                  </a:tcPr>
                </a:tc>
              </a:tr>
              <a:tr h="624840">
                <a:tc>
                  <a:txBody>
                    <a:bodyPr wrap="square"/>
                    <a:lstStyle/>
                    <a:p>
                      <a:pPr algn="ctr"/>
                      <a:r>
                        <a:rPr b="1" i="0" sz="800">
                          <a:solidFill>
                            <a:srgbClr val="2D6AD6"/>
                          </a:solidFill>
                        </a:rPr>
                        <a:t>A8</a:t>
                      </a:r>
                    </a:p>
                  </a:txBody>
                  <a:tcPr>
                    <a:solidFill>
                      <a:srgbClr val="F4F4F6"/>
                    </a:solidFill>
                  </a:tcPr>
                </a:tc>
                <a:tc>
                  <a:txBody>
                    <a:bodyPr wrap="square"/>
                    <a:lstStyle/>
                    <a:p>
                      <a:pPr algn="l"/>
                      <a:r>
                        <a:rPr b="1" i="0" sz="750">
                          <a:solidFill>
                            <a:srgbClr val="1A1A2E"/>
                          </a:solidFill>
                        </a:rPr>
                        <a:t>Money in chat</a:t>
                      </a:r>
                    </a:p>
                  </a:txBody>
                  <a:tcPr>
                    <a:solidFill>
                      <a:srgbClr val="F4F4F6"/>
                    </a:solidFill>
                  </a:tcPr>
                </a:tc>
                <a:tc>
                  <a:txBody>
                    <a:bodyPr wrap="square"/>
                    <a:lstStyle/>
                    <a:p>
                      <a:pPr algn="l"/>
                      <a:r>
                        <a:rPr b="0" i="0" sz="700">
                          <a:solidFill>
                            <a:srgbClr val="1A1A2E"/>
                          </a:solidFill>
                        </a:rPr>
                        <a:t>Paying in chat is clear + reduces friction.</a:t>
                      </a:r>
                    </a:p>
                  </a:txBody>
                  <a:tcPr>
                    <a:solidFill>
                      <a:srgbClr val="F4F4F6"/>
                    </a:solidFill>
                  </a:tcPr>
                </a:tc>
                <a:tc>
                  <a:txBody>
                    <a:bodyPr wrap="square"/>
                    <a:lstStyle/>
                    <a:p>
                      <a:pPr algn="ctr"/>
                      <a:r>
                        <a:rPr b="1" i="0" sz="900">
                          <a:solidFill>
                            <a:srgbClr val="F08C00"/>
                          </a:solidFill>
                        </a:rPr>
                        <a:t>M</a:t>
                      </a:r>
                    </a:p>
                  </a:txBody>
                  <a:tcPr>
                    <a:solidFill>
                      <a:srgbClr val="FFF3CC"/>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Global</a:t>
                      </a:r>
                    </a:p>
                  </a:txBody>
                  <a:tcPr>
                    <a:solidFill>
                      <a:srgbClr val="F4F4F6"/>
                    </a:solidFill>
                  </a:tcPr>
                </a:tc>
                <a:tc>
                  <a:txBody>
                    <a:bodyPr wrap="square"/>
                    <a:lstStyle/>
                    <a:p>
                      <a:pPr algn="l"/>
                      <a:r>
                        <a:rPr b="0" i="0" sz="700">
                          <a:solidFill>
                            <a:srgbClr val="1A1A2E"/>
                          </a:solidFill>
                        </a:rPr>
                        <a:t>Chat-pay UX, confirmations, error prevention</a:t>
                      </a:r>
                    </a:p>
                  </a:txBody>
                  <a:tcPr>
                    <a:solidFill>
                      <a:srgbClr val="F4F4F6"/>
                    </a:solidFill>
                  </a:tcPr>
                </a:tc>
                <a:tc>
                  <a:txBody>
                    <a:bodyPr wrap="square"/>
                    <a:lstStyle/>
                    <a:p>
                      <a:pPr algn="l"/>
                      <a:r>
                        <a:rPr b="0" i="0" sz="700">
                          <a:solidFill>
                            <a:srgbClr val="1A1A2E"/>
                          </a:solidFill>
                        </a:rPr>
                        <a:t>Usability + mis-send prevention test</a:t>
                      </a:r>
                    </a:p>
                  </a:txBody>
                  <a:tcPr>
                    <a:solidFill>
                      <a:srgbClr val="F4F4F6"/>
                    </a:solidFill>
                  </a:tcPr>
                </a:tc>
                <a:tc>
                  <a:txBody>
                    <a:bodyPr wrap="square"/>
                    <a:lstStyle/>
                    <a:p>
                      <a:pPr algn="ctr"/>
                      <a:r>
                        <a:rPr b="0" i="0" sz="750">
                          <a:solidFill>
                            <a:srgbClr val="555566"/>
                          </a:solidFill>
                        </a:rPr>
                        <a:t>1 week</a:t>
                      </a:r>
                    </a:p>
                  </a:txBody>
                  <a:tcPr>
                    <a:solidFill>
                      <a:srgbClr val="F4F4F6"/>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Assumption Register (A9-A14)</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Prioritised research backlog: risk, evidence status, method &amp; timebox</a:t>
            </a:r>
          </a:p>
        </p:txBody>
      </p:sp>
      <p:graphicFrame>
        <p:nvGraphicFramePr>
          <p:cNvPr id="5" name="Table 4"/>
          <p:cNvGraphicFramePr>
            <a:graphicFrameLocks noGrp="1"/>
          </p:cNvGraphicFramePr>
          <p:nvPr/>
        </p:nvGraphicFramePr>
        <p:xfrm>
          <a:off x="137160" y="1005840"/>
          <a:ext cx="9628632" cy="5623560"/>
        </p:xfrm>
        <a:graphic>
          <a:graphicData uri="http://schemas.openxmlformats.org/drawingml/2006/table">
            <a:tbl>
              <a:tblPr firstRow="1" bandRow="1">
                <a:tableStyleId>{5C22544A-7EE6-4342-B048-85BDC9FD1C3A}</a:tableStyleId>
              </a:tblPr>
              <a:tblGrid>
                <a:gridCol w="320040"/>
                <a:gridCol w="1005840"/>
                <a:gridCol w="2377440"/>
                <a:gridCol w="347472"/>
                <a:gridCol w="640080"/>
                <a:gridCol w="594360"/>
                <a:gridCol w="1325880"/>
                <a:gridCol w="2377440"/>
                <a:gridCol w="640080"/>
              </a:tblGrid>
              <a:tr h="803365">
                <a:tc>
                  <a:txBody>
                    <a:bodyPr wrap="square"/>
                    <a:lstStyle/>
                    <a:p>
                      <a:pPr algn="ctr"/>
                      <a:r>
                        <a:rPr b="1" i="0" sz="800">
                          <a:solidFill>
                            <a:srgbClr val="FFFFFF"/>
                          </a:solidFill>
                        </a:rPr>
                        <a:t>ID</a:t>
                      </a:r>
                    </a:p>
                  </a:txBody>
                  <a:tcPr>
                    <a:solidFill>
                      <a:srgbClr val="1A1A2E"/>
                    </a:solidFill>
                  </a:tcPr>
                </a:tc>
                <a:tc>
                  <a:txBody>
                    <a:bodyPr wrap="square"/>
                    <a:lstStyle/>
                    <a:p>
                      <a:pPr algn="ctr"/>
                      <a:r>
                        <a:rPr b="1" i="0" sz="800">
                          <a:solidFill>
                            <a:srgbClr val="FFFFFF"/>
                          </a:solidFill>
                        </a:rPr>
                        <a:t>Theme</a:t>
                      </a:r>
                    </a:p>
                  </a:txBody>
                  <a:tcPr>
                    <a:solidFill>
                      <a:srgbClr val="1A1A2E"/>
                    </a:solidFill>
                  </a:tcPr>
                </a:tc>
                <a:tc>
                  <a:txBody>
                    <a:bodyPr wrap="square"/>
                    <a:lstStyle/>
                    <a:p>
                      <a:pPr algn="ctr"/>
                      <a:r>
                        <a:rPr b="1" i="0" sz="800">
                          <a:solidFill>
                            <a:srgbClr val="FFFFFF"/>
                          </a:solidFill>
                        </a:rPr>
                        <a:t>Assumption</a:t>
                      </a:r>
                    </a:p>
                  </a:txBody>
                  <a:tcPr>
                    <a:solidFill>
                      <a:srgbClr val="1A1A2E"/>
                    </a:solidFill>
                  </a:tcPr>
                </a:tc>
                <a:tc>
                  <a:txBody>
                    <a:bodyPr wrap="square"/>
                    <a:lstStyle/>
                    <a:p>
                      <a:pPr algn="ctr"/>
                      <a:r>
                        <a:rPr b="1" i="0" sz="800">
                          <a:solidFill>
                            <a:srgbClr val="FFFFFF"/>
                          </a:solidFill>
                        </a:rPr>
                        <a:t>Risk</a:t>
                      </a:r>
                    </a:p>
                  </a:txBody>
                  <a:tcPr>
                    <a:solidFill>
                      <a:srgbClr val="1A1A2E"/>
                    </a:solidFill>
                  </a:tcPr>
                </a:tc>
                <a:tc>
                  <a:txBody>
                    <a:bodyPr wrap="square"/>
                    <a:lstStyle/>
                    <a:p>
                      <a:pPr algn="ctr"/>
                      <a:r>
                        <a:rPr b="1" i="0" sz="800">
                          <a:solidFill>
                            <a:srgbClr val="FFFFFF"/>
                          </a:solidFill>
                        </a:rPr>
                        <a:t>Evidence</a:t>
                      </a:r>
                    </a:p>
                  </a:txBody>
                  <a:tcPr>
                    <a:solidFill>
                      <a:srgbClr val="1A1A2E"/>
                    </a:solidFill>
                  </a:tcPr>
                </a:tc>
                <a:tc>
                  <a:txBody>
                    <a:bodyPr wrap="square"/>
                    <a:lstStyle/>
                    <a:p>
                      <a:pPr algn="ctr"/>
                      <a:r>
                        <a:rPr b="1" i="0" sz="800">
                          <a:solidFill>
                            <a:srgbClr val="FFFFFF"/>
                          </a:solidFill>
                        </a:rPr>
                        <a:t>Region</a:t>
                      </a:r>
                    </a:p>
                  </a:txBody>
                  <a:tcPr>
                    <a:solidFill>
                      <a:srgbClr val="1A1A2E"/>
                    </a:solidFill>
                  </a:tcPr>
                </a:tc>
                <a:tc>
                  <a:txBody>
                    <a:bodyPr wrap="square"/>
                    <a:lstStyle/>
                    <a:p>
                      <a:pPr algn="ctr"/>
                      <a:r>
                        <a:rPr b="1" i="0" sz="800">
                          <a:solidFill>
                            <a:srgbClr val="FFFFFF"/>
                          </a:solidFill>
                        </a:rPr>
                        <a:t>Decision</a:t>
                      </a:r>
                    </a:p>
                  </a:txBody>
                  <a:tcPr>
                    <a:solidFill>
                      <a:srgbClr val="1A1A2E"/>
                    </a:solidFill>
                  </a:tcPr>
                </a:tc>
                <a:tc>
                  <a:txBody>
                    <a:bodyPr wrap="square"/>
                    <a:lstStyle/>
                    <a:p>
                      <a:pPr algn="ctr"/>
                      <a:r>
                        <a:rPr b="1" i="0" sz="800">
                          <a:solidFill>
                            <a:srgbClr val="FFFFFF"/>
                          </a:solidFill>
                        </a:rPr>
                        <a:t>Method</a:t>
                      </a:r>
                    </a:p>
                  </a:txBody>
                  <a:tcPr>
                    <a:solidFill>
                      <a:srgbClr val="1A1A2E"/>
                    </a:solidFill>
                  </a:tcPr>
                </a:tc>
                <a:tc>
                  <a:txBody>
                    <a:bodyPr wrap="square"/>
                    <a:lstStyle/>
                    <a:p>
                      <a:pPr algn="ctr"/>
                      <a:r>
                        <a:rPr b="1" i="0" sz="800">
                          <a:solidFill>
                            <a:srgbClr val="FFFFFF"/>
                          </a:solidFill>
                        </a:rPr>
                        <a:t>Timebox</a:t>
                      </a:r>
                    </a:p>
                  </a:txBody>
                  <a:tcPr>
                    <a:solidFill>
                      <a:srgbClr val="1A1A2E"/>
                    </a:solidFill>
                  </a:tcPr>
                </a:tc>
              </a:tr>
              <a:tr h="803365">
                <a:tc>
                  <a:txBody>
                    <a:bodyPr wrap="square"/>
                    <a:lstStyle/>
                    <a:p>
                      <a:pPr algn="ctr"/>
                      <a:r>
                        <a:rPr b="1" i="0" sz="800">
                          <a:solidFill>
                            <a:srgbClr val="2D6AD6"/>
                          </a:solidFill>
                        </a:rPr>
                        <a:t>A9</a:t>
                      </a:r>
                    </a:p>
                  </a:txBody>
                  <a:tcPr>
                    <a:solidFill>
                      <a:srgbClr val="FFFFFF"/>
                    </a:solidFill>
                  </a:tcPr>
                </a:tc>
                <a:tc>
                  <a:txBody>
                    <a:bodyPr wrap="square"/>
                    <a:lstStyle/>
                    <a:p>
                      <a:pPr algn="l"/>
                      <a:r>
                        <a:rPr b="1" i="0" sz="750">
                          <a:solidFill>
                            <a:srgbClr val="1A1A2E"/>
                          </a:solidFill>
                        </a:rPr>
                        <a:t>Scam resistance</a:t>
                      </a:r>
                    </a:p>
                  </a:txBody>
                  <a:tcPr>
                    <a:solidFill>
                      <a:srgbClr val="FFFFFF"/>
                    </a:solidFill>
                  </a:tcPr>
                </a:tc>
                <a:tc>
                  <a:txBody>
                    <a:bodyPr wrap="square"/>
                    <a:lstStyle/>
                    <a:p>
                      <a:pPr algn="l"/>
                      <a:r>
                        <a:rPr b="0" i="0" sz="700">
                          <a:solidFill>
                            <a:srgbClr val="1A1A2E"/>
                          </a:solidFill>
                        </a:rPr>
                        <a:t>Users can avoid common scams without UX becoming oppressive.</a:t>
                      </a:r>
                    </a:p>
                  </a:txBody>
                  <a:tcPr>
                    <a:solidFill>
                      <a:srgbClr val="FFFFFF"/>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Weak</a:t>
                      </a:r>
                    </a:p>
                  </a:txBody>
                  <a:tcPr>
                    <a:solidFill>
                      <a:srgbClr val="FFF3CC"/>
                    </a:solidFill>
                  </a:tcPr>
                </a:tc>
                <a:tc>
                  <a:txBody>
                    <a:bodyPr wrap="square"/>
                    <a:lstStyle/>
                    <a:p>
                      <a:pPr algn="ctr"/>
                      <a:r>
                        <a:rPr b="0" i="0" sz="750">
                          <a:solidFill>
                            <a:srgbClr val="555566"/>
                          </a:solidFill>
                        </a:rPr>
                        <a:t>Regional</a:t>
                      </a:r>
                    </a:p>
                  </a:txBody>
                  <a:tcPr>
                    <a:solidFill>
                      <a:srgbClr val="FFFFFF"/>
                    </a:solidFill>
                  </a:tcPr>
                </a:tc>
                <a:tc>
                  <a:txBody>
                    <a:bodyPr wrap="square"/>
                    <a:lstStyle/>
                    <a:p>
                      <a:pPr algn="l"/>
                      <a:r>
                        <a:rPr b="0" i="0" sz="700">
                          <a:solidFill>
                            <a:srgbClr val="1A1A2E"/>
                          </a:solidFill>
                        </a:rPr>
                        <a:t>Warnings, confirmations, education, trust cues</a:t>
                      </a:r>
                    </a:p>
                  </a:txBody>
                  <a:tcPr>
                    <a:solidFill>
                      <a:srgbClr val="FFFFFF"/>
                    </a:solidFill>
                  </a:tcPr>
                </a:tc>
                <a:tc>
                  <a:txBody>
                    <a:bodyPr wrap="square"/>
                    <a:lstStyle/>
                    <a:p>
                      <a:pPr algn="l"/>
                      <a:r>
                        <a:rPr b="0" i="0" sz="700">
                          <a:solidFill>
                            <a:srgbClr val="1A1A2E"/>
                          </a:solidFill>
                        </a:rPr>
                        <a:t>Threat-model workshop + rapid user validation</a:t>
                      </a:r>
                    </a:p>
                  </a:txBody>
                  <a:tcPr>
                    <a:solidFill>
                      <a:srgbClr val="FFFFFF"/>
                    </a:solidFill>
                  </a:tcPr>
                </a:tc>
                <a:tc>
                  <a:txBody>
                    <a:bodyPr wrap="square"/>
                    <a:lstStyle/>
                    <a:p>
                      <a:pPr algn="ctr"/>
                      <a:r>
                        <a:rPr b="0" i="0" sz="750">
                          <a:solidFill>
                            <a:srgbClr val="555566"/>
                          </a:solidFill>
                        </a:rPr>
                        <a:t>1-2 weeks</a:t>
                      </a:r>
                    </a:p>
                  </a:txBody>
                  <a:tcPr>
                    <a:solidFill>
                      <a:srgbClr val="FFFFFF"/>
                    </a:solidFill>
                  </a:tcPr>
                </a:tc>
              </a:tr>
              <a:tr h="803365">
                <a:tc>
                  <a:txBody>
                    <a:bodyPr wrap="square"/>
                    <a:lstStyle/>
                    <a:p>
                      <a:pPr algn="ctr"/>
                      <a:r>
                        <a:rPr b="1" i="0" sz="800">
                          <a:solidFill>
                            <a:srgbClr val="2D6AD6"/>
                          </a:solidFill>
                        </a:rPr>
                        <a:t>A10</a:t>
                      </a:r>
                    </a:p>
                  </a:txBody>
                  <a:tcPr>
                    <a:solidFill>
                      <a:srgbClr val="F4F4F6"/>
                    </a:solidFill>
                  </a:tcPr>
                </a:tc>
                <a:tc>
                  <a:txBody>
                    <a:bodyPr wrap="square"/>
                    <a:lstStyle/>
                    <a:p>
                      <a:pPr algn="l"/>
                      <a:r>
                        <a:rPr b="1" i="0" sz="750">
                          <a:solidFill>
                            <a:srgbClr val="1A1A2E"/>
                          </a:solidFill>
                        </a:rPr>
                        <a:t>Language &amp; literacy</a:t>
                      </a:r>
                    </a:p>
                  </a:txBody>
                  <a:tcPr>
                    <a:solidFill>
                      <a:srgbClr val="F4F4F6"/>
                    </a:solidFill>
                  </a:tcPr>
                </a:tc>
                <a:tc>
                  <a:txBody>
                    <a:bodyPr wrap="square"/>
                    <a:lstStyle/>
                    <a:p>
                      <a:pPr algn="l"/>
                      <a:r>
                        <a:rPr b="0" i="0" sz="700">
                          <a:solidFill>
                            <a:srgbClr val="1A1A2E"/>
                          </a:solidFill>
                        </a:rPr>
                        <a:t>Key concepts can be understood across literacy levels.</a:t>
                      </a:r>
                    </a:p>
                  </a:txBody>
                  <a:tcPr>
                    <a:solidFill>
                      <a:srgbClr val="F4F4F6"/>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Regional</a:t>
                      </a:r>
                    </a:p>
                  </a:txBody>
                  <a:tcPr>
                    <a:solidFill>
                      <a:srgbClr val="F4F4F6"/>
                    </a:solidFill>
                  </a:tcPr>
                </a:tc>
                <a:tc>
                  <a:txBody>
                    <a:bodyPr wrap="square"/>
                    <a:lstStyle/>
                    <a:p>
                      <a:pPr algn="l"/>
                      <a:r>
                        <a:rPr b="0" i="0" sz="700">
                          <a:solidFill>
                            <a:srgbClr val="1A1A2E"/>
                          </a:solidFill>
                        </a:rPr>
                        <a:t>Terminology, iconography, education</a:t>
                      </a:r>
                    </a:p>
                  </a:txBody>
                  <a:tcPr>
                    <a:solidFill>
                      <a:srgbClr val="F4F4F6"/>
                    </a:solidFill>
                  </a:tcPr>
                </a:tc>
                <a:tc>
                  <a:txBody>
                    <a:bodyPr wrap="square"/>
                    <a:lstStyle/>
                    <a:p>
                      <a:pPr algn="l"/>
                      <a:r>
                        <a:rPr b="0" i="0" sz="700">
                          <a:solidFill>
                            <a:srgbClr val="1A1A2E"/>
                          </a:solidFill>
                        </a:rPr>
                        <a:t>Comprehension testing w/ low-literacy variants</a:t>
                      </a:r>
                    </a:p>
                  </a:txBody>
                  <a:tcPr>
                    <a:solidFill>
                      <a:srgbClr val="F4F4F6"/>
                    </a:solidFill>
                  </a:tcPr>
                </a:tc>
                <a:tc>
                  <a:txBody>
                    <a:bodyPr wrap="square"/>
                    <a:lstStyle/>
                    <a:p>
                      <a:pPr algn="ctr"/>
                      <a:r>
                        <a:rPr b="0" i="0" sz="750">
                          <a:solidFill>
                            <a:srgbClr val="555566"/>
                          </a:solidFill>
                        </a:rPr>
                        <a:t>2 weeks</a:t>
                      </a:r>
                    </a:p>
                  </a:txBody>
                  <a:tcPr>
                    <a:solidFill>
                      <a:srgbClr val="F4F4F6"/>
                    </a:solidFill>
                  </a:tcPr>
                </a:tc>
              </a:tr>
              <a:tr h="803365">
                <a:tc>
                  <a:txBody>
                    <a:bodyPr wrap="square"/>
                    <a:lstStyle/>
                    <a:p>
                      <a:pPr algn="ctr"/>
                      <a:r>
                        <a:rPr b="1" i="0" sz="800">
                          <a:solidFill>
                            <a:srgbClr val="2D6AD6"/>
                          </a:solidFill>
                        </a:rPr>
                        <a:t>A11</a:t>
                      </a:r>
                    </a:p>
                  </a:txBody>
                  <a:tcPr>
                    <a:solidFill>
                      <a:srgbClr val="FFFFFF"/>
                    </a:solidFill>
                  </a:tcPr>
                </a:tc>
                <a:tc>
                  <a:txBody>
                    <a:bodyPr wrap="square"/>
                    <a:lstStyle/>
                    <a:p>
                      <a:pPr algn="l"/>
                      <a:r>
                        <a:rPr b="1" i="0" sz="750">
                          <a:solidFill>
                            <a:srgbClr val="1A1A2E"/>
                          </a:solidFill>
                        </a:rPr>
                        <a:t>Privacy / device sharing</a:t>
                      </a:r>
                    </a:p>
                  </a:txBody>
                  <a:tcPr>
                    <a:solidFill>
                      <a:srgbClr val="FFFFFF"/>
                    </a:solidFill>
                  </a:tcPr>
                </a:tc>
                <a:tc>
                  <a:txBody>
                    <a:bodyPr wrap="square"/>
                    <a:lstStyle/>
                    <a:p>
                      <a:pPr algn="l"/>
                      <a:r>
                        <a:rPr b="0" i="0" sz="700">
                          <a:solidFill>
                            <a:srgbClr val="1A1A2E"/>
                          </a:solidFill>
                        </a:rPr>
                        <a:t>App remains safe in device-sharing environments.</a:t>
                      </a:r>
                    </a:p>
                  </a:txBody>
                  <a:tcPr>
                    <a:solidFill>
                      <a:srgbClr val="FFFFFF"/>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Regional</a:t>
                      </a:r>
                    </a:p>
                  </a:txBody>
                  <a:tcPr>
                    <a:solidFill>
                      <a:srgbClr val="FFFFFF"/>
                    </a:solidFill>
                  </a:tcPr>
                </a:tc>
                <a:tc>
                  <a:txBody>
                    <a:bodyPr wrap="square"/>
                    <a:lstStyle/>
                    <a:p>
                      <a:pPr algn="l"/>
                      <a:r>
                        <a:rPr b="0" i="0" sz="700">
                          <a:solidFill>
                            <a:srgbClr val="1A1A2E"/>
                          </a:solidFill>
                        </a:rPr>
                        <a:t>Privacy defaults, lock modes, content visibility</a:t>
                      </a:r>
                    </a:p>
                  </a:txBody>
                  <a:tcPr>
                    <a:solidFill>
                      <a:srgbClr val="FFFFFF"/>
                    </a:solidFill>
                  </a:tcPr>
                </a:tc>
                <a:tc>
                  <a:txBody>
                    <a:bodyPr wrap="square"/>
                    <a:lstStyle/>
                    <a:p>
                      <a:pPr algn="l"/>
                      <a:r>
                        <a:rPr b="0" i="0" sz="700">
                          <a:solidFill>
                            <a:srgbClr val="1A1A2E"/>
                          </a:solidFill>
                        </a:rPr>
                        <a:t>Context interviews + privacy prototype test</a:t>
                      </a:r>
                    </a:p>
                  </a:txBody>
                  <a:tcPr>
                    <a:solidFill>
                      <a:srgbClr val="FFFFFF"/>
                    </a:solidFill>
                  </a:tcPr>
                </a:tc>
                <a:tc>
                  <a:txBody>
                    <a:bodyPr wrap="square"/>
                    <a:lstStyle/>
                    <a:p>
                      <a:pPr algn="ctr"/>
                      <a:r>
                        <a:rPr b="0" i="0" sz="750">
                          <a:solidFill>
                            <a:srgbClr val="555566"/>
                          </a:solidFill>
                        </a:rPr>
                        <a:t>2-3 weeks</a:t>
                      </a:r>
                    </a:p>
                  </a:txBody>
                  <a:tcPr>
                    <a:solidFill>
                      <a:srgbClr val="FFFFFF"/>
                    </a:solidFill>
                  </a:tcPr>
                </a:tc>
              </a:tr>
              <a:tr h="803365">
                <a:tc>
                  <a:txBody>
                    <a:bodyPr wrap="square"/>
                    <a:lstStyle/>
                    <a:p>
                      <a:pPr algn="ctr"/>
                      <a:r>
                        <a:rPr b="1" i="0" sz="800">
                          <a:solidFill>
                            <a:srgbClr val="2D6AD6"/>
                          </a:solidFill>
                        </a:rPr>
                        <a:t>A12</a:t>
                      </a:r>
                    </a:p>
                  </a:txBody>
                  <a:tcPr>
                    <a:solidFill>
                      <a:srgbClr val="F4F4F6"/>
                    </a:solidFill>
                  </a:tcPr>
                </a:tc>
                <a:tc>
                  <a:txBody>
                    <a:bodyPr wrap="square"/>
                    <a:lstStyle/>
                    <a:p>
                      <a:pPr algn="l"/>
                      <a:r>
                        <a:rPr b="1" i="0" sz="750">
                          <a:solidFill>
                            <a:srgbClr val="1A1A2E"/>
                          </a:solidFill>
                        </a:rPr>
                        <a:t>Support &amp; accountability</a:t>
                      </a:r>
                    </a:p>
                  </a:txBody>
                  <a:tcPr>
                    <a:solidFill>
                      <a:srgbClr val="F4F4F6"/>
                    </a:solidFill>
                  </a:tcPr>
                </a:tc>
                <a:tc>
                  <a:txBody>
                    <a:bodyPr wrap="square"/>
                    <a:lstStyle/>
                    <a:p>
                      <a:pPr algn="l"/>
                      <a:r>
                        <a:rPr b="0" i="0" sz="700">
                          <a:solidFill>
                            <a:srgbClr val="1A1A2E"/>
                          </a:solidFill>
                        </a:rPr>
                        <a:t>Users know who to blame / where to get help.</a:t>
                      </a:r>
                    </a:p>
                  </a:txBody>
                  <a:tcPr>
                    <a:solidFill>
                      <a:srgbClr val="F4F4F6"/>
                    </a:solidFill>
                  </a:tcPr>
                </a:tc>
                <a:tc>
                  <a:txBody>
                    <a:bodyPr wrap="square"/>
                    <a:lstStyle/>
                    <a:p>
                      <a:pPr algn="ctr"/>
                      <a:r>
                        <a:rPr b="1" i="0" sz="900">
                          <a:solidFill>
                            <a:srgbClr val="D06000"/>
                          </a:solidFill>
                        </a:rPr>
                        <a:t>M/H</a:t>
                      </a:r>
                    </a:p>
                  </a:txBody>
                  <a:tcPr>
                    <a:solidFill>
                      <a:srgbClr val="FFECD5"/>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Global</a:t>
                      </a:r>
                    </a:p>
                  </a:txBody>
                  <a:tcPr>
                    <a:solidFill>
                      <a:srgbClr val="F4F4F6"/>
                    </a:solidFill>
                  </a:tcPr>
                </a:tc>
                <a:tc>
                  <a:txBody>
                    <a:bodyPr wrap="square"/>
                    <a:lstStyle/>
                    <a:p>
                      <a:pPr algn="l"/>
                      <a:r>
                        <a:rPr b="0" i="0" sz="700">
                          <a:solidFill>
                            <a:srgbClr val="1A1A2E"/>
                          </a:solidFill>
                        </a:rPr>
                        <a:t>Support UX, escalation paths, messaging</a:t>
                      </a:r>
                    </a:p>
                  </a:txBody>
                  <a:tcPr>
                    <a:solidFill>
                      <a:srgbClr val="F4F4F6"/>
                    </a:solidFill>
                  </a:tcPr>
                </a:tc>
                <a:tc>
                  <a:txBody>
                    <a:bodyPr wrap="square"/>
                    <a:lstStyle/>
                    <a:p>
                      <a:pPr algn="l"/>
                      <a:r>
                        <a:rPr b="0" i="0" sz="700">
                          <a:solidFill>
                            <a:srgbClr val="1A1A2E"/>
                          </a:solidFill>
                        </a:rPr>
                        <a:t>Journey mapping + support flow usability</a:t>
                      </a:r>
                    </a:p>
                  </a:txBody>
                  <a:tcPr>
                    <a:solidFill>
                      <a:srgbClr val="F4F4F6"/>
                    </a:solidFill>
                  </a:tcPr>
                </a:tc>
                <a:tc>
                  <a:txBody>
                    <a:bodyPr wrap="square"/>
                    <a:lstStyle/>
                    <a:p>
                      <a:pPr algn="ctr"/>
                      <a:r>
                        <a:rPr b="0" i="0" sz="750">
                          <a:solidFill>
                            <a:srgbClr val="555566"/>
                          </a:solidFill>
                        </a:rPr>
                        <a:t>1-2 weeks</a:t>
                      </a:r>
                    </a:p>
                  </a:txBody>
                  <a:tcPr>
                    <a:solidFill>
                      <a:srgbClr val="F4F4F6"/>
                    </a:solidFill>
                  </a:tcPr>
                </a:tc>
              </a:tr>
              <a:tr h="803365">
                <a:tc>
                  <a:txBody>
                    <a:bodyPr wrap="square"/>
                    <a:lstStyle/>
                    <a:p>
                      <a:pPr algn="ctr"/>
                      <a:r>
                        <a:rPr b="1" i="0" sz="800">
                          <a:solidFill>
                            <a:srgbClr val="2D6AD6"/>
                          </a:solidFill>
                        </a:rPr>
                        <a:t>A13</a:t>
                      </a:r>
                    </a:p>
                  </a:txBody>
                  <a:tcPr>
                    <a:solidFill>
                      <a:srgbClr val="FFFFFF"/>
                    </a:solidFill>
                  </a:tcPr>
                </a:tc>
                <a:tc>
                  <a:txBody>
                    <a:bodyPr wrap="square"/>
                    <a:lstStyle/>
                    <a:p>
                      <a:pPr algn="l"/>
                      <a:r>
                        <a:rPr b="1" i="0" sz="750">
                          <a:solidFill>
                            <a:srgbClr val="1A1A2E"/>
                          </a:solidFill>
                        </a:rPr>
                        <a:t>Cross-region generalisation</a:t>
                      </a:r>
                    </a:p>
                  </a:txBody>
                  <a:tcPr>
                    <a:solidFill>
                      <a:srgbClr val="FFFFFF"/>
                    </a:solidFill>
                  </a:tcPr>
                </a:tc>
                <a:tc>
                  <a:txBody>
                    <a:bodyPr wrap="square"/>
                    <a:lstStyle/>
                    <a:p>
                      <a:pPr algn="l"/>
                      <a:r>
                        <a:rPr b="0" i="0" sz="700">
                          <a:solidFill>
                            <a:srgbClr val="1A1A2E"/>
                          </a:solidFill>
                        </a:rPr>
                        <a:t>Some patterns generalise; others need localisation.</a:t>
                      </a:r>
                    </a:p>
                  </a:txBody>
                  <a:tcPr>
                    <a:solidFill>
                      <a:srgbClr val="FFFFFF"/>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None</a:t>
                      </a:r>
                    </a:p>
                  </a:txBody>
                  <a:tcPr>
                    <a:solidFill>
                      <a:srgbClr val="FFEBEB"/>
                    </a:solidFill>
                  </a:tcPr>
                </a:tc>
                <a:tc>
                  <a:txBody>
                    <a:bodyPr wrap="square"/>
                    <a:lstStyle/>
                    <a:p>
                      <a:pPr algn="ctr"/>
                      <a:r>
                        <a:rPr b="0" i="0" sz="750">
                          <a:solidFill>
                            <a:srgbClr val="555566"/>
                          </a:solidFill>
                        </a:rPr>
                        <a:t>Global</a:t>
                      </a:r>
                    </a:p>
                  </a:txBody>
                  <a:tcPr>
                    <a:solidFill>
                      <a:srgbClr val="FFFFFF"/>
                    </a:solidFill>
                  </a:tcPr>
                </a:tc>
                <a:tc>
                  <a:txBody>
                    <a:bodyPr wrap="square"/>
                    <a:lstStyle/>
                    <a:p>
                      <a:pPr algn="l"/>
                      <a:r>
                        <a:rPr b="0" i="0" sz="700">
                          <a:solidFill>
                            <a:srgbClr val="1A1A2E"/>
                          </a:solidFill>
                        </a:rPr>
                        <a:t>Research strategy, product strategy</a:t>
                      </a:r>
                    </a:p>
                  </a:txBody>
                  <a:tcPr>
                    <a:solidFill>
                      <a:srgbClr val="FFFFFF"/>
                    </a:solidFill>
                  </a:tcPr>
                </a:tc>
                <a:tc>
                  <a:txBody>
                    <a:bodyPr wrap="square"/>
                    <a:lstStyle/>
                    <a:p>
                      <a:pPr algn="l"/>
                      <a:r>
                        <a:rPr b="0" i="0" sz="700">
                          <a:solidFill>
                            <a:srgbClr val="1A1A2E"/>
                          </a:solidFill>
                        </a:rPr>
                        <a:t>Comparative synthesis across region cycles</a:t>
                      </a:r>
                    </a:p>
                  </a:txBody>
                  <a:tcPr>
                    <a:solidFill>
                      <a:srgbClr val="FFFFFF"/>
                    </a:solidFill>
                  </a:tcPr>
                </a:tc>
                <a:tc>
                  <a:txBody>
                    <a:bodyPr wrap="square"/>
                    <a:lstStyle/>
                    <a:p>
                      <a:pPr algn="ctr"/>
                      <a:r>
                        <a:rPr b="0" i="0" sz="750">
                          <a:solidFill>
                            <a:srgbClr val="555566"/>
                          </a:solidFill>
                        </a:rPr>
                        <a:t>Ongoing</a:t>
                      </a:r>
                    </a:p>
                  </a:txBody>
                  <a:tcPr>
                    <a:solidFill>
                      <a:srgbClr val="FFFFFF"/>
                    </a:solidFill>
                  </a:tcPr>
                </a:tc>
              </a:tr>
              <a:tr h="803370">
                <a:tc>
                  <a:txBody>
                    <a:bodyPr wrap="square"/>
                    <a:lstStyle/>
                    <a:p>
                      <a:pPr algn="ctr"/>
                      <a:r>
                        <a:rPr b="1" i="0" sz="800">
                          <a:solidFill>
                            <a:srgbClr val="2D6AD6"/>
                          </a:solidFill>
                        </a:rPr>
                        <a:t>A14</a:t>
                      </a:r>
                    </a:p>
                  </a:txBody>
                  <a:tcPr>
                    <a:solidFill>
                      <a:srgbClr val="F4F4F6"/>
                    </a:solidFill>
                  </a:tcPr>
                </a:tc>
                <a:tc>
                  <a:txBody>
                    <a:bodyPr wrap="square"/>
                    <a:lstStyle/>
                    <a:p>
                      <a:pPr algn="l"/>
                      <a:r>
                        <a:rPr b="1" i="0" sz="750">
                          <a:solidFill>
                            <a:srgbClr val="1A1A2E"/>
                          </a:solidFill>
                        </a:rPr>
                        <a:t>Evidence threshold</a:t>
                      </a:r>
                    </a:p>
                  </a:txBody>
                  <a:tcPr>
                    <a:solidFill>
                      <a:srgbClr val="F4F4F6"/>
                    </a:solidFill>
                  </a:tcPr>
                </a:tc>
                <a:tc>
                  <a:txBody>
                    <a:bodyPr wrap="square"/>
                    <a:lstStyle/>
                    <a:p>
                      <a:pPr algn="l"/>
                      <a:r>
                        <a:rPr b="0" i="0" sz="700">
                          <a:solidFill>
                            <a:srgbClr val="1A1A2E"/>
                          </a:solidFill>
                        </a:rPr>
                        <a:t>Org can define validated-enough thresholds per decision type.</a:t>
                      </a:r>
                    </a:p>
                  </a:txBody>
                  <a:tcPr>
                    <a:solidFill>
                      <a:srgbClr val="F4F4F6"/>
                    </a:solidFill>
                  </a:tcPr>
                </a:tc>
                <a:tc>
                  <a:txBody>
                    <a:bodyPr wrap="square"/>
                    <a:lstStyle/>
                    <a:p>
                      <a:pPr algn="ctr"/>
                      <a:r>
                        <a:rPr b="1" i="0" sz="900">
                          <a:solidFill>
                            <a:srgbClr val="E03B3B"/>
                          </a:solidFill>
                        </a:rPr>
                        <a:t>H</a:t>
                      </a:r>
                    </a:p>
                  </a:txBody>
                  <a:tcPr>
                    <a:solidFill>
                      <a:srgbClr val="FFEBEB"/>
                    </a:solidFill>
                  </a:tcPr>
                </a:tc>
                <a:tc>
                  <a:txBody>
                    <a:bodyPr wrap="square"/>
                    <a:lstStyle/>
                    <a:p>
                      <a:pPr algn="ctr"/>
                      <a:r>
                        <a:rPr b="0" i="0" sz="750">
                          <a:solidFill>
                            <a:srgbClr val="555566"/>
                          </a:solidFill>
                        </a:rPr>
                        <a:t>Weak</a:t>
                      </a:r>
                    </a:p>
                  </a:txBody>
                  <a:tcPr>
                    <a:solidFill>
                      <a:srgbClr val="FFF3CC"/>
                    </a:solidFill>
                  </a:tcPr>
                </a:tc>
                <a:tc>
                  <a:txBody>
                    <a:bodyPr wrap="square"/>
                    <a:lstStyle/>
                    <a:p>
                      <a:pPr algn="ctr"/>
                      <a:r>
                        <a:rPr b="0" i="0" sz="750">
                          <a:solidFill>
                            <a:srgbClr val="555566"/>
                          </a:solidFill>
                        </a:rPr>
                        <a:t>Global</a:t>
                      </a:r>
                    </a:p>
                  </a:txBody>
                  <a:tcPr>
                    <a:solidFill>
                      <a:srgbClr val="F4F4F6"/>
                    </a:solidFill>
                  </a:tcPr>
                </a:tc>
                <a:tc>
                  <a:txBody>
                    <a:bodyPr wrap="square"/>
                    <a:lstStyle/>
                    <a:p>
                      <a:pPr algn="l"/>
                      <a:r>
                        <a:rPr b="0" i="0" sz="700">
                          <a:solidFill>
                            <a:srgbClr val="1A1A2E"/>
                          </a:solidFill>
                        </a:rPr>
                        <a:t>Shipping governance</a:t>
                      </a:r>
                    </a:p>
                  </a:txBody>
                  <a:tcPr>
                    <a:solidFill>
                      <a:srgbClr val="F4F4F6"/>
                    </a:solidFill>
                  </a:tcPr>
                </a:tc>
                <a:tc>
                  <a:txBody>
                    <a:bodyPr wrap="square"/>
                    <a:lstStyle/>
                    <a:p>
                      <a:pPr algn="l"/>
                      <a:r>
                        <a:rPr b="0" i="0" sz="700">
                          <a:solidFill>
                            <a:srgbClr val="1A1A2E"/>
                          </a:solidFill>
                        </a:rPr>
                        <a:t>Define validation ladder + align with PM/Eng</a:t>
                      </a:r>
                    </a:p>
                  </a:txBody>
                  <a:tcPr>
                    <a:solidFill>
                      <a:srgbClr val="F4F4F6"/>
                    </a:solidFill>
                  </a:tcPr>
                </a:tc>
                <a:tc>
                  <a:txBody>
                    <a:bodyPr wrap="square"/>
                    <a:lstStyle/>
                    <a:p>
                      <a:pPr algn="ctr"/>
                      <a:r>
                        <a:rPr b="0" i="0" sz="750">
                          <a:solidFill>
                            <a:srgbClr val="555566"/>
                          </a:solidFill>
                        </a:rPr>
                        <a:t>1 week</a:t>
                      </a:r>
                    </a:p>
                  </a:txBody>
                  <a:tcPr>
                    <a:solidFill>
                      <a:srgbClr val="F4F4F6"/>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73152" cy="6858000"/>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697480"/>
            <a:ext cx="10972800" cy="822960"/>
          </a:xfrm>
          <a:prstGeom prst="rect">
            <a:avLst/>
          </a:prstGeom>
          <a:noFill/>
        </p:spPr>
        <p:txBody>
          <a:bodyPr wrap="square">
            <a:spAutoFit/>
          </a:bodyPr>
          <a:lstStyle/>
          <a:p>
            <a:pPr algn="l"/>
            <a:r>
              <a:rPr b="1" i="0" sz="3600">
                <a:solidFill>
                  <a:srgbClr val="FFFFFF"/>
                </a:solidFill>
              </a:rPr>
              <a:t>30 / 60 / 90 Day Plan</a:t>
            </a:r>
          </a:p>
        </p:txBody>
      </p:sp>
      <p:sp>
        <p:nvSpPr>
          <p:cNvPr id="4" name="TextBox 3"/>
          <p:cNvSpPr txBox="1"/>
          <p:nvPr/>
        </p:nvSpPr>
        <p:spPr>
          <a:xfrm>
            <a:off x="320040" y="3520440"/>
            <a:ext cx="10058400" cy="457200"/>
          </a:xfrm>
          <a:prstGeom prst="rect">
            <a:avLst/>
          </a:prstGeom>
          <a:noFill/>
        </p:spPr>
        <p:txBody>
          <a:bodyPr wrap="square">
            <a:spAutoFit/>
          </a:bodyPr>
          <a:lstStyle/>
          <a:p>
            <a:pPr algn="l"/>
            <a:r>
              <a:rPr b="0" i="0" sz="1400">
                <a:solidFill>
                  <a:srgbClr val="AABBCC"/>
                </a:solidFill>
              </a:rPr>
              <a:t>Solo researcher + fast shipping environment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30 / 60 / 90 Day Plan -- Overview</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Designed for solo researcher + fast shipping environment</a:t>
            </a:r>
          </a:p>
        </p:txBody>
      </p:sp>
      <p:sp>
        <p:nvSpPr>
          <p:cNvPr id="5" name="Rectangle 4"/>
          <p:cNvSpPr/>
          <p:nvPr/>
        </p:nvSpPr>
        <p:spPr>
          <a:xfrm>
            <a:off x="1417320" y="2743200"/>
            <a:ext cx="8961120" cy="7315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63040" y="2377440"/>
            <a:ext cx="1188720" cy="1188720"/>
          </a:xfrm>
          <a:prstGeom prst="ellipse">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300">
                <a:solidFill>
                  <a:srgbClr val="FFFFFF"/>
                </a:solidFill>
              </a:rPr>
              <a:t>Day 30</a:t>
            </a:r>
          </a:p>
        </p:txBody>
      </p:sp>
      <p:sp>
        <p:nvSpPr>
          <p:cNvPr id="7" name="TextBox 6"/>
          <p:cNvSpPr txBox="1"/>
          <p:nvPr/>
        </p:nvSpPr>
        <p:spPr>
          <a:xfrm>
            <a:off x="457200" y="3703320"/>
            <a:ext cx="3291840" cy="457200"/>
          </a:xfrm>
          <a:prstGeom prst="rect">
            <a:avLst/>
          </a:prstGeom>
          <a:noFill/>
        </p:spPr>
        <p:txBody>
          <a:bodyPr wrap="square">
            <a:spAutoFit/>
          </a:bodyPr>
          <a:lstStyle/>
          <a:p>
            <a:pPr algn="ctr"/>
            <a:r>
              <a:rPr b="1" i="0" sz="1100">
                <a:solidFill>
                  <a:srgbClr val="2D6AD6"/>
                </a:solidFill>
              </a:rPr>
              <a:t>Build credibility + install the OS</a:t>
            </a:r>
          </a:p>
        </p:txBody>
      </p:sp>
      <p:sp>
        <p:nvSpPr>
          <p:cNvPr id="8" name="TextBox 7"/>
          <p:cNvSpPr txBox="1"/>
          <p:nvPr/>
        </p:nvSpPr>
        <p:spPr>
          <a:xfrm>
            <a:off x="594360" y="4251960"/>
            <a:ext cx="3017520" cy="411480"/>
          </a:xfrm>
          <a:prstGeom prst="rect">
            <a:avLst/>
          </a:prstGeom>
          <a:noFill/>
        </p:spPr>
        <p:txBody>
          <a:bodyPr wrap="square">
            <a:spAutoFit/>
          </a:bodyPr>
          <a:lstStyle/>
          <a:p>
            <a:pPr algn="l"/>
            <a:r>
              <a:rPr b="0" i="0" sz="950">
                <a:solidFill>
                  <a:srgbClr val="1A1A2E"/>
                </a:solidFill>
              </a:rPr>
              <a:t>▸  Roadmap-to-Research map</a:t>
            </a:r>
          </a:p>
        </p:txBody>
      </p:sp>
      <p:sp>
        <p:nvSpPr>
          <p:cNvPr id="9" name="TextBox 8"/>
          <p:cNvSpPr txBox="1"/>
          <p:nvPr/>
        </p:nvSpPr>
        <p:spPr>
          <a:xfrm>
            <a:off x="594360" y="4690872"/>
            <a:ext cx="3017520" cy="411480"/>
          </a:xfrm>
          <a:prstGeom prst="rect">
            <a:avLst/>
          </a:prstGeom>
          <a:noFill/>
        </p:spPr>
        <p:txBody>
          <a:bodyPr wrap="square">
            <a:spAutoFit/>
          </a:bodyPr>
          <a:lstStyle/>
          <a:p>
            <a:pPr algn="l"/>
            <a:r>
              <a:rPr b="0" i="0" sz="950">
                <a:solidFill>
                  <a:srgbClr val="1A1A2E"/>
                </a:solidFill>
              </a:rPr>
              <a:t>▸  Assumption Register + RQ Bank</a:t>
            </a:r>
          </a:p>
        </p:txBody>
      </p:sp>
      <p:sp>
        <p:nvSpPr>
          <p:cNvPr id="10" name="TextBox 9"/>
          <p:cNvSpPr txBox="1"/>
          <p:nvPr/>
        </p:nvSpPr>
        <p:spPr>
          <a:xfrm>
            <a:off x="594360" y="5129784"/>
            <a:ext cx="3017520" cy="411480"/>
          </a:xfrm>
          <a:prstGeom prst="rect">
            <a:avLst/>
          </a:prstGeom>
          <a:noFill/>
        </p:spPr>
        <p:txBody>
          <a:bodyPr wrap="square">
            <a:spAutoFit/>
          </a:bodyPr>
          <a:lstStyle/>
          <a:p>
            <a:pPr algn="l"/>
            <a:r>
              <a:rPr b="0" i="0" sz="950">
                <a:solidFill>
                  <a:srgbClr val="1A1A2E"/>
                </a:solidFill>
              </a:rPr>
              <a:t>▸  1-2 fast tactical studies</a:t>
            </a:r>
          </a:p>
        </p:txBody>
      </p:sp>
      <p:sp>
        <p:nvSpPr>
          <p:cNvPr id="11" name="TextBox 10"/>
          <p:cNvSpPr txBox="1"/>
          <p:nvPr/>
        </p:nvSpPr>
        <p:spPr>
          <a:xfrm>
            <a:off x="594360" y="5568696"/>
            <a:ext cx="3017520" cy="411480"/>
          </a:xfrm>
          <a:prstGeom prst="rect">
            <a:avLst/>
          </a:prstGeom>
          <a:noFill/>
        </p:spPr>
        <p:txBody>
          <a:bodyPr wrap="square">
            <a:spAutoFit/>
          </a:bodyPr>
          <a:lstStyle/>
          <a:p>
            <a:pPr algn="l"/>
            <a:r>
              <a:rPr b="0" i="0" sz="950">
                <a:solidFill>
                  <a:srgbClr val="1A1A2E"/>
                </a:solidFill>
              </a:rPr>
              <a:t>▸  Research Ops starter kit</a:t>
            </a:r>
          </a:p>
        </p:txBody>
      </p:sp>
      <p:sp>
        <p:nvSpPr>
          <p:cNvPr id="12" name="Oval 11"/>
          <p:cNvSpPr/>
          <p:nvPr/>
        </p:nvSpPr>
        <p:spPr>
          <a:xfrm>
            <a:off x="5303520" y="2377440"/>
            <a:ext cx="1188720" cy="1188720"/>
          </a:xfrm>
          <a:prstGeom prst="ellipse">
            <a:avLst/>
          </a:prstGeom>
          <a:solidFill>
            <a:srgbClr val="2D9A6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300">
                <a:solidFill>
                  <a:srgbClr val="FFFFFF"/>
                </a:solidFill>
              </a:rPr>
              <a:t>Day 60</a:t>
            </a:r>
          </a:p>
        </p:txBody>
      </p:sp>
      <p:sp>
        <p:nvSpPr>
          <p:cNvPr id="13" name="TextBox 12"/>
          <p:cNvSpPr txBox="1"/>
          <p:nvPr/>
        </p:nvSpPr>
        <p:spPr>
          <a:xfrm>
            <a:off x="4297680" y="3703320"/>
            <a:ext cx="3291840" cy="457200"/>
          </a:xfrm>
          <a:prstGeom prst="rect">
            <a:avLst/>
          </a:prstGeom>
          <a:noFill/>
        </p:spPr>
        <p:txBody>
          <a:bodyPr wrap="square">
            <a:spAutoFit/>
          </a:bodyPr>
          <a:lstStyle/>
          <a:p>
            <a:pPr algn="ctr"/>
            <a:r>
              <a:rPr b="1" i="0" sz="1100">
                <a:solidFill>
                  <a:srgbClr val="2D9A6A"/>
                </a:solidFill>
              </a:rPr>
              <a:t>Prove multi-region research at pace</a:t>
            </a:r>
          </a:p>
        </p:txBody>
      </p:sp>
      <p:sp>
        <p:nvSpPr>
          <p:cNvPr id="14" name="TextBox 13"/>
          <p:cNvSpPr txBox="1"/>
          <p:nvPr/>
        </p:nvSpPr>
        <p:spPr>
          <a:xfrm>
            <a:off x="4434840" y="4251960"/>
            <a:ext cx="3017520" cy="411480"/>
          </a:xfrm>
          <a:prstGeom prst="rect">
            <a:avLst/>
          </a:prstGeom>
          <a:noFill/>
        </p:spPr>
        <p:txBody>
          <a:bodyPr wrap="square">
            <a:spAutoFit/>
          </a:bodyPr>
          <a:lstStyle/>
          <a:p>
            <a:pPr algn="l"/>
            <a:r>
              <a:rPr b="0" i="0" sz="950">
                <a:solidFill>
                  <a:srgbClr val="1A1A2E"/>
                </a:solidFill>
              </a:rPr>
              <a:t>▸  Regional thin-slice cycles (6-8/region)</a:t>
            </a:r>
          </a:p>
        </p:txBody>
      </p:sp>
      <p:sp>
        <p:nvSpPr>
          <p:cNvPr id="15" name="TextBox 14"/>
          <p:cNvSpPr txBox="1"/>
          <p:nvPr/>
        </p:nvSpPr>
        <p:spPr>
          <a:xfrm>
            <a:off x="4434840" y="4690872"/>
            <a:ext cx="3017520" cy="411480"/>
          </a:xfrm>
          <a:prstGeom prst="rect">
            <a:avLst/>
          </a:prstGeom>
          <a:noFill/>
        </p:spPr>
        <p:txBody>
          <a:bodyPr wrap="square">
            <a:spAutoFit/>
          </a:bodyPr>
          <a:lstStyle/>
          <a:p>
            <a:pPr algn="l"/>
            <a:r>
              <a:rPr b="0" i="0" sz="950">
                <a:solidFill>
                  <a:srgbClr val="1A1A2E"/>
                </a:solidFill>
              </a:rPr>
              <a:t>▸  Recruitment flywheel with community admins</a:t>
            </a:r>
          </a:p>
        </p:txBody>
      </p:sp>
      <p:sp>
        <p:nvSpPr>
          <p:cNvPr id="16" name="TextBox 15"/>
          <p:cNvSpPr txBox="1"/>
          <p:nvPr/>
        </p:nvSpPr>
        <p:spPr>
          <a:xfrm>
            <a:off x="4434840" y="5129784"/>
            <a:ext cx="3017520" cy="411480"/>
          </a:xfrm>
          <a:prstGeom prst="rect">
            <a:avLst/>
          </a:prstGeom>
          <a:noFill/>
        </p:spPr>
        <p:txBody>
          <a:bodyPr wrap="square">
            <a:spAutoFit/>
          </a:bodyPr>
          <a:lstStyle/>
          <a:p>
            <a:pPr algn="l"/>
            <a:r>
              <a:rPr b="0" i="0" sz="950">
                <a:solidFill>
                  <a:srgbClr val="1A1A2E"/>
                </a:solidFill>
              </a:rPr>
              <a:t>▸  Monthly 30-min evidence review with PM/Eng</a:t>
            </a:r>
          </a:p>
        </p:txBody>
      </p:sp>
      <p:sp>
        <p:nvSpPr>
          <p:cNvPr id="17" name="Oval 16"/>
          <p:cNvSpPr/>
          <p:nvPr/>
        </p:nvSpPr>
        <p:spPr>
          <a:xfrm>
            <a:off x="9144000" y="2377440"/>
            <a:ext cx="1188720" cy="1188720"/>
          </a:xfrm>
          <a:prstGeom prst="ellipse">
            <a:avLst/>
          </a:prstGeom>
          <a:solidFill>
            <a:srgbClr val="7B2DB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300">
                <a:solidFill>
                  <a:srgbClr val="FFFFFF"/>
                </a:solidFill>
              </a:rPr>
              <a:t>Day 90</a:t>
            </a:r>
          </a:p>
        </p:txBody>
      </p:sp>
      <p:sp>
        <p:nvSpPr>
          <p:cNvPr id="18" name="TextBox 17"/>
          <p:cNvSpPr txBox="1"/>
          <p:nvPr/>
        </p:nvSpPr>
        <p:spPr>
          <a:xfrm>
            <a:off x="8138160" y="3703320"/>
            <a:ext cx="3291840" cy="457200"/>
          </a:xfrm>
          <a:prstGeom prst="rect">
            <a:avLst/>
          </a:prstGeom>
          <a:noFill/>
        </p:spPr>
        <p:txBody>
          <a:bodyPr wrap="square">
            <a:spAutoFit/>
          </a:bodyPr>
          <a:lstStyle/>
          <a:p>
            <a:pPr algn="ctr"/>
            <a:r>
              <a:rPr b="1" i="0" sz="1100">
                <a:solidFill>
                  <a:srgbClr val="7B2DBF"/>
                </a:solidFill>
              </a:rPr>
              <a:t>Turn research into compounding advantage</a:t>
            </a:r>
          </a:p>
        </p:txBody>
      </p:sp>
      <p:sp>
        <p:nvSpPr>
          <p:cNvPr id="19" name="TextBox 18"/>
          <p:cNvSpPr txBox="1"/>
          <p:nvPr/>
        </p:nvSpPr>
        <p:spPr>
          <a:xfrm>
            <a:off x="8275320" y="4251960"/>
            <a:ext cx="3017520" cy="411480"/>
          </a:xfrm>
          <a:prstGeom prst="rect">
            <a:avLst/>
          </a:prstGeom>
          <a:noFill/>
        </p:spPr>
        <p:txBody>
          <a:bodyPr wrap="square">
            <a:spAutoFit/>
          </a:bodyPr>
          <a:lstStyle/>
          <a:p>
            <a:pPr algn="l"/>
            <a:r>
              <a:rPr b="0" i="0" sz="950">
                <a:solidFill>
                  <a:srgbClr val="1A1A2E"/>
                </a:solidFill>
              </a:rPr>
              <a:t>▸  Quarterly Research Roadmap v1</a:t>
            </a:r>
          </a:p>
        </p:txBody>
      </p:sp>
      <p:sp>
        <p:nvSpPr>
          <p:cNvPr id="20" name="TextBox 19"/>
          <p:cNvSpPr txBox="1"/>
          <p:nvPr/>
        </p:nvSpPr>
        <p:spPr>
          <a:xfrm>
            <a:off x="8275320" y="4690872"/>
            <a:ext cx="3017520" cy="411480"/>
          </a:xfrm>
          <a:prstGeom prst="rect">
            <a:avLst/>
          </a:prstGeom>
          <a:noFill/>
        </p:spPr>
        <p:txBody>
          <a:bodyPr wrap="square">
            <a:spAutoFit/>
          </a:bodyPr>
          <a:lstStyle/>
          <a:p>
            <a:pPr algn="l"/>
            <a:r>
              <a:rPr b="0" i="0" sz="950">
                <a:solidFill>
                  <a:srgbClr val="1A1A2E"/>
                </a:solidFill>
              </a:rPr>
              <a:t>▸  Decision-grade evidence benchmarks</a:t>
            </a:r>
          </a:p>
        </p:txBody>
      </p:sp>
      <p:sp>
        <p:nvSpPr>
          <p:cNvPr id="21" name="TextBox 20"/>
          <p:cNvSpPr txBox="1"/>
          <p:nvPr/>
        </p:nvSpPr>
        <p:spPr>
          <a:xfrm>
            <a:off x="8275320" y="5129784"/>
            <a:ext cx="3017520" cy="411480"/>
          </a:xfrm>
          <a:prstGeom prst="rect">
            <a:avLst/>
          </a:prstGeom>
          <a:noFill/>
        </p:spPr>
        <p:txBody>
          <a:bodyPr wrap="square">
            <a:spAutoFit/>
          </a:bodyPr>
          <a:lstStyle/>
          <a:p>
            <a:pPr algn="l"/>
            <a:r>
              <a:rPr b="0" i="0" sz="950">
                <a:solidFill>
                  <a:srgbClr val="1A1A2E"/>
                </a:solidFill>
              </a:rPr>
              <a:t>▸  Self-serve enablement for PMs/designers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First 30 Days: Build credibility + install the operating system</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Goal: be trusted, be organised, and deliver one fast win</a:t>
            </a:r>
          </a:p>
        </p:txBody>
      </p:sp>
      <p:sp>
        <p:nvSpPr>
          <p:cNvPr id="5" name="Rectangle 4"/>
          <p:cNvSpPr/>
          <p:nvPr/>
        </p:nvSpPr>
        <p:spPr>
          <a:xfrm>
            <a:off x="320040" y="1097280"/>
            <a:ext cx="2651760" cy="5394960"/>
          </a:xfrm>
          <a:prstGeom prst="rect">
            <a:avLst/>
          </a:prstGeom>
          <a:solidFill>
            <a:srgbClr val="F7F8FF"/>
          </a:solidFill>
          <a:ln w="635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097280"/>
            <a:ext cx="2651760" cy="73152"/>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 y="1234440"/>
            <a:ext cx="411480" cy="256032"/>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100">
                <a:solidFill>
                  <a:srgbClr val="FFFFFF"/>
                </a:solidFill>
              </a:rPr>
              <a:t>1</a:t>
            </a:r>
          </a:p>
        </p:txBody>
      </p:sp>
      <p:sp>
        <p:nvSpPr>
          <p:cNvPr id="8" name="TextBox 7"/>
          <p:cNvSpPr txBox="1"/>
          <p:nvPr/>
        </p:nvSpPr>
        <p:spPr>
          <a:xfrm>
            <a:off x="914400" y="1234440"/>
            <a:ext cx="1965960" cy="365760"/>
          </a:xfrm>
          <a:prstGeom prst="rect">
            <a:avLst/>
          </a:prstGeom>
          <a:noFill/>
        </p:spPr>
        <p:txBody>
          <a:bodyPr wrap="square">
            <a:spAutoFit/>
          </a:bodyPr>
          <a:lstStyle/>
          <a:p>
            <a:pPr algn="l"/>
            <a:r>
              <a:rPr b="1" i="0" sz="1050">
                <a:solidFill>
                  <a:srgbClr val="1A1A2E"/>
                </a:solidFill>
              </a:rPr>
              <a:t>Roadmap-to-Research Map (v0)</a:t>
            </a:r>
          </a:p>
        </p:txBody>
      </p:sp>
      <p:sp>
        <p:nvSpPr>
          <p:cNvPr id="9" name="TextBox 8"/>
          <p:cNvSpPr txBox="1"/>
          <p:nvPr/>
        </p:nvSpPr>
        <p:spPr>
          <a:xfrm>
            <a:off x="429768" y="1691640"/>
            <a:ext cx="2432304" cy="4663440"/>
          </a:xfrm>
          <a:prstGeom prst="rect">
            <a:avLst/>
          </a:prstGeom>
          <a:noFill/>
        </p:spPr>
        <p:txBody>
          <a:bodyPr wrap="square">
            <a:spAutoFit/>
          </a:bodyPr>
          <a:lstStyle/>
          <a:p>
            <a:pPr algn="l"/>
            <a:r>
              <a:rPr b="0" i="0" sz="1000">
                <a:solidFill>
                  <a:srgbClr val="555566"/>
                </a:solidFill>
              </a:rPr>
              <a:t>One page mapping initiatives → assumptions → key decisions → proposed study types.</a:t>
            </a:r>
          </a:p>
        </p:txBody>
      </p:sp>
      <p:sp>
        <p:nvSpPr>
          <p:cNvPr id="10" name="Rectangle 9"/>
          <p:cNvSpPr/>
          <p:nvPr/>
        </p:nvSpPr>
        <p:spPr>
          <a:xfrm>
            <a:off x="3154680" y="1097280"/>
            <a:ext cx="2651760" cy="5394960"/>
          </a:xfrm>
          <a:prstGeom prst="rect">
            <a:avLst/>
          </a:prstGeom>
          <a:solidFill>
            <a:srgbClr val="F7F8FF"/>
          </a:solidFill>
          <a:ln w="635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54680" y="1097280"/>
            <a:ext cx="2651760" cy="73152"/>
          </a:xfrm>
          <a:prstGeom prst="rect">
            <a:avLst/>
          </a:prstGeom>
          <a:solidFill>
            <a:srgbClr val="2D9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64408" y="1234440"/>
            <a:ext cx="411480" cy="256032"/>
          </a:xfrm>
          <a:prstGeom prst="rect">
            <a:avLst/>
          </a:prstGeom>
          <a:solidFill>
            <a:srgbClr val="2D9A6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100">
                <a:solidFill>
                  <a:srgbClr val="FFFFFF"/>
                </a:solidFill>
              </a:rPr>
              <a:t>2</a:t>
            </a:r>
          </a:p>
        </p:txBody>
      </p:sp>
      <p:sp>
        <p:nvSpPr>
          <p:cNvPr id="13" name="TextBox 12"/>
          <p:cNvSpPr txBox="1"/>
          <p:nvPr/>
        </p:nvSpPr>
        <p:spPr>
          <a:xfrm>
            <a:off x="3749040" y="1234440"/>
            <a:ext cx="1965960" cy="365760"/>
          </a:xfrm>
          <a:prstGeom prst="rect">
            <a:avLst/>
          </a:prstGeom>
          <a:noFill/>
        </p:spPr>
        <p:txBody>
          <a:bodyPr wrap="square">
            <a:spAutoFit/>
          </a:bodyPr>
          <a:lstStyle/>
          <a:p>
            <a:pPr algn="l"/>
            <a:r>
              <a:rPr b="1" i="0" sz="1050">
                <a:solidFill>
                  <a:srgbClr val="1A1A2E"/>
                </a:solidFill>
              </a:rPr>
              <a:t>Assumption Register + RQ Bank (v0)</a:t>
            </a:r>
          </a:p>
        </p:txBody>
      </p:sp>
      <p:sp>
        <p:nvSpPr>
          <p:cNvPr id="14" name="TextBox 13"/>
          <p:cNvSpPr txBox="1"/>
          <p:nvPr/>
        </p:nvSpPr>
        <p:spPr>
          <a:xfrm>
            <a:off x="3264408" y="1691640"/>
            <a:ext cx="2432304" cy="4663440"/>
          </a:xfrm>
          <a:prstGeom prst="rect">
            <a:avLst/>
          </a:prstGeom>
          <a:noFill/>
        </p:spPr>
        <p:txBody>
          <a:bodyPr wrap="square">
            <a:spAutoFit/>
          </a:bodyPr>
          <a:lstStyle/>
          <a:p>
            <a:pPr algn="l"/>
            <a:r>
              <a:rPr b="0" i="0" sz="1000">
                <a:solidFill>
                  <a:srgbClr val="555566"/>
                </a:solidFill>
              </a:rPr>
              <a:t>Lightweight but real. The "where research comes from" source of truth.</a:t>
            </a:r>
          </a:p>
        </p:txBody>
      </p:sp>
      <p:sp>
        <p:nvSpPr>
          <p:cNvPr id="15" name="Rectangle 14"/>
          <p:cNvSpPr/>
          <p:nvPr/>
        </p:nvSpPr>
        <p:spPr>
          <a:xfrm>
            <a:off x="5989320" y="1097280"/>
            <a:ext cx="2651760" cy="5394960"/>
          </a:xfrm>
          <a:prstGeom prst="rect">
            <a:avLst/>
          </a:prstGeom>
          <a:solidFill>
            <a:srgbClr val="F7F8FF"/>
          </a:solidFill>
          <a:ln w="635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89320" y="1097280"/>
            <a:ext cx="2651760" cy="73152"/>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99048" y="1234440"/>
            <a:ext cx="411480" cy="256032"/>
          </a:xfrm>
          <a:prstGeom prst="rect">
            <a:avLst/>
          </a:prstGeom>
          <a:solidFill>
            <a:srgbClr val="F08C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100">
                <a:solidFill>
                  <a:srgbClr val="FFFFFF"/>
                </a:solidFill>
              </a:rPr>
              <a:t>3</a:t>
            </a:r>
          </a:p>
        </p:txBody>
      </p:sp>
      <p:sp>
        <p:nvSpPr>
          <p:cNvPr id="18" name="TextBox 17"/>
          <p:cNvSpPr txBox="1"/>
          <p:nvPr/>
        </p:nvSpPr>
        <p:spPr>
          <a:xfrm>
            <a:off x="6583680" y="1234440"/>
            <a:ext cx="1965960" cy="365760"/>
          </a:xfrm>
          <a:prstGeom prst="rect">
            <a:avLst/>
          </a:prstGeom>
          <a:noFill/>
        </p:spPr>
        <p:txBody>
          <a:bodyPr wrap="square">
            <a:spAutoFit/>
          </a:bodyPr>
          <a:lstStyle/>
          <a:p>
            <a:pPr algn="l"/>
            <a:r>
              <a:rPr b="1" i="0" sz="1050">
                <a:solidFill>
                  <a:srgbClr val="1A1A2E"/>
                </a:solidFill>
              </a:rPr>
              <a:t>1-2 Fast Tactical Studies</a:t>
            </a:r>
          </a:p>
        </p:txBody>
      </p:sp>
      <p:sp>
        <p:nvSpPr>
          <p:cNvPr id="19" name="TextBox 18"/>
          <p:cNvSpPr txBox="1"/>
          <p:nvPr/>
        </p:nvSpPr>
        <p:spPr>
          <a:xfrm>
            <a:off x="6099048" y="1691640"/>
            <a:ext cx="2432304" cy="4663440"/>
          </a:xfrm>
          <a:prstGeom prst="rect">
            <a:avLst/>
          </a:prstGeom>
          <a:noFill/>
        </p:spPr>
        <p:txBody>
          <a:bodyPr wrap="square">
            <a:spAutoFit/>
          </a:bodyPr>
          <a:lstStyle/>
          <a:p>
            <a:pPr algn="l"/>
            <a:r>
              <a:rPr b="0" i="0" sz="1000">
                <a:solidFill>
                  <a:srgbClr val="555566"/>
                </a:solidFill>
              </a:rPr>
              <a:t>Pick something currently painful -- onboarding, recovery, mini-app discovery -- and ship 3-5 actionable fixes fast.</a:t>
            </a:r>
          </a:p>
        </p:txBody>
      </p:sp>
      <p:sp>
        <p:nvSpPr>
          <p:cNvPr id="20" name="Rectangle 19"/>
          <p:cNvSpPr/>
          <p:nvPr/>
        </p:nvSpPr>
        <p:spPr>
          <a:xfrm>
            <a:off x="8823960" y="1097280"/>
            <a:ext cx="2651760" cy="5394960"/>
          </a:xfrm>
          <a:prstGeom prst="rect">
            <a:avLst/>
          </a:prstGeom>
          <a:solidFill>
            <a:srgbClr val="F7F8FF"/>
          </a:solidFill>
          <a:ln w="6350">
            <a:solidFill>
              <a:srgbClr val="CCC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23960" y="1097280"/>
            <a:ext cx="2651760" cy="73152"/>
          </a:xfrm>
          <a:prstGeom prst="rect">
            <a:avLst/>
          </a:prstGeom>
          <a:solidFill>
            <a:srgbClr val="7B2D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33688" y="1234440"/>
            <a:ext cx="411480" cy="256032"/>
          </a:xfrm>
          <a:prstGeom prst="rect">
            <a:avLst/>
          </a:prstGeom>
          <a:solidFill>
            <a:srgbClr val="7B2DB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b="1" sz="1100">
                <a:solidFill>
                  <a:srgbClr val="FFFFFF"/>
                </a:solidFill>
              </a:rPr>
              <a:t>4</a:t>
            </a:r>
          </a:p>
        </p:txBody>
      </p:sp>
      <p:sp>
        <p:nvSpPr>
          <p:cNvPr id="23" name="TextBox 22"/>
          <p:cNvSpPr txBox="1"/>
          <p:nvPr/>
        </p:nvSpPr>
        <p:spPr>
          <a:xfrm>
            <a:off x="9418320" y="1234440"/>
            <a:ext cx="1965960" cy="365760"/>
          </a:xfrm>
          <a:prstGeom prst="rect">
            <a:avLst/>
          </a:prstGeom>
          <a:noFill/>
        </p:spPr>
        <p:txBody>
          <a:bodyPr wrap="square">
            <a:spAutoFit/>
          </a:bodyPr>
          <a:lstStyle/>
          <a:p>
            <a:pPr algn="l"/>
            <a:r>
              <a:rPr b="1" i="0" sz="1050">
                <a:solidFill>
                  <a:srgbClr val="1A1A2E"/>
                </a:solidFill>
              </a:rPr>
              <a:t>Research Ops Starter Kit</a:t>
            </a:r>
          </a:p>
        </p:txBody>
      </p:sp>
      <p:sp>
        <p:nvSpPr>
          <p:cNvPr id="24" name="TextBox 23"/>
          <p:cNvSpPr txBox="1"/>
          <p:nvPr/>
        </p:nvSpPr>
        <p:spPr>
          <a:xfrm>
            <a:off x="8933688" y="1691640"/>
            <a:ext cx="2432304" cy="4663440"/>
          </a:xfrm>
          <a:prstGeom prst="rect">
            <a:avLst/>
          </a:prstGeom>
          <a:noFill/>
        </p:spPr>
        <p:txBody>
          <a:bodyPr wrap="square">
            <a:spAutoFit/>
          </a:bodyPr>
          <a:lstStyle/>
          <a:p>
            <a:pPr algn="l"/>
            <a:r>
              <a:rPr b="0" i="0" sz="1000">
                <a:solidFill>
                  <a:srgbClr val="555566"/>
                </a:solidFill>
              </a:rPr>
              <a:t>Templates: discussion guide, usability script, consent, note-taking, insight write-up.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Days 31-60: Prove multi-region research without burning the calendar</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Goal: build comparative insight across regions; make recruitment self-sustaining</a:t>
            </a:r>
          </a:p>
        </p:txBody>
      </p:sp>
      <p:sp>
        <p:nvSpPr>
          <p:cNvPr id="5" name="Rectangle 4"/>
          <p:cNvSpPr/>
          <p:nvPr/>
        </p:nvSpPr>
        <p:spPr>
          <a:xfrm>
            <a:off x="320040" y="1097280"/>
            <a:ext cx="3566160" cy="5394960"/>
          </a:xfrm>
          <a:prstGeom prst="rect">
            <a:avLst/>
          </a:prstGeom>
          <a:solidFill>
            <a:srgbClr val="D0E8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88720"/>
            <a:ext cx="3291840" cy="411480"/>
          </a:xfrm>
          <a:prstGeom prst="rect">
            <a:avLst/>
          </a:prstGeom>
          <a:noFill/>
        </p:spPr>
        <p:txBody>
          <a:bodyPr wrap="square">
            <a:spAutoFit/>
          </a:bodyPr>
          <a:lstStyle/>
          <a:p>
            <a:pPr algn="l"/>
            <a:r>
              <a:rPr b="1" i="0" sz="1200">
                <a:solidFill>
                  <a:srgbClr val="1A1A2E"/>
                </a:solidFill>
              </a:rPr>
              <a:t>Regional Thin-Slice Cycles</a:t>
            </a:r>
          </a:p>
        </p:txBody>
      </p:sp>
      <p:sp>
        <p:nvSpPr>
          <p:cNvPr id="7" name="Rectangle 6"/>
          <p:cNvSpPr/>
          <p:nvPr/>
        </p:nvSpPr>
        <p:spPr>
          <a:xfrm>
            <a:off x="457200" y="1627632"/>
            <a:ext cx="3291840" cy="2743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59" y="1737360"/>
            <a:ext cx="3154679" cy="457200"/>
          </a:xfrm>
          <a:prstGeom prst="rect">
            <a:avLst/>
          </a:prstGeom>
          <a:noFill/>
        </p:spPr>
        <p:txBody>
          <a:bodyPr wrap="square">
            <a:spAutoFit/>
          </a:bodyPr>
          <a:lstStyle/>
          <a:p>
            <a:pPr algn="l"/>
            <a:r>
              <a:rPr b="0" i="0" sz="1000">
                <a:solidFill>
                  <a:srgbClr val="1A1A2E"/>
                </a:solidFill>
              </a:rPr>
              <a:t>▸  Remote-first, community-assisted format</a:t>
            </a:r>
          </a:p>
        </p:txBody>
      </p:sp>
      <p:sp>
        <p:nvSpPr>
          <p:cNvPr id="9" name="TextBox 8"/>
          <p:cNvSpPr txBox="1"/>
          <p:nvPr/>
        </p:nvSpPr>
        <p:spPr>
          <a:xfrm>
            <a:off x="594359" y="2212848"/>
            <a:ext cx="3154679" cy="457200"/>
          </a:xfrm>
          <a:prstGeom prst="rect">
            <a:avLst/>
          </a:prstGeom>
          <a:noFill/>
        </p:spPr>
        <p:txBody>
          <a:bodyPr wrap="square">
            <a:spAutoFit/>
          </a:bodyPr>
          <a:lstStyle/>
          <a:p>
            <a:pPr algn="l"/>
            <a:r>
              <a:rPr b="0" i="0" sz="1000">
                <a:solidFill>
                  <a:srgbClr val="1A1A2E"/>
                </a:solidFill>
              </a:rPr>
              <a:t>▸  6-8 interviews per region archetype</a:t>
            </a:r>
          </a:p>
        </p:txBody>
      </p:sp>
      <p:sp>
        <p:nvSpPr>
          <p:cNvPr id="10" name="TextBox 9"/>
          <p:cNvSpPr txBox="1"/>
          <p:nvPr/>
        </p:nvSpPr>
        <p:spPr>
          <a:xfrm>
            <a:off x="594359" y="2688336"/>
            <a:ext cx="3154679" cy="457200"/>
          </a:xfrm>
          <a:prstGeom prst="rect">
            <a:avLst/>
          </a:prstGeom>
          <a:noFill/>
        </p:spPr>
        <p:txBody>
          <a:bodyPr wrap="square">
            <a:spAutoFit/>
          </a:bodyPr>
          <a:lstStyle/>
          <a:p>
            <a:pPr algn="l"/>
            <a:r>
              <a:rPr b="0" i="0" sz="1000">
                <a:solidFill>
                  <a:srgbClr val="1A1A2E"/>
                </a:solidFill>
              </a:rPr>
              <a:t>▸  + 1 evaluative prototype test where relevant</a:t>
            </a:r>
          </a:p>
        </p:txBody>
      </p:sp>
      <p:sp>
        <p:nvSpPr>
          <p:cNvPr id="11" name="TextBox 10"/>
          <p:cNvSpPr txBox="1"/>
          <p:nvPr/>
        </p:nvSpPr>
        <p:spPr>
          <a:xfrm>
            <a:off x="594359" y="3163824"/>
            <a:ext cx="3154679" cy="457200"/>
          </a:xfrm>
          <a:prstGeom prst="rect">
            <a:avLst/>
          </a:prstGeom>
          <a:noFill/>
        </p:spPr>
        <p:txBody>
          <a:bodyPr wrap="square">
            <a:spAutoFit/>
          </a:bodyPr>
          <a:lstStyle/>
          <a:p>
            <a:pPr algn="l"/>
            <a:r>
              <a:rPr b="0" i="0" sz="1000">
                <a:solidFill>
                  <a:srgbClr val="1A1A2E"/>
                </a:solidFill>
              </a:rPr>
              <a:t>▸  Builds the universal vs context-specific map</a:t>
            </a:r>
          </a:p>
        </p:txBody>
      </p:sp>
      <p:sp>
        <p:nvSpPr>
          <p:cNvPr id="12" name="Rectangle 11"/>
          <p:cNvSpPr/>
          <p:nvPr/>
        </p:nvSpPr>
        <p:spPr>
          <a:xfrm>
            <a:off x="4133087" y="1097280"/>
            <a:ext cx="3566160" cy="5394960"/>
          </a:xfrm>
          <a:prstGeom prst="rect">
            <a:avLst/>
          </a:prstGeom>
          <a:solidFill>
            <a:srgbClr val="E6F4E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0248" y="1188720"/>
            <a:ext cx="3291840" cy="411480"/>
          </a:xfrm>
          <a:prstGeom prst="rect">
            <a:avLst/>
          </a:prstGeom>
          <a:noFill/>
        </p:spPr>
        <p:txBody>
          <a:bodyPr wrap="square">
            <a:spAutoFit/>
          </a:bodyPr>
          <a:lstStyle/>
          <a:p>
            <a:pPr algn="l"/>
            <a:r>
              <a:rPr b="1" i="0" sz="1200">
                <a:solidFill>
                  <a:srgbClr val="1A1A2E"/>
                </a:solidFill>
              </a:rPr>
              <a:t>Recruitment Flywheel</a:t>
            </a:r>
          </a:p>
        </p:txBody>
      </p:sp>
      <p:sp>
        <p:nvSpPr>
          <p:cNvPr id="14" name="Rectangle 13"/>
          <p:cNvSpPr/>
          <p:nvPr/>
        </p:nvSpPr>
        <p:spPr>
          <a:xfrm>
            <a:off x="4270248" y="1627632"/>
            <a:ext cx="3291840" cy="2743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7" y="1737360"/>
            <a:ext cx="3154679" cy="457200"/>
          </a:xfrm>
          <a:prstGeom prst="rect">
            <a:avLst/>
          </a:prstGeom>
          <a:noFill/>
        </p:spPr>
        <p:txBody>
          <a:bodyPr wrap="square">
            <a:spAutoFit/>
          </a:bodyPr>
          <a:lstStyle/>
          <a:p>
            <a:pPr algn="l"/>
            <a:r>
              <a:rPr b="0" i="0" sz="1000">
                <a:solidFill>
                  <a:srgbClr val="1A1A2E"/>
                </a:solidFill>
              </a:rPr>
              <a:t>▸  Partner with federation/community admins</a:t>
            </a:r>
          </a:p>
        </p:txBody>
      </p:sp>
      <p:sp>
        <p:nvSpPr>
          <p:cNvPr id="16" name="TextBox 15"/>
          <p:cNvSpPr txBox="1"/>
          <p:nvPr/>
        </p:nvSpPr>
        <p:spPr>
          <a:xfrm>
            <a:off x="4407407" y="2212848"/>
            <a:ext cx="3154679" cy="457200"/>
          </a:xfrm>
          <a:prstGeom prst="rect">
            <a:avLst/>
          </a:prstGeom>
          <a:noFill/>
        </p:spPr>
        <p:txBody>
          <a:bodyPr wrap="square">
            <a:spAutoFit/>
          </a:bodyPr>
          <a:lstStyle/>
          <a:p>
            <a:pPr algn="l"/>
            <a:r>
              <a:rPr b="0" i="0" sz="1000">
                <a:solidFill>
                  <a:srgbClr val="1A1A2E"/>
                </a:solidFill>
              </a:rPr>
              <a:t>▸  Continuous warm pipeline -- no cold starts</a:t>
            </a:r>
          </a:p>
        </p:txBody>
      </p:sp>
      <p:sp>
        <p:nvSpPr>
          <p:cNvPr id="17" name="TextBox 16"/>
          <p:cNvSpPr txBox="1"/>
          <p:nvPr/>
        </p:nvSpPr>
        <p:spPr>
          <a:xfrm>
            <a:off x="4407407" y="2688336"/>
            <a:ext cx="3154679" cy="457200"/>
          </a:xfrm>
          <a:prstGeom prst="rect">
            <a:avLst/>
          </a:prstGeom>
          <a:noFill/>
        </p:spPr>
        <p:txBody>
          <a:bodyPr wrap="square">
            <a:spAutoFit/>
          </a:bodyPr>
          <a:lstStyle/>
          <a:p>
            <a:pPr algn="l"/>
            <a:r>
              <a:rPr b="0" i="0" sz="1000">
                <a:solidFill>
                  <a:srgbClr val="1A1A2E"/>
                </a:solidFill>
              </a:rPr>
              <a:t>▸  Screener + incentive framework in place</a:t>
            </a:r>
          </a:p>
        </p:txBody>
      </p:sp>
      <p:sp>
        <p:nvSpPr>
          <p:cNvPr id="18" name="TextBox 17"/>
          <p:cNvSpPr txBox="1"/>
          <p:nvPr/>
        </p:nvSpPr>
        <p:spPr>
          <a:xfrm>
            <a:off x="4407407" y="3163824"/>
            <a:ext cx="3154679" cy="457200"/>
          </a:xfrm>
          <a:prstGeom prst="rect">
            <a:avLst/>
          </a:prstGeom>
          <a:noFill/>
        </p:spPr>
        <p:txBody>
          <a:bodyPr wrap="square">
            <a:spAutoFit/>
          </a:bodyPr>
          <a:lstStyle/>
          <a:p>
            <a:pPr algn="l"/>
            <a:r>
              <a:rPr b="0" i="0" sz="1000">
                <a:solidFill>
                  <a:srgbClr val="1A1A2E"/>
                </a:solidFill>
              </a:rPr>
              <a:t>▸  Target: 0 weeks recruitment lag by Day 60</a:t>
            </a:r>
          </a:p>
        </p:txBody>
      </p:sp>
      <p:sp>
        <p:nvSpPr>
          <p:cNvPr id="19" name="Rectangle 18"/>
          <p:cNvSpPr/>
          <p:nvPr/>
        </p:nvSpPr>
        <p:spPr>
          <a:xfrm>
            <a:off x="7946136" y="1097280"/>
            <a:ext cx="3566160" cy="5394960"/>
          </a:xfrm>
          <a:prstGeom prst="rect">
            <a:avLst/>
          </a:prstGeom>
          <a:solidFill>
            <a:srgbClr val="FFF3CC"/>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83296" y="1188720"/>
            <a:ext cx="3291840" cy="411480"/>
          </a:xfrm>
          <a:prstGeom prst="rect">
            <a:avLst/>
          </a:prstGeom>
          <a:noFill/>
        </p:spPr>
        <p:txBody>
          <a:bodyPr wrap="square">
            <a:spAutoFit/>
          </a:bodyPr>
          <a:lstStyle/>
          <a:p>
            <a:pPr algn="l"/>
            <a:r>
              <a:rPr b="1" i="0" sz="1200">
                <a:solidFill>
                  <a:srgbClr val="1A1A2E"/>
                </a:solidFill>
              </a:rPr>
              <a:t>Monthly Evidence Review (30 min)</a:t>
            </a:r>
          </a:p>
        </p:txBody>
      </p:sp>
      <p:sp>
        <p:nvSpPr>
          <p:cNvPr id="21" name="Rectangle 20"/>
          <p:cNvSpPr/>
          <p:nvPr/>
        </p:nvSpPr>
        <p:spPr>
          <a:xfrm>
            <a:off x="8083296" y="1627632"/>
            <a:ext cx="3291840" cy="27432"/>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0456" y="1737360"/>
            <a:ext cx="3154679" cy="457200"/>
          </a:xfrm>
          <a:prstGeom prst="rect">
            <a:avLst/>
          </a:prstGeom>
          <a:noFill/>
        </p:spPr>
        <p:txBody>
          <a:bodyPr wrap="square">
            <a:spAutoFit/>
          </a:bodyPr>
          <a:lstStyle/>
          <a:p>
            <a:pPr algn="l"/>
            <a:r>
              <a:rPr b="0" i="0" sz="1000">
                <a:solidFill>
                  <a:srgbClr val="1A1A2E"/>
                </a:solidFill>
              </a:rPr>
              <a:t>▸  Standing slot with Product + Eng leads</a:t>
            </a:r>
          </a:p>
        </p:txBody>
      </p:sp>
      <p:sp>
        <p:nvSpPr>
          <p:cNvPr id="23" name="TextBox 22"/>
          <p:cNvSpPr txBox="1"/>
          <p:nvPr/>
        </p:nvSpPr>
        <p:spPr>
          <a:xfrm>
            <a:off x="8220456" y="2212848"/>
            <a:ext cx="3154679" cy="457200"/>
          </a:xfrm>
          <a:prstGeom prst="rect">
            <a:avLst/>
          </a:prstGeom>
          <a:noFill/>
        </p:spPr>
        <p:txBody>
          <a:bodyPr wrap="square">
            <a:spAutoFit/>
          </a:bodyPr>
          <a:lstStyle/>
          <a:p>
            <a:pPr algn="l"/>
            <a:r>
              <a:rPr b="0" i="0" sz="1000">
                <a:solidFill>
                  <a:srgbClr val="1A1A2E"/>
                </a:solidFill>
              </a:rPr>
              <a:t>▸  Format: what we learned / what changed / what we still don't know</a:t>
            </a:r>
          </a:p>
        </p:txBody>
      </p:sp>
      <p:sp>
        <p:nvSpPr>
          <p:cNvPr id="24" name="TextBox 23"/>
          <p:cNvSpPr txBox="1"/>
          <p:nvPr/>
        </p:nvSpPr>
        <p:spPr>
          <a:xfrm>
            <a:off x="8220456" y="2688336"/>
            <a:ext cx="3154679" cy="457200"/>
          </a:xfrm>
          <a:prstGeom prst="rect">
            <a:avLst/>
          </a:prstGeom>
          <a:noFill/>
        </p:spPr>
        <p:txBody>
          <a:bodyPr wrap="square">
            <a:spAutoFit/>
          </a:bodyPr>
          <a:lstStyle/>
          <a:p>
            <a:pPr algn="l"/>
            <a:r>
              <a:rPr b="0" i="0" sz="1000">
                <a:solidFill>
                  <a:srgbClr val="1A1A2E"/>
                </a:solidFill>
              </a:rPr>
              <a:t>▸  Research shapes sprint priorities, not post-hoc</a:t>
            </a:r>
          </a:p>
        </p:txBody>
      </p:sp>
      <p:sp>
        <p:nvSpPr>
          <p:cNvPr id="25" name="TextBox 24"/>
          <p:cNvSpPr txBox="1"/>
          <p:nvPr/>
        </p:nvSpPr>
        <p:spPr>
          <a:xfrm>
            <a:off x="8220456" y="3163824"/>
            <a:ext cx="3154679" cy="457200"/>
          </a:xfrm>
          <a:prstGeom prst="rect">
            <a:avLst/>
          </a:prstGeom>
          <a:noFill/>
        </p:spPr>
        <p:txBody>
          <a:bodyPr wrap="square">
            <a:spAutoFit/>
          </a:bodyPr>
          <a:lstStyle/>
          <a:p>
            <a:pPr algn="l"/>
            <a:r>
              <a:rPr b="0" i="0" sz="1000">
                <a:solidFill>
                  <a:srgbClr val="1A1A2E"/>
                </a:solidFill>
              </a:rPr>
              <a:t>▸  Creates accountability without bureaucracy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229600" cy="457200"/>
          </a:xfrm>
          <a:prstGeom prst="rect">
            <a:avLst/>
          </a:prstGeom>
          <a:noFill/>
        </p:spPr>
        <p:txBody>
          <a:bodyPr wrap="square">
            <a:spAutoFit/>
          </a:bodyPr>
          <a:lstStyle/>
          <a:p>
            <a:pPr algn="l"/>
            <a:r>
              <a:rPr b="1" i="0" sz="2000">
                <a:solidFill>
                  <a:srgbClr val="FFFFFF"/>
                </a:solidFill>
              </a:rPr>
              <a:t>Days 61-90: Turn research into compounding advantage</a:t>
            </a:r>
          </a:p>
        </p:txBody>
      </p:sp>
      <p:sp>
        <p:nvSpPr>
          <p:cNvPr id="4" name="TextBox 3"/>
          <p:cNvSpPr txBox="1"/>
          <p:nvPr/>
        </p:nvSpPr>
        <p:spPr>
          <a:xfrm>
            <a:off x="274320" y="530352"/>
            <a:ext cx="11430000" cy="320040"/>
          </a:xfrm>
          <a:prstGeom prst="rect">
            <a:avLst/>
          </a:prstGeom>
          <a:noFill/>
        </p:spPr>
        <p:txBody>
          <a:bodyPr wrap="square">
            <a:spAutoFit/>
          </a:bodyPr>
          <a:lstStyle/>
          <a:p>
            <a:pPr algn="l"/>
            <a:r>
              <a:rPr b="0" i="1" sz="1100">
                <a:solidFill>
                  <a:srgbClr val="BBBBCC"/>
                </a:solidFill>
              </a:rPr>
              <a:t>Goal: research shapes the roadmap, not the other way around</a:t>
            </a:r>
          </a:p>
        </p:txBody>
      </p:sp>
      <p:sp>
        <p:nvSpPr>
          <p:cNvPr id="5" name="Rectangle 4"/>
          <p:cNvSpPr/>
          <p:nvPr/>
        </p:nvSpPr>
        <p:spPr>
          <a:xfrm>
            <a:off x="365760" y="1143000"/>
            <a:ext cx="11247120" cy="109728"/>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79" y="1069848"/>
            <a:ext cx="45720" cy="25603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1353312"/>
            <a:ext cx="1097280" cy="228600"/>
          </a:xfrm>
          <a:prstGeom prst="rect">
            <a:avLst/>
          </a:prstGeom>
          <a:noFill/>
        </p:spPr>
        <p:txBody>
          <a:bodyPr wrap="square">
            <a:spAutoFit/>
          </a:bodyPr>
          <a:lstStyle/>
          <a:p>
            <a:pPr algn="l"/>
            <a:r>
              <a:rPr b="0" i="0" sz="850">
                <a:solidFill>
                  <a:srgbClr val="555566"/>
                </a:solidFill>
              </a:rPr>
              <a:t>Day 1</a:t>
            </a:r>
          </a:p>
        </p:txBody>
      </p:sp>
      <p:sp>
        <p:nvSpPr>
          <p:cNvPr id="8" name="Rectangle 7"/>
          <p:cNvSpPr/>
          <p:nvPr/>
        </p:nvSpPr>
        <p:spPr>
          <a:xfrm>
            <a:off x="3291840" y="1069848"/>
            <a:ext cx="45720" cy="25603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0" y="1353312"/>
            <a:ext cx="1097280" cy="228600"/>
          </a:xfrm>
          <a:prstGeom prst="rect">
            <a:avLst/>
          </a:prstGeom>
          <a:noFill/>
        </p:spPr>
        <p:txBody>
          <a:bodyPr wrap="square">
            <a:spAutoFit/>
          </a:bodyPr>
          <a:lstStyle/>
          <a:p>
            <a:pPr algn="l"/>
            <a:r>
              <a:rPr b="0" i="0" sz="850">
                <a:solidFill>
                  <a:srgbClr val="555566"/>
                </a:solidFill>
              </a:rPr>
              <a:t>Day 30</a:t>
            </a:r>
          </a:p>
        </p:txBody>
      </p:sp>
      <p:sp>
        <p:nvSpPr>
          <p:cNvPr id="10" name="Rectangle 9"/>
          <p:cNvSpPr/>
          <p:nvPr/>
        </p:nvSpPr>
        <p:spPr>
          <a:xfrm>
            <a:off x="6492240" y="1069848"/>
            <a:ext cx="45720" cy="25603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353312"/>
            <a:ext cx="1097280" cy="228600"/>
          </a:xfrm>
          <a:prstGeom prst="rect">
            <a:avLst/>
          </a:prstGeom>
          <a:noFill/>
        </p:spPr>
        <p:txBody>
          <a:bodyPr wrap="square">
            <a:spAutoFit/>
          </a:bodyPr>
          <a:lstStyle/>
          <a:p>
            <a:pPr algn="l"/>
            <a:r>
              <a:rPr b="0" i="0" sz="850">
                <a:solidFill>
                  <a:srgbClr val="555566"/>
                </a:solidFill>
              </a:rPr>
              <a:t>Day 60</a:t>
            </a:r>
          </a:p>
        </p:txBody>
      </p:sp>
      <p:sp>
        <p:nvSpPr>
          <p:cNvPr id="12" name="Rectangle 11"/>
          <p:cNvSpPr/>
          <p:nvPr/>
        </p:nvSpPr>
        <p:spPr>
          <a:xfrm>
            <a:off x="9692640" y="1069848"/>
            <a:ext cx="45720" cy="256032"/>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0" y="1353312"/>
            <a:ext cx="1097280" cy="228600"/>
          </a:xfrm>
          <a:prstGeom prst="rect">
            <a:avLst/>
          </a:prstGeom>
          <a:noFill/>
        </p:spPr>
        <p:txBody>
          <a:bodyPr wrap="square">
            <a:spAutoFit/>
          </a:bodyPr>
          <a:lstStyle/>
          <a:p>
            <a:pPr algn="l"/>
            <a:r>
              <a:rPr b="1" i="0" sz="850">
                <a:solidFill>
                  <a:srgbClr val="2D6AD6"/>
                </a:solidFill>
              </a:rPr>
              <a:t>Day 90</a:t>
            </a:r>
          </a:p>
        </p:txBody>
      </p:sp>
      <p:sp>
        <p:nvSpPr>
          <p:cNvPr id="14" name="Rectangle 13"/>
          <p:cNvSpPr/>
          <p:nvPr/>
        </p:nvSpPr>
        <p:spPr>
          <a:xfrm>
            <a:off x="320040" y="1737360"/>
            <a:ext cx="3566160" cy="4754880"/>
          </a:xfrm>
          <a:prstGeom prst="rect">
            <a:avLst/>
          </a:prstGeom>
          <a:solidFill>
            <a:srgbClr val="F4F4F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1737360"/>
            <a:ext cx="3566160" cy="73152"/>
          </a:xfrm>
          <a:prstGeom prst="rect">
            <a:avLst/>
          </a:prstGeom>
          <a:solidFill>
            <a:srgbClr val="2D6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874519"/>
            <a:ext cx="3291840" cy="411480"/>
          </a:xfrm>
          <a:prstGeom prst="rect">
            <a:avLst/>
          </a:prstGeom>
          <a:noFill/>
        </p:spPr>
        <p:txBody>
          <a:bodyPr wrap="square">
            <a:spAutoFit/>
          </a:bodyPr>
          <a:lstStyle/>
          <a:p>
            <a:pPr algn="l"/>
            <a:r>
              <a:rPr b="1" i="0" sz="1100">
                <a:solidFill>
                  <a:srgbClr val="1A1A2E"/>
                </a:solidFill>
              </a:rPr>
              <a:t>Quarterly Research Roadmap (v1)</a:t>
            </a:r>
          </a:p>
        </p:txBody>
      </p:sp>
      <p:sp>
        <p:nvSpPr>
          <p:cNvPr id="17" name="TextBox 16"/>
          <p:cNvSpPr txBox="1"/>
          <p:nvPr/>
        </p:nvSpPr>
        <p:spPr>
          <a:xfrm>
            <a:off x="457200" y="2377440"/>
            <a:ext cx="3291840" cy="3931920"/>
          </a:xfrm>
          <a:prstGeom prst="rect">
            <a:avLst/>
          </a:prstGeom>
          <a:noFill/>
        </p:spPr>
        <p:txBody>
          <a:bodyPr wrap="square">
            <a:spAutoFit/>
          </a:bodyPr>
          <a:lstStyle/>
          <a:p>
            <a:pPr algn="l"/>
            <a:r>
              <a:rPr b="0" i="0" sz="1000">
                <a:solidFill>
                  <a:srgbClr val="555566"/>
                </a:solidFill>
              </a:rPr>
              <a:t>Aligned to Product/Eng sprint cycles. Explicit tradeoffs: what you're studying, what you're parking and why. Living doc, updated monthly.</a:t>
            </a:r>
          </a:p>
        </p:txBody>
      </p:sp>
      <p:sp>
        <p:nvSpPr>
          <p:cNvPr id="18" name="Rectangle 17"/>
          <p:cNvSpPr/>
          <p:nvPr/>
        </p:nvSpPr>
        <p:spPr>
          <a:xfrm>
            <a:off x="4133087" y="1737360"/>
            <a:ext cx="3566160" cy="4754880"/>
          </a:xfrm>
          <a:prstGeom prst="rect">
            <a:avLst/>
          </a:prstGeom>
          <a:solidFill>
            <a:srgbClr val="F4F4F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33087" y="1737360"/>
            <a:ext cx="3566160" cy="73152"/>
          </a:xfrm>
          <a:prstGeom prst="rect">
            <a:avLst/>
          </a:prstGeom>
          <a:solidFill>
            <a:srgbClr val="E0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70248" y="1874519"/>
            <a:ext cx="3291840" cy="411480"/>
          </a:xfrm>
          <a:prstGeom prst="rect">
            <a:avLst/>
          </a:prstGeom>
          <a:noFill/>
        </p:spPr>
        <p:txBody>
          <a:bodyPr wrap="square">
            <a:spAutoFit/>
          </a:bodyPr>
          <a:lstStyle/>
          <a:p>
            <a:pPr algn="l"/>
            <a:r>
              <a:rPr b="1" i="0" sz="1100">
                <a:solidFill>
                  <a:srgbClr val="1A1A2E"/>
                </a:solidFill>
              </a:rPr>
              <a:t>Decision-Grade Benchmarks</a:t>
            </a:r>
          </a:p>
        </p:txBody>
      </p:sp>
      <p:sp>
        <p:nvSpPr>
          <p:cNvPr id="21" name="TextBox 20"/>
          <p:cNvSpPr txBox="1"/>
          <p:nvPr/>
        </p:nvSpPr>
        <p:spPr>
          <a:xfrm>
            <a:off x="4270248" y="2377440"/>
            <a:ext cx="3291840" cy="3931920"/>
          </a:xfrm>
          <a:prstGeom prst="rect">
            <a:avLst/>
          </a:prstGeom>
          <a:noFill/>
        </p:spPr>
        <p:txBody>
          <a:bodyPr wrap="square">
            <a:spAutoFit/>
          </a:bodyPr>
          <a:lstStyle/>
          <a:p>
            <a:pPr algn="l"/>
            <a:r>
              <a:rPr b="0" i="0" sz="1000">
                <a:solidFill>
                  <a:srgbClr val="555566"/>
                </a:solidFill>
              </a:rPr>
              <a:t>For highest-risk assumptions (A1, A2, A3, A4), define evidence bars: e.g. 80% task success, comprehension threshold, trust signal threshold. Makes "is this good enough?" answerable.</a:t>
            </a:r>
          </a:p>
        </p:txBody>
      </p:sp>
      <p:sp>
        <p:nvSpPr>
          <p:cNvPr id="22" name="Rectangle 21"/>
          <p:cNvSpPr/>
          <p:nvPr/>
        </p:nvSpPr>
        <p:spPr>
          <a:xfrm>
            <a:off x="7946136" y="1737360"/>
            <a:ext cx="3566160" cy="4754880"/>
          </a:xfrm>
          <a:prstGeom prst="rect">
            <a:avLst/>
          </a:prstGeom>
          <a:solidFill>
            <a:srgbClr val="F4F4F6"/>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46136" y="1737360"/>
            <a:ext cx="3566160" cy="73152"/>
          </a:xfrm>
          <a:prstGeom prst="rect">
            <a:avLst/>
          </a:prstGeom>
          <a:solidFill>
            <a:srgbClr val="2D9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83296" y="1874519"/>
            <a:ext cx="3291840" cy="411480"/>
          </a:xfrm>
          <a:prstGeom prst="rect">
            <a:avLst/>
          </a:prstGeom>
          <a:noFill/>
        </p:spPr>
        <p:txBody>
          <a:bodyPr wrap="square">
            <a:spAutoFit/>
          </a:bodyPr>
          <a:lstStyle/>
          <a:p>
            <a:pPr algn="l"/>
            <a:r>
              <a:rPr b="1" i="0" sz="1100">
                <a:solidFill>
                  <a:srgbClr val="1A1A2E"/>
                </a:solidFill>
              </a:rPr>
              <a:t>Self-Serve Enablement</a:t>
            </a:r>
          </a:p>
        </p:txBody>
      </p:sp>
      <p:sp>
        <p:nvSpPr>
          <p:cNvPr id="25" name="TextBox 24"/>
          <p:cNvSpPr txBox="1"/>
          <p:nvPr/>
        </p:nvSpPr>
        <p:spPr>
          <a:xfrm>
            <a:off x="8083296" y="2377440"/>
            <a:ext cx="3291840" cy="3931920"/>
          </a:xfrm>
          <a:prstGeom prst="rect">
            <a:avLst/>
          </a:prstGeom>
          <a:noFill/>
        </p:spPr>
        <p:txBody>
          <a:bodyPr wrap="square">
            <a:spAutoFit/>
          </a:bodyPr>
          <a:lstStyle/>
          <a:p>
            <a:pPr algn="l"/>
            <a:r>
              <a:rPr b="0" i="0" sz="1000">
                <a:solidFill>
                  <a:srgbClr val="555566"/>
                </a:solidFill>
              </a:rPr>
              <a:t>Train PMs and designers to run safe studies (concept sorting, lightweight usability checks) while you focus on high-stakes strategic work. Multiplies research output without multiplying headcount.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